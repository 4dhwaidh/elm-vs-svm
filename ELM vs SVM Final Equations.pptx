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0"/>
  </p:notesMasterIdLst>
  <p:sldIdLst>
    <p:sldId id="278" r:id="rId5"/>
    <p:sldId id="280" r:id="rId6"/>
    <p:sldId id="287" r:id="rId7"/>
    <p:sldId id="281" r:id="rId8"/>
    <p:sldId id="282" r:id="rId9"/>
    <p:sldId id="288" r:id="rId10"/>
    <p:sldId id="290" r:id="rId11"/>
    <p:sldId id="294" r:id="rId12"/>
    <p:sldId id="289" r:id="rId13"/>
    <p:sldId id="296" r:id="rId14"/>
    <p:sldId id="285" r:id="rId15"/>
    <p:sldId id="291" r:id="rId16"/>
    <p:sldId id="292" r:id="rId17"/>
    <p:sldId id="293" r:id="rId18"/>
    <p:sldId id="28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EDD8"/>
    <a:srgbClr val="FEF7A0"/>
    <a:srgbClr val="D9D4C4"/>
    <a:srgbClr val="F2EB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19" autoAdjust="0"/>
  </p:normalViewPr>
  <p:slideViewPr>
    <p:cSldViewPr snapToGrid="0">
      <p:cViewPr varScale="1">
        <p:scale>
          <a:sx n="80" d="100"/>
          <a:sy n="80" d="100"/>
        </p:scale>
        <p:origin x="78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10/6/2025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10/6/2025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10/6/2025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10/6/2025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10/6/2025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10/6/2025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10/6/2025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10/6/2025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10/6/2025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10/6/2025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0" y="11"/>
            <a:ext cx="12192000" cy="6857989"/>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097307" y="932296"/>
            <a:ext cx="4742268" cy="2420504"/>
          </a:xfrm>
        </p:spPr>
        <p:txBody>
          <a:bodyPr>
            <a:normAutofit/>
          </a:bodyPr>
          <a:lstStyle/>
          <a:p>
            <a:pPr algn="l"/>
            <a:r>
              <a:rPr lang="en-US" sz="4000" dirty="0"/>
              <a:t>Online ADMM:</a:t>
            </a:r>
            <a:br>
              <a:rPr lang="en-US" sz="4000" dirty="0"/>
            </a:br>
            <a:r>
              <a:rPr lang="en-US" sz="4000" dirty="0"/>
              <a:t>Based ELM vs SVM</a:t>
            </a:r>
            <a:br>
              <a:rPr lang="en-US" sz="4000" dirty="0"/>
            </a:br>
            <a:r>
              <a:rPr lang="en-US" sz="4000" dirty="0"/>
              <a:t>Classification</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157911" y="3470697"/>
            <a:ext cx="3979210" cy="1628775"/>
          </a:xfrm>
        </p:spPr>
        <p:txBody>
          <a:bodyPr>
            <a:normAutofit/>
          </a:bodyPr>
          <a:lstStyle/>
          <a:p>
            <a:pPr algn="l"/>
            <a:r>
              <a:rPr lang="en-US" sz="2300" dirty="0"/>
              <a:t>Group 15:</a:t>
            </a:r>
          </a:p>
          <a:p>
            <a:pPr marL="342900" indent="-342900" algn="l">
              <a:buAutoNum type="arabicParenR"/>
            </a:pPr>
            <a:r>
              <a:rPr lang="en-US" sz="1500" dirty="0"/>
              <a:t>Sarvesh Ram Kumar – CB.SC.U4AIE24048</a:t>
            </a:r>
          </a:p>
          <a:p>
            <a:pPr marL="342900" indent="-342900" algn="l">
              <a:buAutoNum type="arabicParenR"/>
            </a:pPr>
            <a:r>
              <a:rPr lang="en-US" sz="1500" dirty="0"/>
              <a:t>Adwaidh– CB.SC.U4AIE24003</a:t>
            </a:r>
          </a:p>
          <a:p>
            <a:pPr marL="342900" indent="-342900" algn="l">
              <a:buAutoNum type="arabicParenR"/>
            </a:pPr>
            <a:r>
              <a:rPr lang="en-US" sz="1500" dirty="0"/>
              <a:t>Nikhileshwara Reddy– CB.SC.U4AIE24063</a:t>
            </a:r>
          </a:p>
        </p:txBody>
      </p:sp>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D94D123-B00B-0300-B934-FE0661648718}"/>
              </a:ext>
            </a:extLst>
          </p:cNvPr>
          <p:cNvSpPr/>
          <p:nvPr/>
        </p:nvSpPr>
        <p:spPr>
          <a:xfrm>
            <a:off x="919119" y="1095377"/>
            <a:ext cx="10353762" cy="5333998"/>
          </a:xfrm>
          <a:prstGeom prst="roundRect">
            <a:avLst>
              <a:gd name="adj" fmla="val 15238"/>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IN" dirty="0"/>
          </a:p>
        </p:txBody>
      </p:sp>
      <p:sp>
        <p:nvSpPr>
          <p:cNvPr id="2" name="Title 1">
            <a:extLst>
              <a:ext uri="{FF2B5EF4-FFF2-40B4-BE49-F238E27FC236}">
                <a16:creationId xmlns:a16="http://schemas.microsoft.com/office/drawing/2014/main" id="{A0157134-E360-E627-7BFA-AAAEADA06F78}"/>
              </a:ext>
            </a:extLst>
          </p:cNvPr>
          <p:cNvSpPr>
            <a:spLocks noGrp="1"/>
          </p:cNvSpPr>
          <p:nvPr>
            <p:ph type="title"/>
          </p:nvPr>
        </p:nvSpPr>
        <p:spPr>
          <a:xfrm>
            <a:off x="1075720" y="38102"/>
            <a:ext cx="10353762" cy="1257300"/>
          </a:xfrm>
        </p:spPr>
        <p:txBody>
          <a:bodyPr>
            <a:normAutofit/>
          </a:bodyPr>
          <a:lstStyle/>
          <a:p>
            <a:pPr algn="l"/>
            <a:r>
              <a:rPr lang="en-IN" sz="4800" dirty="0"/>
              <a:t>Introduction :</a:t>
            </a:r>
          </a:p>
        </p:txBody>
      </p:sp>
      <p:sp>
        <p:nvSpPr>
          <p:cNvPr id="7" name="Isosceles Triangle 6">
            <a:extLst>
              <a:ext uri="{FF2B5EF4-FFF2-40B4-BE49-F238E27FC236}">
                <a16:creationId xmlns:a16="http://schemas.microsoft.com/office/drawing/2014/main" id="{1382DBFC-EE01-0374-C971-015FB03F9845}"/>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Isosceles Triangle 2">
            <a:extLst>
              <a:ext uri="{FF2B5EF4-FFF2-40B4-BE49-F238E27FC236}">
                <a16:creationId xmlns:a16="http://schemas.microsoft.com/office/drawing/2014/main" id="{065C2DD4-A85E-CBAE-43B8-954A9FE6387A}"/>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Content Placeholder 2">
            <a:extLst>
              <a:ext uri="{FF2B5EF4-FFF2-40B4-BE49-F238E27FC236}">
                <a16:creationId xmlns:a16="http://schemas.microsoft.com/office/drawing/2014/main" id="{42660B2E-BE55-7FE6-15B5-D95BD8CB1567}"/>
              </a:ext>
            </a:extLst>
          </p:cNvPr>
          <p:cNvSpPr>
            <a:spLocks noGrp="1"/>
          </p:cNvSpPr>
          <p:nvPr>
            <p:ph idx="1"/>
          </p:nvPr>
        </p:nvSpPr>
        <p:spPr>
          <a:xfrm>
            <a:off x="1065959" y="1323977"/>
            <a:ext cx="10060081" cy="5029198"/>
          </a:xfrm>
          <a:noFill/>
          <a:ln>
            <a:noFill/>
          </a:ln>
        </p:spPr>
        <p:style>
          <a:lnRef idx="2">
            <a:schemeClr val="dk1"/>
          </a:lnRef>
          <a:fillRef idx="1">
            <a:schemeClr val="lt1"/>
          </a:fillRef>
          <a:effectRef idx="0">
            <a:schemeClr val="dk1"/>
          </a:effectRef>
          <a:fontRef idx="minor">
            <a:schemeClr val="dk1"/>
          </a:fontRef>
        </p:style>
        <p:txBody>
          <a:bodyPr>
            <a:normAutofit fontScale="92500" lnSpcReduction="10000"/>
          </a:bodyPr>
          <a:lstStyle/>
          <a:p>
            <a:pPr marL="36900" indent="0" eaLnBrk="0" fontAlgn="base" hangingPunct="0">
              <a:spcBef>
                <a:spcPct val="0"/>
              </a:spcBef>
              <a:spcAft>
                <a:spcPct val="0"/>
              </a:spcAft>
              <a:buNone/>
            </a:pPr>
            <a:r>
              <a:rPr lang="en-US" sz="1800" b="1" dirty="0">
                <a:solidFill>
                  <a:schemeClr val="bg1"/>
                </a:solidFill>
              </a:rPr>
              <a:t>Problem Context</a:t>
            </a:r>
          </a:p>
          <a:p>
            <a:pPr eaLnBrk="0" fontAlgn="base" hangingPunct="0">
              <a:spcBef>
                <a:spcPct val="0"/>
              </a:spcBef>
              <a:spcAft>
                <a:spcPct val="0"/>
              </a:spcAft>
            </a:pPr>
            <a:r>
              <a:rPr lang="en-US" sz="1800" dirty="0">
                <a:solidFill>
                  <a:schemeClr val="bg1"/>
                </a:solidFill>
              </a:rPr>
              <a:t>In many domains (e.g., materials science, real estate, finance), large datasets are generated. Learning models must be </a:t>
            </a:r>
            <a:r>
              <a:rPr lang="en-US" sz="1800" b="1" dirty="0">
                <a:solidFill>
                  <a:schemeClr val="bg1"/>
                </a:solidFill>
              </a:rPr>
              <a:t>fast, accurate, and scalable</a:t>
            </a:r>
            <a:r>
              <a:rPr lang="en-US" sz="1800" dirty="0">
                <a:solidFill>
                  <a:schemeClr val="bg1"/>
                </a:solidFill>
              </a:rPr>
              <a:t> to handle these datasets. Traditional models like </a:t>
            </a:r>
            <a:r>
              <a:rPr lang="en-US" sz="1800" b="1" dirty="0">
                <a:solidFill>
                  <a:schemeClr val="bg1"/>
                </a:solidFill>
              </a:rPr>
              <a:t>SVM</a:t>
            </a:r>
            <a:r>
              <a:rPr lang="en-US" sz="1800" dirty="0">
                <a:solidFill>
                  <a:schemeClr val="bg1"/>
                </a:solidFill>
              </a:rPr>
              <a:t> are powerful but computationally heavy with very large data.</a:t>
            </a:r>
          </a:p>
          <a:p>
            <a:pPr eaLnBrk="0" fontAlgn="base" hangingPunct="0">
              <a:spcBef>
                <a:spcPct val="0"/>
              </a:spcBef>
              <a:spcAft>
                <a:spcPct val="0"/>
              </a:spcAft>
            </a:pPr>
            <a:r>
              <a:rPr lang="en-US" altLang="en-US" sz="1800" dirty="0">
                <a:solidFill>
                  <a:schemeClr val="bg1"/>
                </a:solidFill>
                <a:latin typeface="Goudy Old Style" panose="02020502050305020303" pitchFamily="18" charset="0"/>
              </a:rPr>
              <a:t>The project focuses on predicting concrete compressive strength using machine learning. We apply Extreme Learning Machine (ELM) and Support Vector Machine (SVM) for classification. Online Learning, where each data group is trained on by the models separately will be done as comparison.</a:t>
            </a:r>
          </a:p>
          <a:p>
            <a:pPr marL="285750" lvl="0" indent="-285750" eaLnBrk="0" fontAlgn="base" hangingPunct="0">
              <a:spcBef>
                <a:spcPct val="0"/>
              </a:spcBef>
              <a:spcAft>
                <a:spcPct val="0"/>
              </a:spcAft>
              <a:buFont typeface="Arial" panose="020B0604020202020204" pitchFamily="34" charset="0"/>
              <a:buChar char="•"/>
            </a:pPr>
            <a:endParaRPr lang="en-US" sz="1800" dirty="0">
              <a:solidFill>
                <a:schemeClr val="bg1"/>
              </a:solidFill>
            </a:endParaRPr>
          </a:p>
          <a:p>
            <a:pPr marL="36900" indent="0">
              <a:buNone/>
            </a:pPr>
            <a:r>
              <a:rPr lang="en-US" sz="1800" b="1" dirty="0">
                <a:solidFill>
                  <a:schemeClr val="bg1"/>
                </a:solidFill>
                <a:latin typeface="Goudy Old Style" panose="02020502050305020303" pitchFamily="18" charset="0"/>
              </a:rPr>
              <a:t>Supervised Learning </a:t>
            </a:r>
            <a:r>
              <a:rPr lang="en-US" sz="1800" dirty="0">
                <a:solidFill>
                  <a:schemeClr val="bg1"/>
                </a:solidFill>
                <a:latin typeface="Goudy Old Style" panose="02020502050305020303" pitchFamily="18" charset="0"/>
              </a:rPr>
              <a:t>:</a:t>
            </a:r>
          </a:p>
          <a:p>
            <a:pPr marL="36900" indent="0">
              <a:buNone/>
            </a:pPr>
            <a:r>
              <a:rPr lang="en-US" sz="1800" dirty="0">
                <a:solidFill>
                  <a:schemeClr val="bg1"/>
                </a:solidFill>
                <a:latin typeface="Goudy Old Style" panose="02020502050305020303" pitchFamily="18" charset="0"/>
              </a:rPr>
              <a:t>Here, we used 3 datasets to test ELM vs SVM and compare the results.</a:t>
            </a:r>
          </a:p>
          <a:p>
            <a:r>
              <a:rPr lang="en-US" sz="1800" b="1" dirty="0">
                <a:solidFill>
                  <a:schemeClr val="bg1"/>
                </a:solidFill>
              </a:rPr>
              <a:t>First Dataset :</a:t>
            </a:r>
            <a:r>
              <a:rPr lang="en-US" sz="1800" dirty="0">
                <a:solidFill>
                  <a:schemeClr val="bg1"/>
                </a:solidFill>
              </a:rPr>
              <a:t> Here, we frame concrete compressive strength prediction as a classification task:</a:t>
            </a:r>
          </a:p>
          <a:p>
            <a:pPr marL="450000" lvl="1" indent="0">
              <a:buNone/>
            </a:pPr>
            <a:r>
              <a:rPr lang="en-US" sz="1500" dirty="0">
                <a:solidFill>
                  <a:schemeClr val="bg1"/>
                </a:solidFill>
              </a:rPr>
              <a:t>1.  Low strength (&lt; 20)           2.  Medium strength (20–40)            3.  High strength (&gt; 40)</a:t>
            </a:r>
          </a:p>
          <a:p>
            <a:r>
              <a:rPr lang="en-US" sz="1800" b="1" dirty="0">
                <a:solidFill>
                  <a:schemeClr val="bg1"/>
                </a:solidFill>
              </a:rPr>
              <a:t>Second Dataset : </a:t>
            </a:r>
            <a:r>
              <a:rPr lang="en-US" sz="1800" dirty="0">
                <a:solidFill>
                  <a:schemeClr val="bg1"/>
                </a:solidFill>
              </a:rPr>
              <a:t>IRIS Dataset : </a:t>
            </a:r>
            <a:r>
              <a:rPr lang="pt-BR" sz="1800" dirty="0">
                <a:solidFill>
                  <a:schemeClr val="bg1"/>
                </a:solidFill>
              </a:rPr>
              <a:t>Iris Setosa(0), Iris Versicolour(1), or Iris Virginica(2)</a:t>
            </a:r>
            <a:endParaRPr lang="en-US" sz="1800" dirty="0">
              <a:solidFill>
                <a:schemeClr val="bg1"/>
              </a:solidFill>
            </a:endParaRPr>
          </a:p>
          <a:p>
            <a:r>
              <a:rPr lang="en-US" sz="1800" b="1" dirty="0">
                <a:solidFill>
                  <a:schemeClr val="bg1"/>
                </a:solidFill>
              </a:rPr>
              <a:t>Third Dataset : </a:t>
            </a:r>
            <a:r>
              <a:rPr lang="en-US" sz="1800" dirty="0">
                <a:solidFill>
                  <a:schemeClr val="bg1"/>
                </a:solidFill>
              </a:rPr>
              <a:t>Rice Classification : Jasmine(1) and Gonen(0)</a:t>
            </a:r>
            <a:endParaRPr lang="en-US" sz="1800" b="1" dirty="0">
              <a:solidFill>
                <a:schemeClr val="bg1"/>
              </a:solidFill>
            </a:endParaRPr>
          </a:p>
          <a:p>
            <a:pPr lvl="0" eaLnBrk="0" fontAlgn="base" hangingPunct="0">
              <a:spcBef>
                <a:spcPct val="0"/>
              </a:spcBef>
              <a:spcAft>
                <a:spcPct val="0"/>
              </a:spcAft>
              <a:buFontTx/>
              <a:buChar char="•"/>
            </a:pPr>
            <a:r>
              <a:rPr lang="en-US" altLang="en-US" sz="1800" dirty="0">
                <a:solidFill>
                  <a:schemeClr val="bg1"/>
                </a:solidFill>
                <a:latin typeface="Goudy Old Style" panose="02020502050305020303" pitchFamily="18" charset="0"/>
              </a:rPr>
              <a:t>To improve efficiency and reduce computation time, we also use ADMM to explore feature selection.</a:t>
            </a:r>
          </a:p>
          <a:p>
            <a:pPr lvl="0" eaLnBrk="0" fontAlgn="base" hangingPunct="0">
              <a:spcBef>
                <a:spcPct val="0"/>
              </a:spcBef>
              <a:spcAft>
                <a:spcPct val="0"/>
              </a:spcAft>
              <a:buFontTx/>
              <a:buChar char="•"/>
            </a:pPr>
            <a:r>
              <a:rPr lang="en-US" altLang="en-US" sz="1800" dirty="0">
                <a:solidFill>
                  <a:schemeClr val="bg1"/>
                </a:solidFill>
                <a:latin typeface="Goudy Old Style" panose="02020502050305020303" pitchFamily="18" charset="0"/>
              </a:rPr>
              <a:t>Finally, we compare the performance of ELM vs SVM in terms of accuracy and computation.</a:t>
            </a:r>
          </a:p>
          <a:p>
            <a:pPr marL="36900" indent="0">
              <a:buNone/>
            </a:pPr>
            <a:endParaRPr lang="en-US" sz="1800" b="1" dirty="0"/>
          </a:p>
          <a:p>
            <a:pPr marL="36900" indent="0">
              <a:buNone/>
            </a:pPr>
            <a:endParaRPr lang="en-US" sz="1800" b="1" dirty="0"/>
          </a:p>
          <a:p>
            <a:pPr marL="36900" indent="0">
              <a:buNone/>
            </a:pPr>
            <a:endParaRPr lang="en-US" sz="1800" b="1" dirty="0"/>
          </a:p>
          <a:p>
            <a:pPr marL="36900" indent="0">
              <a:buNone/>
            </a:pPr>
            <a:endParaRPr lang="en-US" sz="1800" dirty="0"/>
          </a:p>
          <a:p>
            <a:pPr marL="36900" indent="0">
              <a:buNone/>
            </a:pPr>
            <a:endParaRPr lang="en-IN" dirty="0">
              <a:solidFill>
                <a:schemeClr val="bg1"/>
              </a:solidFill>
            </a:endParaRPr>
          </a:p>
        </p:txBody>
      </p:sp>
    </p:spTree>
    <p:extLst>
      <p:ext uri="{BB962C8B-B14F-4D97-AF65-F5344CB8AC3E}">
        <p14:creationId xmlns:p14="http://schemas.microsoft.com/office/powerpoint/2010/main" val="2352545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17024-33B0-179B-1996-9DEE032BCBC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4FCE3A-87CE-6496-D330-B939BFBA246F}"/>
              </a:ext>
            </a:extLst>
          </p:cNvPr>
          <p:cNvSpPr/>
          <p:nvPr/>
        </p:nvSpPr>
        <p:spPr>
          <a:xfrm>
            <a:off x="766953" y="1310917"/>
            <a:ext cx="10886557" cy="4840466"/>
          </a:xfrm>
          <a:prstGeom prst="roundRect">
            <a:avLst>
              <a:gd name="adj" fmla="val 1194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3553755F-5FBC-4A36-060B-2CADF69F122C}"/>
              </a:ext>
            </a:extLst>
          </p:cNvPr>
          <p:cNvSpPr>
            <a:spLocks noGrp="1"/>
          </p:cNvSpPr>
          <p:nvPr>
            <p:ph type="title"/>
          </p:nvPr>
        </p:nvSpPr>
        <p:spPr>
          <a:xfrm>
            <a:off x="919119" y="201253"/>
            <a:ext cx="10353762" cy="1257300"/>
          </a:xfrm>
        </p:spPr>
        <p:txBody>
          <a:bodyPr>
            <a:normAutofit/>
          </a:bodyPr>
          <a:lstStyle/>
          <a:p>
            <a:pPr algn="l"/>
            <a:r>
              <a:rPr lang="en-IN" sz="4800" dirty="0"/>
              <a:t>ELM and SVM:</a:t>
            </a:r>
          </a:p>
        </p:txBody>
      </p:sp>
      <p:sp>
        <p:nvSpPr>
          <p:cNvPr id="3" name="Content Placeholder 2">
            <a:extLst>
              <a:ext uri="{FF2B5EF4-FFF2-40B4-BE49-F238E27FC236}">
                <a16:creationId xmlns:a16="http://schemas.microsoft.com/office/drawing/2014/main" id="{EEAB9032-CAC6-578E-03F5-FD861BCBA3C4}"/>
              </a:ext>
            </a:extLst>
          </p:cNvPr>
          <p:cNvSpPr>
            <a:spLocks noGrp="1"/>
          </p:cNvSpPr>
          <p:nvPr>
            <p:ph idx="1"/>
          </p:nvPr>
        </p:nvSpPr>
        <p:spPr>
          <a:xfrm>
            <a:off x="937934" y="1458553"/>
            <a:ext cx="10060081" cy="4619088"/>
          </a:xfrm>
          <a:noFill/>
          <a:ln>
            <a:noFill/>
          </a:ln>
        </p:spPr>
        <p:style>
          <a:lnRef idx="2">
            <a:schemeClr val="dk1"/>
          </a:lnRef>
          <a:fillRef idx="1">
            <a:schemeClr val="lt1"/>
          </a:fillRef>
          <a:effectRef idx="0">
            <a:schemeClr val="dk1"/>
          </a:effectRef>
          <a:fontRef idx="minor">
            <a:schemeClr val="dk1"/>
          </a:fontRef>
        </p:style>
        <p:txBody>
          <a:bodyPr>
            <a:normAutofit/>
          </a:bodyPr>
          <a:lstStyle/>
          <a:p>
            <a:pPr marL="36900" indent="0">
              <a:buNone/>
            </a:pPr>
            <a:r>
              <a:rPr lang="en-US" sz="1800" b="1" dirty="0"/>
              <a:t>Extreme Learning Machine (ELM):</a:t>
            </a:r>
          </a:p>
          <a:p>
            <a:r>
              <a:rPr lang="en-US" sz="1800" dirty="0"/>
              <a:t>A single hidden layer feed forward neural network. Hidden layer weights are randomly assigned and not tuned.</a:t>
            </a:r>
          </a:p>
          <a:p>
            <a:r>
              <a:rPr lang="en-US" sz="1800" dirty="0"/>
              <a:t>Output weights are learned using least squares solution. Provides fast training and good generalization.</a:t>
            </a:r>
          </a:p>
          <a:p>
            <a:pPr marL="36900" indent="0">
              <a:buNone/>
            </a:pPr>
            <a:r>
              <a:rPr lang="en-US" sz="1800" b="1" dirty="0"/>
              <a:t>Support Vector Machine (SVM)</a:t>
            </a:r>
          </a:p>
          <a:p>
            <a:r>
              <a:rPr lang="en-US" sz="1800" dirty="0"/>
              <a:t>A supervised learning model for classification and regression. Finds an optimal hyperplane that separates data into classes. Known for high accuracy and strong theoretical foundation.</a:t>
            </a:r>
          </a:p>
          <a:p>
            <a:pPr marL="36900" indent="0">
              <a:buNone/>
            </a:pPr>
            <a:r>
              <a:rPr lang="en-US" sz="1800" b="1" dirty="0"/>
              <a:t>Comparison That are Done :</a:t>
            </a:r>
          </a:p>
          <a:p>
            <a:r>
              <a:rPr lang="en-US" sz="1800" dirty="0"/>
              <a:t>ELM vs ELM with ADMM Feature Selection (Offline)</a:t>
            </a:r>
          </a:p>
          <a:p>
            <a:r>
              <a:rPr lang="en-US" sz="1800" dirty="0"/>
              <a:t>ELM with ADMM Feature Selection (Offline) vs ELM with ADMM Feature Selection (Online)</a:t>
            </a:r>
          </a:p>
          <a:p>
            <a:r>
              <a:rPr lang="en-US" sz="1800" dirty="0"/>
              <a:t>ELM Comparison with regards to SVM (Offline and Online)</a:t>
            </a:r>
          </a:p>
          <a:p>
            <a:pPr marL="36900" indent="0">
              <a:buNone/>
            </a:pPr>
            <a:endParaRPr lang="en-US" sz="1800" b="1" dirty="0"/>
          </a:p>
          <a:p>
            <a:pPr marL="36900" indent="0">
              <a:buNone/>
            </a:pPr>
            <a:endParaRPr lang="en-US" sz="1800" b="1" dirty="0"/>
          </a:p>
          <a:p>
            <a:pPr marL="36900" indent="0">
              <a:buNone/>
            </a:pPr>
            <a:endParaRPr lang="en-US" sz="1800" b="1" dirty="0"/>
          </a:p>
          <a:p>
            <a:pPr marL="36900" indent="0">
              <a:buNone/>
            </a:pPr>
            <a:endParaRPr lang="en-US" sz="1800" dirty="0"/>
          </a:p>
          <a:p>
            <a:pPr marL="36900" indent="0">
              <a:buNone/>
            </a:pPr>
            <a:endParaRPr lang="en-IN" dirty="0">
              <a:solidFill>
                <a:schemeClr val="bg1"/>
              </a:solidFill>
            </a:endParaRPr>
          </a:p>
        </p:txBody>
      </p:sp>
      <p:sp>
        <p:nvSpPr>
          <p:cNvPr id="7" name="Isosceles Triangle 6">
            <a:extLst>
              <a:ext uri="{FF2B5EF4-FFF2-40B4-BE49-F238E27FC236}">
                <a16:creationId xmlns:a16="http://schemas.microsoft.com/office/drawing/2014/main" id="{A740CB5D-187D-E77C-BAF2-4CB362B66E9F}"/>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F24AC983-6462-22AB-6790-601290F42909}"/>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12257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74FCD-900D-E76A-D771-A9EDFA9D0268}"/>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65E22CE-32A6-7AAE-8E34-F7B694EF885E}"/>
              </a:ext>
            </a:extLst>
          </p:cNvPr>
          <p:cNvSpPr/>
          <p:nvPr/>
        </p:nvSpPr>
        <p:spPr>
          <a:xfrm>
            <a:off x="666447" y="1192601"/>
            <a:ext cx="5439380" cy="5270573"/>
          </a:xfrm>
          <a:prstGeom prst="roundRect">
            <a:avLst>
              <a:gd name="adj" fmla="val 11504"/>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E61FD034-F05E-9760-C0D9-80604A2B4C2B}"/>
              </a:ext>
            </a:extLst>
          </p:cNvPr>
          <p:cNvSpPr>
            <a:spLocks noGrp="1"/>
          </p:cNvSpPr>
          <p:nvPr>
            <p:ph type="title"/>
          </p:nvPr>
        </p:nvSpPr>
        <p:spPr>
          <a:xfrm>
            <a:off x="666447" y="35895"/>
            <a:ext cx="10353762" cy="1257300"/>
          </a:xfrm>
        </p:spPr>
        <p:txBody>
          <a:bodyPr/>
          <a:lstStyle/>
          <a:p>
            <a:pPr algn="l"/>
            <a:r>
              <a:rPr lang="en-IN" dirty="0"/>
              <a:t>Datasets &amp; Overall Flow of Project :</a:t>
            </a:r>
          </a:p>
        </p:txBody>
      </p:sp>
      <p:sp>
        <p:nvSpPr>
          <p:cNvPr id="3" name="Content Placeholder 2">
            <a:extLst>
              <a:ext uri="{FF2B5EF4-FFF2-40B4-BE49-F238E27FC236}">
                <a16:creationId xmlns:a16="http://schemas.microsoft.com/office/drawing/2014/main" id="{A3AE92C1-1BBD-0720-5EA7-281CFF4D36DC}"/>
              </a:ext>
            </a:extLst>
          </p:cNvPr>
          <p:cNvSpPr>
            <a:spLocks noGrp="1"/>
          </p:cNvSpPr>
          <p:nvPr>
            <p:ph idx="1"/>
          </p:nvPr>
        </p:nvSpPr>
        <p:spPr>
          <a:xfrm>
            <a:off x="936209" y="1285039"/>
            <a:ext cx="5060541" cy="4980789"/>
          </a:xfrm>
          <a:noFill/>
          <a:ln>
            <a:noFill/>
          </a:ln>
        </p:spPr>
        <p:style>
          <a:lnRef idx="2">
            <a:schemeClr val="dk1"/>
          </a:lnRef>
          <a:fillRef idx="1">
            <a:schemeClr val="lt1"/>
          </a:fillRef>
          <a:effectRef idx="0">
            <a:schemeClr val="dk1"/>
          </a:effectRef>
          <a:fontRef idx="minor">
            <a:schemeClr val="dk1"/>
          </a:fontRef>
        </p:style>
        <p:txBody>
          <a:bodyPr>
            <a:noAutofit/>
          </a:bodyPr>
          <a:lstStyle/>
          <a:p>
            <a:pPr marL="0" lvl="0" indent="0" defTabSz="914400" eaLnBrk="0" fontAlgn="base" hangingPunct="0">
              <a:lnSpc>
                <a:spcPct val="100000"/>
              </a:lnSpc>
              <a:spcBef>
                <a:spcPct val="0"/>
              </a:spcBef>
              <a:spcAft>
                <a:spcPct val="0"/>
              </a:spcAft>
              <a:buClrTx/>
              <a:buSzTx/>
              <a:buNone/>
            </a:pPr>
            <a:r>
              <a:rPr lang="en-US" altLang="en-US" sz="2000" b="1" dirty="0">
                <a:ln>
                  <a:noFill/>
                </a:ln>
                <a:solidFill>
                  <a:schemeClr val="bg1"/>
                </a:solidFill>
                <a:effectLst/>
              </a:rPr>
              <a:t>First Dataset:</a:t>
            </a:r>
          </a:p>
          <a:p>
            <a:pPr>
              <a:lnSpc>
                <a:spcPct val="100000"/>
              </a:lnSpc>
              <a:spcBef>
                <a:spcPts val="50"/>
              </a:spcBef>
              <a:spcAft>
                <a:spcPts val="50"/>
              </a:spcAft>
            </a:pPr>
            <a:r>
              <a:rPr lang="en-IN" sz="1400" b="1" dirty="0"/>
              <a:t>Source</a:t>
            </a:r>
            <a:r>
              <a:rPr lang="en-IN" sz="1400" dirty="0"/>
              <a:t>   : UCI Machine Learning Repository :</a:t>
            </a:r>
            <a:br>
              <a:rPr lang="en-IN" sz="1400" dirty="0"/>
            </a:br>
            <a:r>
              <a:rPr lang="en-IN" sz="1400" dirty="0"/>
              <a:t>                Concrete Compressive Strength Dataset</a:t>
            </a:r>
          </a:p>
          <a:p>
            <a:pPr>
              <a:lnSpc>
                <a:spcPct val="100000"/>
              </a:lnSpc>
              <a:spcBef>
                <a:spcPts val="50"/>
              </a:spcBef>
              <a:spcAft>
                <a:spcPts val="50"/>
              </a:spcAft>
            </a:pPr>
            <a:r>
              <a:rPr lang="en-IN" sz="1400" b="1" dirty="0"/>
              <a:t>Size       </a:t>
            </a:r>
            <a:r>
              <a:rPr lang="en-IN" sz="1400" dirty="0"/>
              <a:t> : 1,030 samples, 9 attributes</a:t>
            </a:r>
          </a:p>
          <a:p>
            <a:pPr>
              <a:lnSpc>
                <a:spcPct val="100000"/>
              </a:lnSpc>
              <a:spcBef>
                <a:spcPts val="50"/>
              </a:spcBef>
              <a:spcAft>
                <a:spcPts val="50"/>
              </a:spcAft>
            </a:pPr>
            <a:r>
              <a:rPr lang="en-IN" sz="1400" b="1" dirty="0"/>
              <a:t>Features</a:t>
            </a:r>
            <a:r>
              <a:rPr lang="en-IN" sz="1400" dirty="0"/>
              <a:t> : Cement, Blast Furnace Slag, Fly Ash, Water,</a:t>
            </a:r>
          </a:p>
          <a:p>
            <a:pPr marL="36900" indent="0">
              <a:lnSpc>
                <a:spcPct val="100000"/>
              </a:lnSpc>
              <a:spcBef>
                <a:spcPts val="50"/>
              </a:spcBef>
              <a:spcAft>
                <a:spcPts val="50"/>
              </a:spcAft>
              <a:buNone/>
            </a:pPr>
            <a:r>
              <a:rPr lang="en-IN" sz="1400" dirty="0"/>
              <a:t>                       Superplasticizer, Coarse Aggregate, Fine Aggregate,</a:t>
            </a:r>
          </a:p>
          <a:p>
            <a:pPr marL="36900" indent="0">
              <a:lnSpc>
                <a:spcPct val="100000"/>
              </a:lnSpc>
              <a:spcBef>
                <a:spcPts val="50"/>
              </a:spcBef>
              <a:spcAft>
                <a:spcPts val="50"/>
              </a:spcAft>
              <a:buNone/>
            </a:pPr>
            <a:r>
              <a:rPr lang="en-IN" sz="1400" dirty="0"/>
              <a:t>                       Age (days)</a:t>
            </a:r>
          </a:p>
          <a:p>
            <a:pPr>
              <a:lnSpc>
                <a:spcPct val="100000"/>
              </a:lnSpc>
              <a:spcBef>
                <a:spcPts val="50"/>
              </a:spcBef>
              <a:spcAft>
                <a:spcPts val="50"/>
              </a:spcAft>
            </a:pPr>
            <a:r>
              <a:rPr lang="en-IN" sz="1400" b="1" dirty="0"/>
              <a:t>Target</a:t>
            </a:r>
            <a:r>
              <a:rPr lang="en-IN" sz="1400" dirty="0"/>
              <a:t>    : Concrete compressive strength(Low/ Medium/ High)</a:t>
            </a:r>
          </a:p>
          <a:p>
            <a:pPr>
              <a:lnSpc>
                <a:spcPct val="100000"/>
              </a:lnSpc>
              <a:spcBef>
                <a:spcPts val="50"/>
              </a:spcBef>
              <a:spcAft>
                <a:spcPts val="50"/>
              </a:spcAft>
            </a:pPr>
            <a:endParaRPr lang="en-US" altLang="en-US" sz="1600" dirty="0">
              <a:ln>
                <a:noFill/>
              </a:ln>
              <a:solidFill>
                <a:schemeClr val="bg1"/>
              </a:solidFill>
              <a:effectLst/>
            </a:endParaRPr>
          </a:p>
          <a:p>
            <a:pPr marL="0" indent="0" defTabSz="914400" eaLnBrk="0" fontAlgn="base" hangingPunct="0">
              <a:lnSpc>
                <a:spcPct val="100000"/>
              </a:lnSpc>
              <a:spcBef>
                <a:spcPct val="0"/>
              </a:spcBef>
              <a:spcAft>
                <a:spcPct val="0"/>
              </a:spcAft>
              <a:buClrTx/>
              <a:buSzTx/>
              <a:buNone/>
            </a:pPr>
            <a:r>
              <a:rPr lang="en-US" altLang="en-US" sz="2000" b="1" dirty="0">
                <a:ln>
                  <a:noFill/>
                </a:ln>
                <a:solidFill>
                  <a:schemeClr val="bg1"/>
                </a:solidFill>
                <a:effectLst/>
              </a:rPr>
              <a:t>Second Dataset:</a:t>
            </a:r>
          </a:p>
          <a:p>
            <a:pPr>
              <a:lnSpc>
                <a:spcPct val="100000"/>
              </a:lnSpc>
              <a:spcBef>
                <a:spcPts val="50"/>
              </a:spcBef>
              <a:spcAft>
                <a:spcPts val="50"/>
              </a:spcAft>
            </a:pPr>
            <a:r>
              <a:rPr lang="en-IN" sz="1400" b="1" dirty="0"/>
              <a:t>Source   </a:t>
            </a:r>
            <a:r>
              <a:rPr lang="en-IN" sz="1400" dirty="0"/>
              <a:t>: UCI Machine Learning Repository :</a:t>
            </a:r>
            <a:br>
              <a:rPr lang="en-IN" sz="1400" dirty="0"/>
            </a:br>
            <a:r>
              <a:rPr lang="en-IN" sz="1400" dirty="0"/>
              <a:t>                 </a:t>
            </a:r>
            <a:r>
              <a:rPr lang="en-IN" sz="1400" i="1" dirty="0"/>
              <a:t>Iris Flower Dataset</a:t>
            </a:r>
            <a:endParaRPr lang="en-IN" sz="1400" dirty="0"/>
          </a:p>
          <a:p>
            <a:pPr>
              <a:lnSpc>
                <a:spcPct val="100000"/>
              </a:lnSpc>
              <a:spcBef>
                <a:spcPts val="50"/>
              </a:spcBef>
              <a:spcAft>
                <a:spcPts val="50"/>
              </a:spcAft>
            </a:pPr>
            <a:r>
              <a:rPr lang="en-IN" sz="1400" b="1" dirty="0"/>
              <a:t>Size        </a:t>
            </a:r>
            <a:r>
              <a:rPr lang="en-IN" sz="1400" dirty="0"/>
              <a:t>: 150 samples, 5 attributes</a:t>
            </a:r>
          </a:p>
          <a:p>
            <a:pPr>
              <a:lnSpc>
                <a:spcPct val="100000"/>
              </a:lnSpc>
              <a:spcBef>
                <a:spcPts val="50"/>
              </a:spcBef>
              <a:spcAft>
                <a:spcPts val="50"/>
              </a:spcAft>
            </a:pPr>
            <a:r>
              <a:rPr lang="en-IN" sz="1400" b="1" dirty="0"/>
              <a:t>Features </a:t>
            </a:r>
            <a:r>
              <a:rPr lang="en-IN" sz="1400" dirty="0"/>
              <a:t>: Sepal length (cm), Sepal width (cm), Petal length (cm),</a:t>
            </a:r>
          </a:p>
          <a:p>
            <a:pPr marL="36900" indent="0">
              <a:lnSpc>
                <a:spcPct val="100000"/>
              </a:lnSpc>
              <a:spcBef>
                <a:spcPts val="50"/>
              </a:spcBef>
              <a:spcAft>
                <a:spcPts val="50"/>
              </a:spcAft>
              <a:buNone/>
            </a:pPr>
            <a:r>
              <a:rPr lang="en-IN" sz="1400" dirty="0"/>
              <a:t>                       Petal width (cm)</a:t>
            </a:r>
          </a:p>
          <a:p>
            <a:pPr>
              <a:lnSpc>
                <a:spcPct val="100000"/>
              </a:lnSpc>
              <a:spcBef>
                <a:spcPts val="50"/>
              </a:spcBef>
              <a:spcAft>
                <a:spcPts val="50"/>
              </a:spcAft>
            </a:pPr>
            <a:r>
              <a:rPr lang="en-IN" sz="1400" b="1" dirty="0"/>
              <a:t>Target    </a:t>
            </a:r>
            <a:r>
              <a:rPr lang="en-IN" sz="1400" dirty="0"/>
              <a:t>: Iris species (classes: </a:t>
            </a:r>
            <a:r>
              <a:rPr lang="en-IN" sz="1400" i="1" dirty="0" err="1"/>
              <a:t>Setosa</a:t>
            </a:r>
            <a:r>
              <a:rPr lang="en-IN" sz="1400" i="1" dirty="0"/>
              <a:t> / Versicolor / Virginica</a:t>
            </a:r>
            <a:r>
              <a:rPr lang="en-IN" sz="1400" dirty="0"/>
              <a:t>)</a:t>
            </a:r>
          </a:p>
          <a:p>
            <a:pPr>
              <a:lnSpc>
                <a:spcPct val="100000"/>
              </a:lnSpc>
              <a:spcBef>
                <a:spcPts val="50"/>
              </a:spcBef>
              <a:spcAft>
                <a:spcPts val="50"/>
              </a:spcAft>
            </a:pPr>
            <a:endParaRPr lang="en-IN" sz="1400" b="1" dirty="0"/>
          </a:p>
          <a:p>
            <a:pPr marL="36900" indent="0">
              <a:lnSpc>
                <a:spcPct val="100000"/>
              </a:lnSpc>
              <a:spcBef>
                <a:spcPts val="50"/>
              </a:spcBef>
              <a:spcAft>
                <a:spcPts val="50"/>
              </a:spcAft>
              <a:buNone/>
            </a:pPr>
            <a:r>
              <a:rPr lang="en-IN" sz="2000" b="1" dirty="0"/>
              <a:t>Third Dataset :</a:t>
            </a:r>
          </a:p>
          <a:p>
            <a:pPr>
              <a:lnSpc>
                <a:spcPct val="100000"/>
              </a:lnSpc>
              <a:spcBef>
                <a:spcPts val="50"/>
              </a:spcBef>
              <a:spcAft>
                <a:spcPts val="50"/>
              </a:spcAft>
            </a:pPr>
            <a:r>
              <a:rPr lang="en-IN" sz="1400" i="1" dirty="0"/>
              <a:t>Source : Kaggle , Size : </a:t>
            </a:r>
            <a:r>
              <a:rPr lang="en-IN" sz="1400" dirty="0"/>
              <a:t>18135 samples </a:t>
            </a:r>
          </a:p>
          <a:p>
            <a:pPr>
              <a:lnSpc>
                <a:spcPct val="100000"/>
              </a:lnSpc>
              <a:spcBef>
                <a:spcPts val="50"/>
              </a:spcBef>
              <a:spcAft>
                <a:spcPts val="50"/>
              </a:spcAft>
            </a:pPr>
            <a:r>
              <a:rPr lang="en-IN" sz="1400" i="1" dirty="0"/>
              <a:t>Features : 10 , </a:t>
            </a:r>
            <a:r>
              <a:rPr lang="en-IN" sz="1400" dirty="0"/>
              <a:t>Target : Jasmine or Gonen</a:t>
            </a:r>
          </a:p>
          <a:p>
            <a:pPr marL="36900" indent="0">
              <a:lnSpc>
                <a:spcPct val="100000"/>
              </a:lnSpc>
              <a:spcBef>
                <a:spcPts val="50"/>
              </a:spcBef>
              <a:spcAft>
                <a:spcPts val="50"/>
              </a:spcAft>
              <a:buNone/>
            </a:pPr>
            <a:endParaRPr lang="en-US" altLang="en-US" sz="2000" b="1" dirty="0">
              <a:ln>
                <a:noFill/>
              </a:ln>
              <a:solidFill>
                <a:schemeClr val="bg1"/>
              </a:solidFill>
              <a:effectLst/>
            </a:endParaRPr>
          </a:p>
          <a:p>
            <a:pPr marL="0" indent="0" defTabSz="914400" eaLnBrk="0" fontAlgn="base" hangingPunct="0">
              <a:lnSpc>
                <a:spcPct val="100000"/>
              </a:lnSpc>
              <a:spcBef>
                <a:spcPct val="0"/>
              </a:spcBef>
              <a:spcAft>
                <a:spcPct val="0"/>
              </a:spcAft>
              <a:buClrTx/>
              <a:buSzTx/>
              <a:buNone/>
            </a:pPr>
            <a:endParaRPr lang="en-US" altLang="en-US" sz="1600" dirty="0">
              <a:ln>
                <a:noFill/>
              </a:ln>
              <a:solidFill>
                <a:schemeClr val="bg1"/>
              </a:solidFill>
              <a:effectLst/>
            </a:endParaRPr>
          </a:p>
          <a:p>
            <a:pPr marL="0" lvl="0" indent="0" defTabSz="914400" eaLnBrk="0" fontAlgn="base" hangingPunct="0">
              <a:lnSpc>
                <a:spcPct val="100000"/>
              </a:lnSpc>
              <a:spcBef>
                <a:spcPct val="0"/>
              </a:spcBef>
              <a:spcAft>
                <a:spcPct val="0"/>
              </a:spcAft>
              <a:buClrTx/>
              <a:buSzTx/>
              <a:buFontTx/>
              <a:buChar char="•"/>
            </a:pPr>
            <a:endParaRPr lang="en-IN" sz="2000" dirty="0">
              <a:solidFill>
                <a:schemeClr val="bg1"/>
              </a:solidFill>
            </a:endParaRPr>
          </a:p>
        </p:txBody>
      </p:sp>
      <p:sp>
        <p:nvSpPr>
          <p:cNvPr id="5" name="Isosceles Triangle 4">
            <a:extLst>
              <a:ext uri="{FF2B5EF4-FFF2-40B4-BE49-F238E27FC236}">
                <a16:creationId xmlns:a16="http://schemas.microsoft.com/office/drawing/2014/main" id="{CAF79834-DCB2-1C28-BCC7-8B44294F6A5E}"/>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8032C25A-DF8B-DDAA-1D2E-DF3C9EE73A44}"/>
              </a:ext>
            </a:extLst>
          </p:cNvPr>
          <p:cNvSpPr/>
          <p:nvPr/>
        </p:nvSpPr>
        <p:spPr>
          <a:xfrm>
            <a:off x="6338731" y="1212594"/>
            <a:ext cx="5486400" cy="5125681"/>
          </a:xfrm>
          <a:prstGeom prst="rect">
            <a:avLst/>
          </a:prstGeom>
          <a:solidFill>
            <a:schemeClr val="tx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96720FF6-36BE-2A9E-250E-85F6F6EEC4E3}"/>
              </a:ext>
            </a:extLst>
          </p:cNvPr>
          <p:cNvSpPr/>
          <p:nvPr/>
        </p:nvSpPr>
        <p:spPr>
          <a:xfrm>
            <a:off x="6757831" y="2274305"/>
            <a:ext cx="2324100" cy="504825"/>
          </a:xfrm>
          <a:prstGeom prst="roundRect">
            <a:avLst/>
          </a:prstGeom>
          <a:solidFill>
            <a:srgbClr val="F2EB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bg1"/>
                </a:solidFill>
              </a:rPr>
              <a:t>Dataset Preprocessing</a:t>
            </a:r>
          </a:p>
        </p:txBody>
      </p:sp>
      <p:sp>
        <p:nvSpPr>
          <p:cNvPr id="8" name="Rectangle: Rounded Corners 7">
            <a:extLst>
              <a:ext uri="{FF2B5EF4-FFF2-40B4-BE49-F238E27FC236}">
                <a16:creationId xmlns:a16="http://schemas.microsoft.com/office/drawing/2014/main" id="{7D9316B4-8BBF-8B29-CDC8-35FCF4B1AA08}"/>
              </a:ext>
            </a:extLst>
          </p:cNvPr>
          <p:cNvSpPr/>
          <p:nvPr/>
        </p:nvSpPr>
        <p:spPr>
          <a:xfrm>
            <a:off x="6757831" y="3160130"/>
            <a:ext cx="2324100" cy="504825"/>
          </a:xfrm>
          <a:prstGeom prst="roundRect">
            <a:avLst/>
          </a:prstGeom>
          <a:solidFill>
            <a:srgbClr val="F2EB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bg1"/>
                </a:solidFill>
              </a:rPr>
              <a:t>ADMM &amp; Splitting</a:t>
            </a:r>
          </a:p>
        </p:txBody>
      </p:sp>
      <p:sp>
        <p:nvSpPr>
          <p:cNvPr id="9" name="Rectangle: Rounded Corners 8">
            <a:extLst>
              <a:ext uri="{FF2B5EF4-FFF2-40B4-BE49-F238E27FC236}">
                <a16:creationId xmlns:a16="http://schemas.microsoft.com/office/drawing/2014/main" id="{4D4400EE-2BF8-B4F1-167C-4F159DBDE8CD}"/>
              </a:ext>
            </a:extLst>
          </p:cNvPr>
          <p:cNvSpPr/>
          <p:nvPr/>
        </p:nvSpPr>
        <p:spPr>
          <a:xfrm>
            <a:off x="6757831" y="4045955"/>
            <a:ext cx="2324100" cy="504825"/>
          </a:xfrm>
          <a:prstGeom prst="roundRect">
            <a:avLst/>
          </a:prstGeom>
          <a:solidFill>
            <a:srgbClr val="F2EB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bg1"/>
                </a:solidFill>
              </a:rPr>
              <a:t>Training Models</a:t>
            </a:r>
          </a:p>
        </p:txBody>
      </p:sp>
      <p:sp>
        <p:nvSpPr>
          <p:cNvPr id="10" name="Rectangle: Rounded Corners 9">
            <a:extLst>
              <a:ext uri="{FF2B5EF4-FFF2-40B4-BE49-F238E27FC236}">
                <a16:creationId xmlns:a16="http://schemas.microsoft.com/office/drawing/2014/main" id="{54837637-F2C2-36A3-C56A-1A1C59A7FC73}"/>
              </a:ext>
            </a:extLst>
          </p:cNvPr>
          <p:cNvSpPr/>
          <p:nvPr/>
        </p:nvSpPr>
        <p:spPr>
          <a:xfrm>
            <a:off x="6757831" y="4931780"/>
            <a:ext cx="2324100" cy="504825"/>
          </a:xfrm>
          <a:prstGeom prst="roundRect">
            <a:avLst/>
          </a:prstGeom>
          <a:solidFill>
            <a:srgbClr val="F2EBD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chemeClr val="bg1"/>
                </a:solidFill>
              </a:rPr>
              <a:t>Analysis of Results</a:t>
            </a:r>
          </a:p>
        </p:txBody>
      </p:sp>
      <p:sp>
        <p:nvSpPr>
          <p:cNvPr id="11" name="Content Placeholder 2">
            <a:extLst>
              <a:ext uri="{FF2B5EF4-FFF2-40B4-BE49-F238E27FC236}">
                <a16:creationId xmlns:a16="http://schemas.microsoft.com/office/drawing/2014/main" id="{E94551F8-FE6A-FB62-7BEE-9A0BB774FD4E}"/>
              </a:ext>
            </a:extLst>
          </p:cNvPr>
          <p:cNvSpPr txBox="1">
            <a:spLocks/>
          </p:cNvSpPr>
          <p:nvPr/>
        </p:nvSpPr>
        <p:spPr>
          <a:xfrm>
            <a:off x="6692689" y="1446423"/>
            <a:ext cx="3726427" cy="543084"/>
          </a:xfrm>
          <a:prstGeom prst="rect">
            <a:avLst/>
          </a:prstGeom>
          <a:noFill/>
          <a:ln w="15875" cap="rnd" cmpd="sng" algn="ctr">
            <a:noFill/>
            <a:prstDash val="solid"/>
          </a:ln>
        </p:spPr>
        <p:style>
          <a:lnRef idx="2">
            <a:schemeClr val="dk1"/>
          </a:lnRef>
          <a:fillRef idx="1">
            <a:schemeClr val="lt1"/>
          </a:fillRef>
          <a:effectRef idx="0">
            <a:schemeClr val="dk1"/>
          </a:effectRef>
          <a:fontRef idx="minor">
            <a:schemeClr val="dk1"/>
          </a:fontRef>
        </p:style>
        <p:txBody>
          <a:bodyPr vert="horz" lIns="91440" tIns="45720" rIns="91440" bIns="45720" rtlCol="0" anchor="t">
            <a:no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dk1"/>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dk1"/>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dk1"/>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dk1"/>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dk1"/>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dk1"/>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dk1"/>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dk1"/>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dk1"/>
                </a:solidFill>
                <a:effectLst>
                  <a:outerShdw blurRad="9525" dist="25400" dir="14640000" algn="tl" rotWithShape="0">
                    <a:schemeClr val="bg1">
                      <a:alpha val="30000"/>
                    </a:schemeClr>
                  </a:outerShdw>
                </a:effectLst>
                <a:latin typeface="+mn-lt"/>
                <a:ea typeface="+mn-ea"/>
                <a:cs typeface="+mn-cs"/>
              </a:defRPr>
            </a:lvl9pPr>
          </a:lstStyle>
          <a:p>
            <a:pPr marL="36900" indent="0">
              <a:buFont typeface="Wingdings 2" charset="2"/>
              <a:buNone/>
            </a:pPr>
            <a:r>
              <a:rPr lang="en-US" sz="2400" b="1" dirty="0"/>
              <a:t>Overall Flow of the Project:</a:t>
            </a:r>
          </a:p>
          <a:p>
            <a:pPr marL="36900" indent="0">
              <a:buFont typeface="Wingdings 2" charset="2"/>
              <a:buNone/>
            </a:pPr>
            <a:endParaRPr lang="en-US" sz="2400" dirty="0"/>
          </a:p>
          <a:p>
            <a:pPr marL="36900" indent="0">
              <a:buFont typeface="Wingdings 2" charset="2"/>
              <a:buNone/>
            </a:pPr>
            <a:endParaRPr lang="en-IN" sz="2400" dirty="0">
              <a:solidFill>
                <a:schemeClr val="bg1"/>
              </a:solidFill>
            </a:endParaRPr>
          </a:p>
        </p:txBody>
      </p:sp>
      <p:cxnSp>
        <p:nvCxnSpPr>
          <p:cNvPr id="12" name="Straight Arrow Connector 11">
            <a:extLst>
              <a:ext uri="{FF2B5EF4-FFF2-40B4-BE49-F238E27FC236}">
                <a16:creationId xmlns:a16="http://schemas.microsoft.com/office/drawing/2014/main" id="{EAB24205-4576-C205-1873-279FAAB56C12}"/>
              </a:ext>
            </a:extLst>
          </p:cNvPr>
          <p:cNvCxnSpPr>
            <a:endCxn id="8" idx="0"/>
          </p:cNvCxnSpPr>
          <p:nvPr/>
        </p:nvCxnSpPr>
        <p:spPr>
          <a:xfrm>
            <a:off x="7919881" y="2779130"/>
            <a:ext cx="0" cy="381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C085ED40-9783-AF86-29C1-C9AE8C94B724}"/>
              </a:ext>
            </a:extLst>
          </p:cNvPr>
          <p:cNvCxnSpPr/>
          <p:nvPr/>
        </p:nvCxnSpPr>
        <p:spPr>
          <a:xfrm>
            <a:off x="7942618" y="3664955"/>
            <a:ext cx="0" cy="381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20B0ECF4-B2F3-ABE0-7AE9-9F1F3F37D74F}"/>
              </a:ext>
            </a:extLst>
          </p:cNvPr>
          <p:cNvCxnSpPr/>
          <p:nvPr/>
        </p:nvCxnSpPr>
        <p:spPr>
          <a:xfrm>
            <a:off x="7965355" y="4550780"/>
            <a:ext cx="0" cy="381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921C9BBF-3863-B99C-8754-0D13CB76C2A9}"/>
              </a:ext>
            </a:extLst>
          </p:cNvPr>
          <p:cNvCxnSpPr>
            <a:cxnSpLocks/>
          </p:cNvCxnSpPr>
          <p:nvPr/>
        </p:nvCxnSpPr>
        <p:spPr>
          <a:xfrm>
            <a:off x="9081931" y="2526717"/>
            <a:ext cx="27530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A45B5A55-668E-04C9-1941-3E17D26FCF3C}"/>
              </a:ext>
            </a:extLst>
          </p:cNvPr>
          <p:cNvSpPr txBox="1"/>
          <p:nvPr/>
        </p:nvSpPr>
        <p:spPr>
          <a:xfrm>
            <a:off x="9324360" y="2227012"/>
            <a:ext cx="2533645" cy="646331"/>
          </a:xfrm>
          <a:prstGeom prst="rect">
            <a:avLst/>
          </a:prstGeom>
          <a:noFill/>
        </p:spPr>
        <p:txBody>
          <a:bodyPr wrap="square" rtlCol="0">
            <a:spAutoFit/>
          </a:bodyPr>
          <a:lstStyle/>
          <a:p>
            <a:r>
              <a:rPr lang="en-IN" dirty="0">
                <a:solidFill>
                  <a:schemeClr val="bg1"/>
                </a:solidFill>
              </a:rPr>
              <a:t>Read the Dataset. Classify the data if necessary</a:t>
            </a:r>
          </a:p>
        </p:txBody>
      </p:sp>
      <p:cxnSp>
        <p:nvCxnSpPr>
          <p:cNvPr id="17" name="Straight Arrow Connector 16">
            <a:extLst>
              <a:ext uri="{FF2B5EF4-FFF2-40B4-BE49-F238E27FC236}">
                <a16:creationId xmlns:a16="http://schemas.microsoft.com/office/drawing/2014/main" id="{AB20EA30-AA68-CC0C-F6C2-35170A8177D9}"/>
              </a:ext>
            </a:extLst>
          </p:cNvPr>
          <p:cNvCxnSpPr>
            <a:cxnSpLocks/>
          </p:cNvCxnSpPr>
          <p:nvPr/>
        </p:nvCxnSpPr>
        <p:spPr>
          <a:xfrm>
            <a:off x="9081931" y="3425460"/>
            <a:ext cx="27530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55A1514A-79DD-2FB4-D678-22DB51B3B8B2}"/>
              </a:ext>
            </a:extLst>
          </p:cNvPr>
          <p:cNvSpPr txBox="1"/>
          <p:nvPr/>
        </p:nvSpPr>
        <p:spPr>
          <a:xfrm>
            <a:off x="9357233" y="3104671"/>
            <a:ext cx="2393845" cy="923330"/>
          </a:xfrm>
          <a:prstGeom prst="rect">
            <a:avLst/>
          </a:prstGeom>
          <a:noFill/>
        </p:spPr>
        <p:txBody>
          <a:bodyPr wrap="square" rtlCol="0">
            <a:spAutoFit/>
          </a:bodyPr>
          <a:lstStyle/>
          <a:p>
            <a:r>
              <a:rPr lang="en-IN" dirty="0">
                <a:solidFill>
                  <a:schemeClr val="bg1"/>
                </a:solidFill>
              </a:rPr>
              <a:t>Feature Selection (according to data) &amp; Split into train, test</a:t>
            </a:r>
          </a:p>
        </p:txBody>
      </p:sp>
      <p:cxnSp>
        <p:nvCxnSpPr>
          <p:cNvPr id="19" name="Straight Arrow Connector 18">
            <a:extLst>
              <a:ext uri="{FF2B5EF4-FFF2-40B4-BE49-F238E27FC236}">
                <a16:creationId xmlns:a16="http://schemas.microsoft.com/office/drawing/2014/main" id="{A0368D85-A039-EB5A-3537-E298A9B07687}"/>
              </a:ext>
            </a:extLst>
          </p:cNvPr>
          <p:cNvCxnSpPr>
            <a:cxnSpLocks/>
          </p:cNvCxnSpPr>
          <p:nvPr/>
        </p:nvCxnSpPr>
        <p:spPr>
          <a:xfrm>
            <a:off x="9081931" y="4319451"/>
            <a:ext cx="27530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182ED959-82B2-48A8-62B1-FC7D6CB8AC27}"/>
              </a:ext>
            </a:extLst>
          </p:cNvPr>
          <p:cNvSpPr txBox="1"/>
          <p:nvPr/>
        </p:nvSpPr>
        <p:spPr>
          <a:xfrm>
            <a:off x="9357233" y="3998662"/>
            <a:ext cx="2393845" cy="646331"/>
          </a:xfrm>
          <a:prstGeom prst="rect">
            <a:avLst/>
          </a:prstGeom>
          <a:noFill/>
        </p:spPr>
        <p:txBody>
          <a:bodyPr wrap="square" rtlCol="0">
            <a:spAutoFit/>
          </a:bodyPr>
          <a:lstStyle/>
          <a:p>
            <a:r>
              <a:rPr lang="en-IN" dirty="0">
                <a:solidFill>
                  <a:schemeClr val="bg1"/>
                </a:solidFill>
              </a:rPr>
              <a:t>Extreme Learning Machine(ELM) &amp; SVM</a:t>
            </a:r>
          </a:p>
        </p:txBody>
      </p:sp>
      <p:cxnSp>
        <p:nvCxnSpPr>
          <p:cNvPr id="21" name="Straight Arrow Connector 20">
            <a:extLst>
              <a:ext uri="{FF2B5EF4-FFF2-40B4-BE49-F238E27FC236}">
                <a16:creationId xmlns:a16="http://schemas.microsoft.com/office/drawing/2014/main" id="{DB873ECB-FE3F-B97E-6878-556E3774A53D}"/>
              </a:ext>
            </a:extLst>
          </p:cNvPr>
          <p:cNvCxnSpPr>
            <a:cxnSpLocks/>
          </p:cNvCxnSpPr>
          <p:nvPr/>
        </p:nvCxnSpPr>
        <p:spPr>
          <a:xfrm>
            <a:off x="9081931" y="5176330"/>
            <a:ext cx="27530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B54C09D4-D7BA-E26A-9476-61EA8396A6D7}"/>
              </a:ext>
            </a:extLst>
          </p:cNvPr>
          <p:cNvSpPr txBox="1"/>
          <p:nvPr/>
        </p:nvSpPr>
        <p:spPr>
          <a:xfrm>
            <a:off x="9357233" y="4751777"/>
            <a:ext cx="2123765" cy="1200329"/>
          </a:xfrm>
          <a:prstGeom prst="rect">
            <a:avLst/>
          </a:prstGeom>
          <a:noFill/>
        </p:spPr>
        <p:txBody>
          <a:bodyPr wrap="square" rtlCol="0">
            <a:spAutoFit/>
          </a:bodyPr>
          <a:lstStyle/>
          <a:p>
            <a:r>
              <a:rPr lang="en-IN" dirty="0">
                <a:solidFill>
                  <a:schemeClr val="bg1"/>
                </a:solidFill>
              </a:rPr>
              <a:t>Without ADMM </a:t>
            </a:r>
          </a:p>
          <a:p>
            <a:r>
              <a:rPr lang="en-IN" dirty="0">
                <a:solidFill>
                  <a:schemeClr val="bg1"/>
                </a:solidFill>
              </a:rPr>
              <a:t>With ADMM</a:t>
            </a:r>
          </a:p>
          <a:p>
            <a:r>
              <a:rPr lang="en-IN" dirty="0">
                <a:solidFill>
                  <a:schemeClr val="bg1"/>
                </a:solidFill>
              </a:rPr>
              <a:t>ELM vs SVM</a:t>
            </a:r>
          </a:p>
          <a:p>
            <a:r>
              <a:rPr lang="en-IN" dirty="0">
                <a:solidFill>
                  <a:schemeClr val="bg1"/>
                </a:solidFill>
              </a:rPr>
              <a:t>Online Learning</a:t>
            </a:r>
          </a:p>
        </p:txBody>
      </p:sp>
      <p:sp>
        <p:nvSpPr>
          <p:cNvPr id="23" name="Isosceles Triangle 22">
            <a:extLst>
              <a:ext uri="{FF2B5EF4-FFF2-40B4-BE49-F238E27FC236}">
                <a16:creationId xmlns:a16="http://schemas.microsoft.com/office/drawing/2014/main" id="{F7F9ECF3-A6EA-1499-3700-5B1E16A5CED6}"/>
              </a:ext>
            </a:extLst>
          </p:cNvPr>
          <p:cNvSpPr/>
          <p:nvPr/>
        </p:nvSpPr>
        <p:spPr>
          <a:xfrm rot="10800000" flipV="1">
            <a:off x="0" y="6172200"/>
            <a:ext cx="1914525" cy="68580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75360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8212C-4DAB-6DE2-9F90-20B879C970C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A0EAD96-02EF-890E-FFFD-9BE27557971F}"/>
              </a:ext>
            </a:extLst>
          </p:cNvPr>
          <p:cNvSpPr/>
          <p:nvPr/>
        </p:nvSpPr>
        <p:spPr>
          <a:xfrm>
            <a:off x="847119" y="1281112"/>
            <a:ext cx="10687655" cy="4900613"/>
          </a:xfrm>
          <a:prstGeom prst="roundRect">
            <a:avLst>
              <a:gd name="adj" fmla="val 11345"/>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0747364D-C074-9530-B036-6270DAC2970E}"/>
              </a:ext>
            </a:extLst>
          </p:cNvPr>
          <p:cNvSpPr>
            <a:spLocks noGrp="1"/>
          </p:cNvSpPr>
          <p:nvPr>
            <p:ph type="title"/>
          </p:nvPr>
        </p:nvSpPr>
        <p:spPr>
          <a:xfrm>
            <a:off x="847120" y="25579"/>
            <a:ext cx="10353762" cy="1257300"/>
          </a:xfrm>
        </p:spPr>
        <p:txBody>
          <a:bodyPr>
            <a:normAutofit/>
          </a:bodyPr>
          <a:lstStyle/>
          <a:p>
            <a:pPr algn="l"/>
            <a:r>
              <a:rPr lang="en-IN" sz="4800" dirty="0"/>
              <a:t>Proposed Methodology / Design  :</a:t>
            </a:r>
          </a:p>
        </p:txBody>
      </p:sp>
      <p:sp>
        <p:nvSpPr>
          <p:cNvPr id="3" name="Content Placeholder 2">
            <a:extLst>
              <a:ext uri="{FF2B5EF4-FFF2-40B4-BE49-F238E27FC236}">
                <a16:creationId xmlns:a16="http://schemas.microsoft.com/office/drawing/2014/main" id="{CA75AC33-BD3C-440F-18C7-7620D6DA099C}"/>
              </a:ext>
            </a:extLst>
          </p:cNvPr>
          <p:cNvSpPr>
            <a:spLocks noGrp="1"/>
          </p:cNvSpPr>
          <p:nvPr>
            <p:ph idx="1"/>
          </p:nvPr>
        </p:nvSpPr>
        <p:spPr>
          <a:xfrm>
            <a:off x="1014065" y="1501070"/>
            <a:ext cx="10353762" cy="4499680"/>
          </a:xfrm>
          <a:noFill/>
          <a:ln>
            <a:noFill/>
          </a:ln>
        </p:spPr>
        <p:style>
          <a:lnRef idx="2">
            <a:schemeClr val="dk1"/>
          </a:lnRef>
          <a:fillRef idx="1">
            <a:schemeClr val="lt1"/>
          </a:fillRef>
          <a:effectRef idx="0">
            <a:schemeClr val="dk1"/>
          </a:effectRef>
          <a:fontRef idx="minor">
            <a:schemeClr val="dk1"/>
          </a:fontRef>
        </p:style>
        <p:txBody>
          <a:bodyPr>
            <a:noAutofit/>
          </a:bodyPr>
          <a:lstStyle/>
          <a:p>
            <a:pPr marL="36900" indent="0">
              <a:buNone/>
            </a:pPr>
            <a:r>
              <a:rPr lang="en-US" sz="1600" b="1" dirty="0"/>
              <a:t>Steps followed for the classification in ELM and SVM</a:t>
            </a:r>
            <a:r>
              <a:rPr lang="en-US" sz="1600" dirty="0"/>
              <a:t>:</a:t>
            </a:r>
          </a:p>
          <a:p>
            <a:pPr>
              <a:lnSpc>
                <a:spcPct val="100000"/>
              </a:lnSpc>
              <a:spcBef>
                <a:spcPts val="50"/>
              </a:spcBef>
              <a:spcAft>
                <a:spcPts val="50"/>
              </a:spcAft>
              <a:buFont typeface="Wingdings" panose="05000000000000000000" pitchFamily="2" charset="2"/>
              <a:buChar char="v"/>
            </a:pPr>
            <a:r>
              <a:rPr lang="en-US" sz="1600" b="1" dirty="0"/>
              <a:t>Importing the Necessary Libraries          : </a:t>
            </a:r>
            <a:r>
              <a:rPr lang="en-US" sz="1600" dirty="0">
                <a:effectLst/>
              </a:rPr>
              <a:t>Pandas, Numpy and Sklearn</a:t>
            </a:r>
          </a:p>
          <a:p>
            <a:pPr>
              <a:lnSpc>
                <a:spcPct val="100000"/>
              </a:lnSpc>
              <a:spcBef>
                <a:spcPts val="50"/>
              </a:spcBef>
              <a:spcAft>
                <a:spcPts val="50"/>
              </a:spcAft>
              <a:buFont typeface="Wingdings" panose="05000000000000000000" pitchFamily="2" charset="2"/>
              <a:buChar char="v"/>
            </a:pPr>
            <a:r>
              <a:rPr lang="en-US" sz="1600" b="1" dirty="0"/>
              <a:t>Importing Dataset and Preprocessing     : </a:t>
            </a:r>
            <a:r>
              <a:rPr lang="en-US" altLang="en-US" sz="1600" dirty="0">
                <a:ln>
                  <a:noFill/>
                </a:ln>
                <a:solidFill>
                  <a:schemeClr val="bg1"/>
                </a:solidFill>
                <a:effectLst/>
              </a:rPr>
              <a:t>Concrete Compressive Strength, where preprocessing will be done to create 3  								            total classes which are Low/Med/High.</a:t>
            </a:r>
            <a:endParaRPr lang="en-US" sz="1600" b="1" dirty="0">
              <a:effectLst/>
            </a:endParaRPr>
          </a:p>
          <a:p>
            <a:pPr>
              <a:lnSpc>
                <a:spcPct val="100000"/>
              </a:lnSpc>
              <a:spcBef>
                <a:spcPts val="50"/>
              </a:spcBef>
              <a:spcAft>
                <a:spcPts val="50"/>
              </a:spcAft>
              <a:buFont typeface="Wingdings" panose="05000000000000000000" pitchFamily="2" charset="2"/>
              <a:buChar char="v"/>
            </a:pPr>
            <a:r>
              <a:rPr lang="en-US" sz="1600" b="1" dirty="0"/>
              <a:t>Feature Scaling and Splitting of Dataset : </a:t>
            </a:r>
            <a:r>
              <a:rPr lang="en-US" sz="1600" dirty="0">
                <a:effectLst/>
              </a:rPr>
              <a:t>Feature Scaling the values like normalization and splitting into train, test data 									  groups to train on the models separately</a:t>
            </a:r>
          </a:p>
          <a:p>
            <a:pPr marL="36900" indent="0">
              <a:lnSpc>
                <a:spcPct val="100000"/>
              </a:lnSpc>
              <a:spcBef>
                <a:spcPts val="50"/>
              </a:spcBef>
              <a:spcAft>
                <a:spcPts val="50"/>
              </a:spcAft>
              <a:buNone/>
            </a:pPr>
            <a:endParaRPr lang="en-US" sz="1600" dirty="0">
              <a:effectLst/>
            </a:endParaRPr>
          </a:p>
          <a:p>
            <a:pPr>
              <a:lnSpc>
                <a:spcPct val="100000"/>
              </a:lnSpc>
              <a:spcBef>
                <a:spcPts val="50"/>
              </a:spcBef>
              <a:spcAft>
                <a:spcPts val="50"/>
              </a:spcAft>
              <a:buFont typeface="Wingdings" panose="05000000000000000000" pitchFamily="2" charset="2"/>
              <a:buChar char="v"/>
            </a:pPr>
            <a:r>
              <a:rPr lang="en-US" sz="1600" b="1" dirty="0"/>
              <a:t>ADMM for Feature Selection : </a:t>
            </a:r>
            <a:r>
              <a:rPr lang="en-US" sz="1600" dirty="0"/>
              <a:t>Alternating Direction Method of Multipliers (ADMM) is an optimization algorithm. 							   Applied here to shrink less important feature weights to zero. This way, ADMM helps us 							   select only the most relevant features while ignoring redundant ones. Reduces model 							   complexity &amp; improves efficiency, especially for large datasets.</a:t>
            </a:r>
          </a:p>
          <a:p>
            <a:pPr>
              <a:lnSpc>
                <a:spcPct val="100000"/>
              </a:lnSpc>
              <a:spcBef>
                <a:spcPts val="50"/>
              </a:spcBef>
              <a:spcAft>
                <a:spcPts val="50"/>
              </a:spcAft>
              <a:buFont typeface="Wingdings" panose="05000000000000000000" pitchFamily="2" charset="2"/>
              <a:buChar char="v"/>
            </a:pPr>
            <a:r>
              <a:rPr lang="en-US" sz="1600" b="1" dirty="0"/>
              <a:t>Train the respective models    : </a:t>
            </a:r>
            <a:r>
              <a:rPr lang="en-US" sz="1600" dirty="0"/>
              <a:t>Train on the Designed ELM Model and SVM Model</a:t>
            </a:r>
          </a:p>
          <a:p>
            <a:pPr marL="36900" indent="0">
              <a:lnSpc>
                <a:spcPct val="100000"/>
              </a:lnSpc>
              <a:spcBef>
                <a:spcPts val="50"/>
              </a:spcBef>
              <a:spcAft>
                <a:spcPts val="50"/>
              </a:spcAft>
              <a:buNone/>
            </a:pPr>
            <a:endParaRPr lang="en-US" sz="1600" dirty="0"/>
          </a:p>
          <a:p>
            <a:pPr>
              <a:lnSpc>
                <a:spcPct val="100000"/>
              </a:lnSpc>
              <a:spcBef>
                <a:spcPts val="50"/>
              </a:spcBef>
              <a:spcAft>
                <a:spcPts val="50"/>
              </a:spcAft>
              <a:buFont typeface="Wingdings" panose="05000000000000000000" pitchFamily="2" charset="2"/>
              <a:buChar char="v"/>
            </a:pPr>
            <a:r>
              <a:rPr lang="en-US" sz="1600" b="1" dirty="0"/>
              <a:t>Analysis of the Results : </a:t>
            </a:r>
          </a:p>
          <a:p>
            <a:pPr marL="36900" indent="0">
              <a:lnSpc>
                <a:spcPct val="100000"/>
              </a:lnSpc>
              <a:spcBef>
                <a:spcPts val="50"/>
              </a:spcBef>
              <a:spcAft>
                <a:spcPts val="50"/>
              </a:spcAft>
              <a:buNone/>
            </a:pPr>
            <a:r>
              <a:rPr lang="en-US" sz="1600" dirty="0"/>
              <a:t>	ELM vs SVM( With &amp; Without Feature Selection)</a:t>
            </a:r>
          </a:p>
          <a:p>
            <a:pPr marL="36900" indent="0">
              <a:lnSpc>
                <a:spcPct val="100000"/>
              </a:lnSpc>
              <a:spcBef>
                <a:spcPts val="50"/>
              </a:spcBef>
              <a:spcAft>
                <a:spcPts val="50"/>
              </a:spcAft>
              <a:buNone/>
            </a:pPr>
            <a:r>
              <a:rPr lang="en-US" sz="1600" dirty="0"/>
              <a:t>	ELM Online Training Results</a:t>
            </a:r>
          </a:p>
        </p:txBody>
      </p:sp>
      <p:sp>
        <p:nvSpPr>
          <p:cNvPr id="7" name="Isosceles Triangle 6">
            <a:extLst>
              <a:ext uri="{FF2B5EF4-FFF2-40B4-BE49-F238E27FC236}">
                <a16:creationId xmlns:a16="http://schemas.microsoft.com/office/drawing/2014/main" id="{A29D6B54-6738-1DB8-AF14-D580F91C494A}"/>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D0268732-A1E5-CCB8-2135-9B834263E0B1}"/>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34075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18AC6-68ED-8E31-98C2-90327EEA829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47B2626-843D-E256-B513-CDF687772DAC}"/>
              </a:ext>
            </a:extLst>
          </p:cNvPr>
          <p:cNvSpPr/>
          <p:nvPr/>
        </p:nvSpPr>
        <p:spPr>
          <a:xfrm>
            <a:off x="847119" y="1281112"/>
            <a:ext cx="10687655" cy="4900613"/>
          </a:xfrm>
          <a:prstGeom prst="roundRect">
            <a:avLst>
              <a:gd name="adj" fmla="val 11345"/>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48AA0DD9-2E71-F327-711B-E39CE91D16A8}"/>
              </a:ext>
            </a:extLst>
          </p:cNvPr>
          <p:cNvSpPr>
            <a:spLocks noGrp="1"/>
          </p:cNvSpPr>
          <p:nvPr>
            <p:ph type="title"/>
          </p:nvPr>
        </p:nvSpPr>
        <p:spPr>
          <a:xfrm>
            <a:off x="847119" y="133791"/>
            <a:ext cx="10353762" cy="1257300"/>
          </a:xfrm>
        </p:spPr>
        <p:txBody>
          <a:bodyPr>
            <a:normAutofit/>
          </a:bodyPr>
          <a:lstStyle/>
          <a:p>
            <a:pPr algn="l"/>
            <a:r>
              <a:rPr lang="en-IN" sz="4800" dirty="0"/>
              <a:t>ELM Offline vs Online Design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1A6470-F3D2-6078-1A31-C8F20A160E39}"/>
                  </a:ext>
                </a:extLst>
              </p:cNvPr>
              <p:cNvSpPr>
                <a:spLocks noGrp="1"/>
              </p:cNvSpPr>
              <p:nvPr>
                <p:ph idx="1"/>
              </p:nvPr>
            </p:nvSpPr>
            <p:spPr>
              <a:xfrm>
                <a:off x="1014065" y="1501070"/>
                <a:ext cx="10353762" cy="4499680"/>
              </a:xfrm>
              <a:noFill/>
              <a:ln>
                <a:noFill/>
              </a:ln>
            </p:spPr>
            <p:style>
              <a:lnRef idx="2">
                <a:schemeClr val="dk1"/>
              </a:lnRef>
              <a:fillRef idx="1">
                <a:schemeClr val="lt1"/>
              </a:fillRef>
              <a:effectRef idx="0">
                <a:schemeClr val="dk1"/>
              </a:effectRef>
              <a:fontRef idx="minor">
                <a:schemeClr val="dk1"/>
              </a:fontRef>
            </p:style>
            <p:txBody>
              <a:bodyPr>
                <a:noAutofit/>
              </a:bodyPr>
              <a:lstStyle/>
              <a:p>
                <a:pPr marL="36900" indent="0">
                  <a:buNone/>
                </a:pPr>
                <a:r>
                  <a:rPr lang="en-IN" sz="1800" b="1" dirty="0"/>
                  <a:t>Design of ELM (Offline) :</a:t>
                </a:r>
              </a:p>
              <a:p>
                <a:r>
                  <a:rPr lang="en-IN" sz="1400" b="1" dirty="0"/>
                  <a:t>Initialization of Parameters: </a:t>
                </a:r>
                <a:r>
                  <a:rPr lang="en-IN" sz="1400" dirty="0"/>
                  <a:t>Randomly assign </a:t>
                </a:r>
                <a:r>
                  <a:rPr lang="en-IN" sz="1400" b="1" dirty="0"/>
                  <a:t>input weights</a:t>
                </a:r>
                <a:r>
                  <a:rPr lang="en-IN" sz="1400" dirty="0"/>
                  <a:t> (W) and </a:t>
                </a:r>
                <a:r>
                  <a:rPr lang="en-IN" sz="1400" b="1" dirty="0"/>
                  <a:t>biases</a:t>
                </a:r>
                <a:r>
                  <a:rPr lang="en-IN" sz="1400" dirty="0"/>
                  <a:t> (b) between the input layer and the hidden layer. Only the output weights (</a:t>
                </a:r>
                <a:r>
                  <a:rPr lang="el-GR" sz="1400" dirty="0"/>
                  <a:t>β) </a:t>
                </a:r>
                <a:r>
                  <a:rPr lang="en-IN" sz="1400" dirty="0"/>
                  <a:t>are learned.</a:t>
                </a:r>
              </a:p>
              <a:p>
                <a:r>
                  <a:rPr lang="en-IN" sz="1400" b="1" dirty="0"/>
                  <a:t>Activation Function :</a:t>
                </a:r>
                <a:r>
                  <a:rPr lang="en-IN" sz="1400" dirty="0"/>
                  <a:t> In our implementation: </a:t>
                </a:r>
                <a:r>
                  <a:rPr lang="en-IN" sz="1400" dirty="0" err="1"/>
                  <a:t>ReLU</a:t>
                </a:r>
                <a:r>
                  <a:rPr lang="en-IN" sz="1400" dirty="0"/>
                  <a:t> is the default activation.</a:t>
                </a:r>
              </a:p>
              <a:p>
                <a:r>
                  <a:rPr lang="en-IN" sz="1400" b="1" dirty="0"/>
                  <a:t>Hidden Layer Output Calculation (H Matrix) </a:t>
                </a:r>
                <a:r>
                  <a:rPr lang="en-IN" sz="1400" dirty="0"/>
                  <a:t>Compute hidden layer activations:</a:t>
                </a:r>
              </a:p>
              <a:p>
                <a:pPr marL="36900" indent="0">
                  <a:buNone/>
                </a:pPr>
                <a:r>
                  <a:rPr lang="en-IN" sz="1400" dirty="0"/>
                  <a:t>			</a:t>
                </a:r>
                <a14:m>
                  <m:oMath xmlns:m="http://schemas.openxmlformats.org/officeDocument/2006/math">
                    <m:r>
                      <a:rPr lang="en-IN" sz="1400" i="1">
                        <a:latin typeface="Cambria Math" panose="02040503050406030204" pitchFamily="18" charset="0"/>
                      </a:rPr>
                      <m:t>𝐻</m:t>
                    </m:r>
                    <m:r>
                      <a:rPr lang="en-IN" sz="1400">
                        <a:latin typeface="Cambria Math" panose="02040503050406030204" pitchFamily="18" charset="0"/>
                      </a:rPr>
                      <m:t>=</m:t>
                    </m:r>
                    <m:r>
                      <a:rPr lang="en-IN" sz="1400" i="1">
                        <a:latin typeface="Cambria Math" panose="02040503050406030204" pitchFamily="18" charset="0"/>
                      </a:rPr>
                      <m:t>𝑔</m:t>
                    </m:r>
                    <m:d>
                      <m:dPr>
                        <m:ctrlPr>
                          <a:rPr lang="ar-AE" sz="1400" i="1">
                            <a:latin typeface="Cambria Math" panose="02040503050406030204" pitchFamily="18" charset="0"/>
                          </a:rPr>
                        </m:ctrlPr>
                      </m:dPr>
                      <m:e>
                        <m:r>
                          <a:rPr lang="ar-AE" sz="1400" i="1">
                            <a:latin typeface="Cambria Math" panose="02040503050406030204" pitchFamily="18" charset="0"/>
                          </a:rPr>
                          <m:t>𝑋𝑊</m:t>
                        </m:r>
                        <m:r>
                          <a:rPr lang="ar-AE" sz="1400">
                            <a:latin typeface="Cambria Math" panose="02040503050406030204" pitchFamily="18" charset="0"/>
                          </a:rPr>
                          <m:t>+</m:t>
                        </m:r>
                        <m:r>
                          <a:rPr lang="ar-AE" sz="1400" i="1">
                            <a:latin typeface="Cambria Math" panose="02040503050406030204" pitchFamily="18" charset="0"/>
                          </a:rPr>
                          <m:t>𝑏</m:t>
                        </m:r>
                      </m:e>
                    </m:d>
                    <m:r>
                      <a:rPr lang="en-IN" sz="1400" b="0" i="0" smtClean="0">
                        <a:latin typeface="Cambria Math" panose="02040503050406030204" pitchFamily="18" charset="0"/>
                      </a:rPr>
                      <m:t>      </m:t>
                    </m:r>
                  </m:oMath>
                </a14:m>
                <a:r>
                  <a:rPr lang="en-IN" sz="1400" dirty="0"/>
                  <a:t>where </a:t>
                </a:r>
                <a14:m>
                  <m:oMath xmlns:m="http://schemas.openxmlformats.org/officeDocument/2006/math">
                    <m:r>
                      <a:rPr lang="en-IN" sz="1400" i="1">
                        <a:latin typeface="Cambria Math" panose="02040503050406030204" pitchFamily="18" charset="0"/>
                      </a:rPr>
                      <m:t>𝑋</m:t>
                    </m:r>
                  </m:oMath>
                </a14:m>
                <a:r>
                  <a:rPr lang="en-IN" sz="1400" dirty="0"/>
                  <a:t>= input data, </a:t>
                </a:r>
                <a14:m>
                  <m:oMath xmlns:m="http://schemas.openxmlformats.org/officeDocument/2006/math">
                    <m:r>
                      <a:rPr lang="en-IN" sz="1400" i="1">
                        <a:latin typeface="Cambria Math" panose="02040503050406030204" pitchFamily="18" charset="0"/>
                      </a:rPr>
                      <m:t>𝑊</m:t>
                    </m:r>
                  </m:oMath>
                </a14:m>
                <a:r>
                  <a:rPr lang="en-IN" sz="1400" dirty="0"/>
                  <a:t>= random weights, </a:t>
                </a:r>
                <a14:m>
                  <m:oMath xmlns:m="http://schemas.openxmlformats.org/officeDocument/2006/math">
                    <m:r>
                      <a:rPr lang="en-IN" sz="1400" i="1">
                        <a:latin typeface="Cambria Math" panose="02040503050406030204" pitchFamily="18" charset="0"/>
                      </a:rPr>
                      <m:t>𝑏</m:t>
                    </m:r>
                  </m:oMath>
                </a14:m>
                <a:r>
                  <a:rPr lang="en-IN" sz="1400" dirty="0"/>
                  <a:t>= biases, and </a:t>
                </a:r>
                <a14:m>
                  <m:oMath xmlns:m="http://schemas.openxmlformats.org/officeDocument/2006/math">
                    <m:r>
                      <a:rPr lang="en-IN" sz="1400" i="1">
                        <a:latin typeface="Cambria Math" panose="02040503050406030204" pitchFamily="18" charset="0"/>
                      </a:rPr>
                      <m:t>𝑔</m:t>
                    </m:r>
                    <m:d>
                      <m:dPr>
                        <m:ctrlPr>
                          <a:rPr lang="ar-AE" sz="1400" i="1">
                            <a:latin typeface="Cambria Math" panose="02040503050406030204" pitchFamily="18" charset="0"/>
                          </a:rPr>
                        </m:ctrlPr>
                      </m:dPr>
                      <m:e>
                        <m:r>
                          <a:rPr lang="ar-AE" sz="1400">
                            <a:latin typeface="Cambria Math" panose="02040503050406030204" pitchFamily="18" charset="0"/>
                          </a:rPr>
                          <m:t>⋅</m:t>
                        </m:r>
                      </m:e>
                    </m:d>
                  </m:oMath>
                </a14:m>
                <a:r>
                  <a:rPr lang="ar-AE" sz="1400" dirty="0"/>
                  <a:t>= </a:t>
                </a:r>
                <a:r>
                  <a:rPr lang="en-IN" sz="1400" dirty="0"/>
                  <a:t>activation function.</a:t>
                </a:r>
              </a:p>
              <a:p>
                <a:r>
                  <a:rPr lang="en-IN" sz="1400" b="1" dirty="0"/>
                  <a:t>One-Hot Encoding of Target Labels</a:t>
                </a:r>
                <a:r>
                  <a:rPr lang="en-IN" sz="1400" dirty="0"/>
                  <a:t> : Convert class labels </a:t>
                </a:r>
                <a14:m>
                  <m:oMath xmlns:m="http://schemas.openxmlformats.org/officeDocument/2006/math">
                    <m:r>
                      <a:rPr lang="en-IN" sz="1400" i="1">
                        <a:latin typeface="Cambria Math" panose="02040503050406030204" pitchFamily="18" charset="0"/>
                      </a:rPr>
                      <m:t>𝑦</m:t>
                    </m:r>
                  </m:oMath>
                </a14:m>
                <a:r>
                  <a:rPr lang="en-IN" sz="1400" dirty="0"/>
                  <a:t>into one-hot encoded vectors.</a:t>
                </a:r>
              </a:p>
              <a:p>
                <a:r>
                  <a:rPr lang="en-IN" sz="1400" dirty="0"/>
                  <a:t> </a:t>
                </a:r>
                <a:r>
                  <a:rPr lang="en-IN" sz="1400" b="1" dirty="0"/>
                  <a:t>Output Weight Computation (</a:t>
                </a:r>
                <a:r>
                  <a:rPr lang="el-GR" sz="1400" b="1" dirty="0"/>
                  <a:t>β)</a:t>
                </a:r>
                <a:r>
                  <a:rPr lang="el-GR" sz="1400" dirty="0"/>
                  <a:t> </a:t>
                </a:r>
                <a:r>
                  <a:rPr lang="en-IN" sz="1400" dirty="0"/>
                  <a:t>: Instead of iterative training, solve directly using the </a:t>
                </a:r>
                <a:r>
                  <a:rPr lang="en-IN" sz="1400" b="1" dirty="0"/>
                  <a:t>Moore-Penrose pseudoinverse</a:t>
                </a:r>
                <a:r>
                  <a:rPr lang="en-IN" sz="1400" dirty="0"/>
                  <a:t>:</a:t>
                </a:r>
              </a:p>
              <a:p>
                <a:pPr marL="36900" indent="0">
                  <a:buNone/>
                </a:pPr>
                <a:r>
                  <a:rPr lang="en-IN" sz="1400" dirty="0"/>
                  <a:t>			</a:t>
                </a:r>
                <a14:m>
                  <m:oMath xmlns:m="http://schemas.openxmlformats.org/officeDocument/2006/math">
                    <m:r>
                      <a:rPr lang="en-IN" sz="1400" i="1">
                        <a:latin typeface="Cambria Math" panose="02040503050406030204" pitchFamily="18" charset="0"/>
                      </a:rPr>
                      <m:t>𝛽</m:t>
                    </m:r>
                    <m:r>
                      <a:rPr lang="en-IN" sz="1400">
                        <a:latin typeface="Cambria Math" panose="02040503050406030204" pitchFamily="18" charset="0"/>
                      </a:rPr>
                      <m:t>=</m:t>
                    </m:r>
                    <m:sSup>
                      <m:sSupPr>
                        <m:ctrlPr>
                          <a:rPr lang="ar-AE" sz="1400" i="1">
                            <a:latin typeface="Cambria Math" panose="02040503050406030204" pitchFamily="18" charset="0"/>
                          </a:rPr>
                        </m:ctrlPr>
                      </m:sSupPr>
                      <m:e>
                        <m:r>
                          <a:rPr lang="ar-AE" sz="1400" i="1">
                            <a:latin typeface="Cambria Math" panose="02040503050406030204" pitchFamily="18" charset="0"/>
                          </a:rPr>
                          <m:t>𝐻</m:t>
                        </m:r>
                      </m:e>
                      <m:sup>
                        <m:r>
                          <a:rPr lang="ar-AE" sz="1400">
                            <a:latin typeface="Cambria Math" panose="02040503050406030204" pitchFamily="18" charset="0"/>
                          </a:rPr>
                          <m:t>†</m:t>
                        </m:r>
                      </m:sup>
                    </m:sSup>
                    <m:r>
                      <a:rPr lang="ar-AE" sz="1400" i="1">
                        <a:latin typeface="Cambria Math" panose="02040503050406030204" pitchFamily="18" charset="0"/>
                      </a:rPr>
                      <m:t>𝑌</m:t>
                    </m:r>
                    <m:r>
                      <a:rPr lang="en-IN" sz="1400" b="0" i="0" smtClean="0">
                        <a:latin typeface="Cambria Math" panose="02040503050406030204" pitchFamily="18" charset="0"/>
                      </a:rPr>
                      <m:t>                    </m:t>
                    </m:r>
                  </m:oMath>
                </a14:m>
                <a:r>
                  <a:rPr lang="en-IN" sz="1400" dirty="0"/>
                  <a:t>where </a:t>
                </a:r>
                <a14:m>
                  <m:oMath xmlns:m="http://schemas.openxmlformats.org/officeDocument/2006/math">
                    <m:sSup>
                      <m:sSupPr>
                        <m:ctrlPr>
                          <a:rPr lang="ar-AE" sz="1400" i="1">
                            <a:latin typeface="Cambria Math" panose="02040503050406030204" pitchFamily="18" charset="0"/>
                          </a:rPr>
                        </m:ctrlPr>
                      </m:sSupPr>
                      <m:e>
                        <m:r>
                          <a:rPr lang="ar-AE" sz="1400" i="1">
                            <a:latin typeface="Cambria Math" panose="02040503050406030204" pitchFamily="18" charset="0"/>
                          </a:rPr>
                          <m:t>𝐻</m:t>
                        </m:r>
                      </m:e>
                      <m:sup>
                        <m:r>
                          <a:rPr lang="ar-AE" sz="1400">
                            <a:latin typeface="Cambria Math" panose="02040503050406030204" pitchFamily="18" charset="0"/>
                          </a:rPr>
                          <m:t>†</m:t>
                        </m:r>
                      </m:sup>
                    </m:sSup>
                  </m:oMath>
                </a14:m>
                <a:r>
                  <a:rPr lang="ar-AE" sz="1400" dirty="0"/>
                  <a:t>= </a:t>
                </a:r>
                <a:r>
                  <a:rPr lang="en-IN" sz="1400" dirty="0"/>
                  <a:t>pseudoinverse of hidden layer output, </a:t>
                </a:r>
                <a14:m>
                  <m:oMath xmlns:m="http://schemas.openxmlformats.org/officeDocument/2006/math">
                    <m:r>
                      <a:rPr lang="en-IN" sz="1400" i="1">
                        <a:latin typeface="Cambria Math" panose="02040503050406030204" pitchFamily="18" charset="0"/>
                      </a:rPr>
                      <m:t>𝑌</m:t>
                    </m:r>
                  </m:oMath>
                </a14:m>
                <a:r>
                  <a:rPr lang="en-IN" sz="1400" dirty="0"/>
                  <a:t>= one-hot labels.</a:t>
                </a:r>
              </a:p>
              <a:p>
                <a:r>
                  <a:rPr lang="en-IN" sz="1400" b="1" dirty="0"/>
                  <a:t>Prediction Stage </a:t>
                </a:r>
                <a:r>
                  <a:rPr lang="en-IN" sz="1400" dirty="0"/>
                  <a:t>For test data, compute:</a:t>
                </a:r>
              </a:p>
              <a:p>
                <a:pPr marL="36900" indent="0">
                  <a:buNone/>
                </a:pPr>
                <a:r>
                  <a:rPr lang="en-IN" sz="1400" dirty="0"/>
                  <a:t>			</a:t>
                </a:r>
                <a14:m>
                  <m:oMath xmlns:m="http://schemas.openxmlformats.org/officeDocument/2006/math">
                    <m:acc>
                      <m:accPr>
                        <m:chr m:val="̂"/>
                        <m:ctrlPr>
                          <a:rPr lang="ar-AE" sz="1400" i="1">
                            <a:latin typeface="Cambria Math" panose="02040503050406030204" pitchFamily="18" charset="0"/>
                          </a:rPr>
                        </m:ctrlPr>
                      </m:accPr>
                      <m:e>
                        <m:r>
                          <a:rPr lang="ar-AE" sz="1400" i="1">
                            <a:latin typeface="Cambria Math" panose="02040503050406030204" pitchFamily="18" charset="0"/>
                          </a:rPr>
                          <m:t>𝑌</m:t>
                        </m:r>
                      </m:e>
                    </m:acc>
                    <m:r>
                      <a:rPr lang="ar-AE" sz="1400">
                        <a:latin typeface="Cambria Math" panose="02040503050406030204" pitchFamily="18" charset="0"/>
                      </a:rPr>
                      <m:t>=</m:t>
                    </m:r>
                    <m:r>
                      <a:rPr lang="ar-AE" sz="1400" i="1">
                        <a:latin typeface="Cambria Math" panose="02040503050406030204" pitchFamily="18" charset="0"/>
                      </a:rPr>
                      <m:t>𝐻</m:t>
                    </m:r>
                    <m:r>
                      <a:rPr lang="ar-AE" sz="1400" i="1">
                        <a:latin typeface="Cambria Math" panose="02040503050406030204" pitchFamily="18" charset="0"/>
                      </a:rPr>
                      <m:t>𝛽</m:t>
                    </m:r>
                  </m:oMath>
                </a14:m>
                <a:endParaRPr lang="ar-AE" sz="1400" dirty="0"/>
              </a:p>
            </p:txBody>
          </p:sp>
        </mc:Choice>
        <mc:Fallback xmlns="">
          <p:sp>
            <p:nvSpPr>
              <p:cNvPr id="3" name="Content Placeholder 2">
                <a:extLst>
                  <a:ext uri="{FF2B5EF4-FFF2-40B4-BE49-F238E27FC236}">
                    <a16:creationId xmlns:a16="http://schemas.microsoft.com/office/drawing/2014/main" id="{1D1A6470-F3D2-6078-1A31-C8F20A160E39}"/>
                  </a:ext>
                </a:extLst>
              </p:cNvPr>
              <p:cNvSpPr>
                <a:spLocks noGrp="1" noRot="1" noChangeAspect="1" noMove="1" noResize="1" noEditPoints="1" noAdjustHandles="1" noChangeArrowheads="1" noChangeShapeType="1" noTextEdit="1"/>
              </p:cNvSpPr>
              <p:nvPr>
                <p:ph idx="1"/>
              </p:nvPr>
            </p:nvSpPr>
            <p:spPr>
              <a:xfrm>
                <a:off x="1014065" y="1501070"/>
                <a:ext cx="10353762" cy="4499680"/>
              </a:xfrm>
              <a:blipFill>
                <a:blip r:embed="rId2"/>
                <a:stretch>
                  <a:fillRect/>
                </a:stretch>
              </a:blipFill>
              <a:ln>
                <a:noFill/>
              </a:ln>
            </p:spPr>
            <p:txBody>
              <a:bodyPr/>
              <a:lstStyle/>
              <a:p>
                <a:r>
                  <a:rPr lang="en-IN">
                    <a:noFill/>
                  </a:rPr>
                  <a:t> </a:t>
                </a:r>
              </a:p>
            </p:txBody>
          </p:sp>
        </mc:Fallback>
      </mc:AlternateContent>
      <p:sp>
        <p:nvSpPr>
          <p:cNvPr id="7" name="Isosceles Triangle 6">
            <a:extLst>
              <a:ext uri="{FF2B5EF4-FFF2-40B4-BE49-F238E27FC236}">
                <a16:creationId xmlns:a16="http://schemas.microsoft.com/office/drawing/2014/main" id="{E24E65B8-619B-2F3D-20B2-133B44FEDF2D}"/>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466773D3-6DA9-AC0C-211C-6AF206C01C86}"/>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4289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C5877-06C0-6492-BB46-7D4931614066}"/>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A727EE5-8BC7-6AE0-3CA6-82791922DEC3}"/>
              </a:ext>
            </a:extLst>
          </p:cNvPr>
          <p:cNvSpPr/>
          <p:nvPr/>
        </p:nvSpPr>
        <p:spPr>
          <a:xfrm>
            <a:off x="847119" y="1281112"/>
            <a:ext cx="10687655" cy="4900613"/>
          </a:xfrm>
          <a:prstGeom prst="roundRect">
            <a:avLst>
              <a:gd name="adj" fmla="val 11345"/>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0DDD1A0B-9018-9674-5D8A-D0D21EFA62CF}"/>
              </a:ext>
            </a:extLst>
          </p:cNvPr>
          <p:cNvSpPr>
            <a:spLocks noGrp="1"/>
          </p:cNvSpPr>
          <p:nvPr>
            <p:ph type="title"/>
          </p:nvPr>
        </p:nvSpPr>
        <p:spPr>
          <a:xfrm>
            <a:off x="847119" y="133791"/>
            <a:ext cx="10353762" cy="1257300"/>
          </a:xfrm>
        </p:spPr>
        <p:txBody>
          <a:bodyPr>
            <a:normAutofit/>
          </a:bodyPr>
          <a:lstStyle/>
          <a:p>
            <a:pPr algn="l"/>
            <a:r>
              <a:rPr lang="en-IN" sz="4800" dirty="0"/>
              <a:t>ELM Offline vs Online Design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D5CF339-684F-3592-377F-B5375DE95B26}"/>
                  </a:ext>
                </a:extLst>
              </p:cNvPr>
              <p:cNvSpPr>
                <a:spLocks noGrp="1"/>
              </p:cNvSpPr>
              <p:nvPr>
                <p:ph idx="1"/>
              </p:nvPr>
            </p:nvSpPr>
            <p:spPr>
              <a:xfrm>
                <a:off x="1014065" y="1515356"/>
                <a:ext cx="10353762" cy="4499680"/>
              </a:xfrm>
              <a:noFill/>
              <a:ln>
                <a:noFill/>
              </a:ln>
            </p:spPr>
            <p:style>
              <a:lnRef idx="2">
                <a:schemeClr val="dk1"/>
              </a:lnRef>
              <a:fillRef idx="1">
                <a:schemeClr val="lt1"/>
              </a:fillRef>
              <a:effectRef idx="0">
                <a:schemeClr val="dk1"/>
              </a:effectRef>
              <a:fontRef idx="minor">
                <a:schemeClr val="dk1"/>
              </a:fontRef>
            </p:style>
            <p:txBody>
              <a:bodyPr>
                <a:noAutofit/>
              </a:bodyPr>
              <a:lstStyle/>
              <a:p>
                <a:pPr marL="36900" indent="0">
                  <a:buNone/>
                </a:pPr>
                <a:r>
                  <a:rPr lang="en-IN" sz="2000" b="1" dirty="0"/>
                  <a:t>Design of ELM (Online)</a:t>
                </a:r>
              </a:p>
              <a:p>
                <a:r>
                  <a:rPr lang="en-IN" sz="1600" b="1" dirty="0"/>
                  <a:t>Initialization : </a:t>
                </a:r>
                <a:r>
                  <a:rPr lang="en-IN" sz="1600" dirty="0"/>
                  <a:t>Randomly assign </a:t>
                </a:r>
                <a:r>
                  <a:rPr lang="en-IN" sz="1600" b="1" dirty="0"/>
                  <a:t>input weights (W)</a:t>
                </a:r>
                <a:r>
                  <a:rPr lang="en-IN" sz="1600" dirty="0"/>
                  <a:t> and </a:t>
                </a:r>
                <a:r>
                  <a:rPr lang="en-IN" sz="1600" b="1" dirty="0"/>
                  <a:t>biases (b)</a:t>
                </a:r>
                <a:r>
                  <a:rPr lang="en-IN" sz="1600" dirty="0"/>
                  <a:t> from input → hidden layer. Initialize output weights </a:t>
                </a:r>
                <a:r>
                  <a:rPr lang="el-GR" sz="1600" b="1" dirty="0"/>
                  <a:t>β = 0</a:t>
                </a:r>
                <a:r>
                  <a:rPr lang="el-GR" sz="1600" dirty="0"/>
                  <a:t>.</a:t>
                </a:r>
                <a:r>
                  <a:rPr lang="en-IN" sz="1600" dirty="0"/>
                  <a:t> Initialize RLS inverse correlation matrix: </a:t>
                </a:r>
                <a14:m>
                  <m:oMath xmlns:m="http://schemas.openxmlformats.org/officeDocument/2006/math">
                    <m:r>
                      <a:rPr lang="en-IN" sz="1600" i="1">
                        <a:latin typeface="Cambria Math" panose="02040503050406030204" pitchFamily="18" charset="0"/>
                      </a:rPr>
                      <m:t>𝑃</m:t>
                    </m:r>
                    <m:r>
                      <a:rPr lang="en-IN" sz="1600">
                        <a:latin typeface="Cambria Math" panose="02040503050406030204" pitchFamily="18" charset="0"/>
                      </a:rPr>
                      <m:t>=</m:t>
                    </m:r>
                    <m:f>
                      <m:fPr>
                        <m:ctrlPr>
                          <a:rPr lang="ar-AE" sz="1600" i="1">
                            <a:latin typeface="Cambria Math" panose="02040503050406030204" pitchFamily="18" charset="0"/>
                          </a:rPr>
                        </m:ctrlPr>
                      </m:fPr>
                      <m:num>
                        <m:r>
                          <a:rPr lang="ar-AE" sz="1600">
                            <a:latin typeface="Cambria Math" panose="02040503050406030204" pitchFamily="18" charset="0"/>
                          </a:rPr>
                          <m:t>1</m:t>
                        </m:r>
                      </m:num>
                      <m:den>
                        <m:r>
                          <a:rPr lang="ar-AE" sz="1600" i="1">
                            <a:latin typeface="Cambria Math" panose="02040503050406030204" pitchFamily="18" charset="0"/>
                          </a:rPr>
                          <m:t>𝜆</m:t>
                        </m:r>
                      </m:den>
                    </m:f>
                    <m:r>
                      <a:rPr lang="ar-AE" sz="1600" i="1">
                        <a:latin typeface="Cambria Math" panose="02040503050406030204" pitchFamily="18" charset="0"/>
                      </a:rPr>
                      <m:t>𝐼</m:t>
                    </m:r>
                  </m:oMath>
                </a14:m>
                <a:r>
                  <a:rPr lang="en-IN" sz="1600" dirty="0"/>
                  <a:t> where </a:t>
                </a:r>
                <a:r>
                  <a:rPr lang="el-GR" sz="1600" b="1" dirty="0"/>
                  <a:t>λ</a:t>
                </a:r>
                <a:r>
                  <a:rPr lang="el-GR" sz="1600" dirty="0"/>
                  <a:t> = </a:t>
                </a:r>
                <a:r>
                  <a:rPr lang="en-IN" sz="1600" dirty="0"/>
                  <a:t>ridge regularization parameter.</a:t>
                </a:r>
              </a:p>
              <a:p>
                <a:r>
                  <a:rPr lang="en-IN" sz="1600" b="1" dirty="0"/>
                  <a:t>Activation Function : </a:t>
                </a:r>
                <a:r>
                  <a:rPr lang="en-IN" sz="1600" dirty="0"/>
                  <a:t>In our implementation: </a:t>
                </a:r>
                <a:r>
                  <a:rPr lang="en-IN" sz="1600" dirty="0" err="1"/>
                  <a:t>ReLU</a:t>
                </a:r>
                <a:r>
                  <a:rPr lang="en-IN" sz="1600" dirty="0"/>
                  <a:t> is the default activation.</a:t>
                </a:r>
                <a:endParaRPr lang="en-IN" sz="1600" b="1" dirty="0"/>
              </a:p>
              <a:p>
                <a:r>
                  <a:rPr lang="en-IN" sz="1600" b="1" dirty="0"/>
                  <a:t>Hidden Node Computation : </a:t>
                </a:r>
                <a:r>
                  <a:rPr lang="en-IN" sz="1600" dirty="0"/>
                  <a:t>For each incoming data sample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𝑥</m:t>
                        </m:r>
                      </m:e>
                      <m:sub>
                        <m:r>
                          <a:rPr lang="ar-AE" sz="1600" i="1">
                            <a:latin typeface="Cambria Math" panose="02040503050406030204" pitchFamily="18" charset="0"/>
                          </a:rPr>
                          <m:t>𝑡</m:t>
                        </m:r>
                      </m:sub>
                    </m:sSub>
                  </m:oMath>
                </a14:m>
                <a:r>
                  <a:rPr lang="ar-AE" sz="1600" dirty="0"/>
                  <a:t>:</a:t>
                </a:r>
              </a:p>
              <a:p>
                <a:pPr marL="36900" indent="0">
                  <a:buNone/>
                </a:pPr>
                <a:r>
                  <a:rPr lang="en-IN" sz="1600" dirty="0"/>
                  <a:t>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h</m:t>
                        </m:r>
                      </m:e>
                      <m:sub>
                        <m:r>
                          <a:rPr lang="ar-AE" sz="1600" i="1">
                            <a:latin typeface="Cambria Math" panose="02040503050406030204" pitchFamily="18" charset="0"/>
                          </a:rPr>
                          <m:t>𝑡</m:t>
                        </m:r>
                      </m:sub>
                    </m:sSub>
                    <m:r>
                      <a:rPr lang="ar-AE" sz="1600">
                        <a:latin typeface="Cambria Math" panose="02040503050406030204" pitchFamily="18" charset="0"/>
                      </a:rPr>
                      <m:t>=</m:t>
                    </m:r>
                    <m:r>
                      <a:rPr lang="ar-AE" sz="1600" i="1">
                        <a:latin typeface="Cambria Math" panose="02040503050406030204" pitchFamily="18" charset="0"/>
                      </a:rPr>
                      <m:t>𝑔</m:t>
                    </m:r>
                    <m:d>
                      <m:dPr>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a:rPr lang="ar-AE" sz="1600" i="1">
                                <a:latin typeface="Cambria Math" panose="02040503050406030204" pitchFamily="18" charset="0"/>
                              </a:rPr>
                              <m:t>𝑥</m:t>
                            </m:r>
                          </m:e>
                          <m:sub>
                            <m:r>
                              <a:rPr lang="ar-AE" sz="1600" i="1">
                                <a:latin typeface="Cambria Math" panose="02040503050406030204" pitchFamily="18" charset="0"/>
                              </a:rPr>
                              <m:t>𝑡</m:t>
                            </m:r>
                          </m:sub>
                        </m:sSub>
                        <m:r>
                          <a:rPr lang="ar-AE" sz="1600" i="1">
                            <a:latin typeface="Cambria Math" panose="02040503050406030204" pitchFamily="18" charset="0"/>
                          </a:rPr>
                          <m:t>𝑊</m:t>
                        </m:r>
                        <m:r>
                          <a:rPr lang="ar-AE" sz="1600">
                            <a:latin typeface="Cambria Math" panose="02040503050406030204" pitchFamily="18" charset="0"/>
                          </a:rPr>
                          <m:t>+</m:t>
                        </m:r>
                        <m:r>
                          <a:rPr lang="ar-AE" sz="1600" i="1">
                            <a:latin typeface="Cambria Math" panose="02040503050406030204" pitchFamily="18" charset="0"/>
                          </a:rPr>
                          <m:t>𝑏</m:t>
                        </m:r>
                      </m:e>
                    </m:d>
                    <m:r>
                      <a:rPr lang="en-IN" sz="1600" b="0" i="0" smtClean="0">
                        <a:latin typeface="Cambria Math" panose="02040503050406030204" pitchFamily="18" charset="0"/>
                      </a:rPr>
                      <m:t>   </m:t>
                    </m:r>
                  </m:oMath>
                </a14:m>
                <a:r>
                  <a:rPr lang="en-IN" sz="1600" dirty="0"/>
                  <a:t>where </a:t>
                </a:r>
                <a14:m>
                  <m:oMath xmlns:m="http://schemas.openxmlformats.org/officeDocument/2006/math">
                    <m:r>
                      <a:rPr lang="en-IN" sz="1600" i="1">
                        <a:latin typeface="Cambria Math" panose="02040503050406030204" pitchFamily="18" charset="0"/>
                      </a:rPr>
                      <m:t>𝑔</m:t>
                    </m:r>
                    <m:d>
                      <m:dPr>
                        <m:ctrlPr>
                          <a:rPr lang="ar-AE" sz="1600" i="1">
                            <a:latin typeface="Cambria Math" panose="02040503050406030204" pitchFamily="18" charset="0"/>
                          </a:rPr>
                        </m:ctrlPr>
                      </m:dPr>
                      <m:e>
                        <m:r>
                          <a:rPr lang="ar-AE" sz="1600">
                            <a:latin typeface="Cambria Math" panose="02040503050406030204" pitchFamily="18" charset="0"/>
                          </a:rPr>
                          <m:t>⋅</m:t>
                        </m:r>
                      </m:e>
                    </m:d>
                  </m:oMath>
                </a14:m>
                <a:r>
                  <a:rPr lang="en-IN" sz="1600" dirty="0"/>
                  <a:t>is the activation function.</a:t>
                </a:r>
                <a:endParaRPr lang="en-IN" sz="1600" b="1" dirty="0"/>
              </a:p>
              <a:p>
                <a:pPr marL="36900" indent="0">
                  <a:buNone/>
                </a:pPr>
                <a:r>
                  <a:rPr lang="en-IN" sz="1800" b="1" dirty="0"/>
                  <a:t>Recursive Weight Update</a:t>
                </a:r>
              </a:p>
              <a:p>
                <a:r>
                  <a:rPr lang="en-IN" sz="1600" b="1" dirty="0"/>
                  <a:t>RLS Gain Vector:</a:t>
                </a:r>
                <a:r>
                  <a:rPr lang="en-IN" sz="1600" dirty="0"/>
                  <a:t>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𝑘</m:t>
                        </m:r>
                      </m:e>
                      <m:sub>
                        <m:r>
                          <a:rPr lang="ar-AE" sz="1600" i="1">
                            <a:latin typeface="Cambria Math" panose="02040503050406030204" pitchFamily="18" charset="0"/>
                          </a:rPr>
                          <m:t>𝑡</m:t>
                        </m:r>
                      </m:sub>
                    </m:sSub>
                    <m:r>
                      <a:rPr lang="ar-AE" sz="1600">
                        <a:latin typeface="Cambria Math" panose="02040503050406030204" pitchFamily="18" charset="0"/>
                      </a:rPr>
                      <m:t>=</m:t>
                    </m:r>
                    <m:f>
                      <m:fPr>
                        <m:ctrlPr>
                          <a:rPr lang="ar-AE" sz="1600" i="1">
                            <a:latin typeface="Cambria Math" panose="02040503050406030204" pitchFamily="18" charset="0"/>
                          </a:rPr>
                        </m:ctrlPr>
                      </m:fPr>
                      <m:num>
                        <m:r>
                          <a:rPr lang="ar-AE" sz="1600" i="1">
                            <a:latin typeface="Cambria Math" panose="02040503050406030204" pitchFamily="18" charset="0"/>
                          </a:rPr>
                          <m:t>𝑃</m:t>
                        </m:r>
                        <m:sSub>
                          <m:sSubPr>
                            <m:ctrlPr>
                              <a:rPr lang="ar-AE" sz="1600" i="1">
                                <a:latin typeface="Cambria Math" panose="02040503050406030204" pitchFamily="18" charset="0"/>
                              </a:rPr>
                            </m:ctrlPr>
                          </m:sSubPr>
                          <m:e>
                            <m:r>
                              <a:rPr lang="ar-AE" sz="1600" i="1">
                                <a:latin typeface="Cambria Math" panose="02040503050406030204" pitchFamily="18" charset="0"/>
                              </a:rPr>
                              <m:t>h</m:t>
                            </m:r>
                          </m:e>
                          <m:sub>
                            <m:r>
                              <a:rPr lang="ar-AE" sz="1600" i="1">
                                <a:latin typeface="Cambria Math" panose="02040503050406030204" pitchFamily="18" charset="0"/>
                              </a:rPr>
                              <m:t>𝑡</m:t>
                            </m:r>
                          </m:sub>
                        </m:sSub>
                      </m:num>
                      <m:den>
                        <m:r>
                          <a:rPr lang="ar-AE" sz="1600">
                            <a:latin typeface="Cambria Math" panose="02040503050406030204" pitchFamily="18" charset="0"/>
                          </a:rPr>
                          <m:t>1</m:t>
                        </m:r>
                        <m:r>
                          <a:rPr lang="ar-AE" sz="1600">
                            <a:latin typeface="Cambria Math" panose="02040503050406030204" pitchFamily="18" charset="0"/>
                          </a:rPr>
                          <m:t>+</m:t>
                        </m:r>
                        <m:sSubSup>
                          <m:sSubSupPr>
                            <m:ctrlPr>
                              <a:rPr lang="ar-AE" sz="1600" i="1">
                                <a:latin typeface="Cambria Math" panose="02040503050406030204" pitchFamily="18" charset="0"/>
                              </a:rPr>
                            </m:ctrlPr>
                          </m:sSubSupPr>
                          <m:e>
                            <m:r>
                              <a:rPr lang="ar-AE" sz="1600" i="1">
                                <a:latin typeface="Cambria Math" panose="02040503050406030204" pitchFamily="18" charset="0"/>
                              </a:rPr>
                              <m:t>h</m:t>
                            </m:r>
                          </m:e>
                          <m:sub>
                            <m:r>
                              <a:rPr lang="ar-AE" sz="1600" i="1">
                                <a:latin typeface="Cambria Math" panose="02040503050406030204" pitchFamily="18" charset="0"/>
                              </a:rPr>
                              <m:t>𝑡</m:t>
                            </m:r>
                          </m:sub>
                          <m:sup>
                            <m:r>
                              <a:rPr lang="ar-AE" sz="1600" i="1">
                                <a:latin typeface="Cambria Math" panose="02040503050406030204" pitchFamily="18" charset="0"/>
                              </a:rPr>
                              <m:t>𝑇</m:t>
                            </m:r>
                          </m:sup>
                        </m:sSubSup>
                        <m:r>
                          <a:rPr lang="ar-AE" sz="1600" i="1">
                            <a:latin typeface="Cambria Math" panose="02040503050406030204" pitchFamily="18" charset="0"/>
                          </a:rPr>
                          <m:t>𝑃</m:t>
                        </m:r>
                        <m:sSub>
                          <m:sSubPr>
                            <m:ctrlPr>
                              <a:rPr lang="ar-AE" sz="1600" i="1">
                                <a:latin typeface="Cambria Math" panose="02040503050406030204" pitchFamily="18" charset="0"/>
                              </a:rPr>
                            </m:ctrlPr>
                          </m:sSubPr>
                          <m:e>
                            <m:r>
                              <a:rPr lang="ar-AE" sz="1600" i="1">
                                <a:latin typeface="Cambria Math" panose="02040503050406030204" pitchFamily="18" charset="0"/>
                              </a:rPr>
                              <m:t>h</m:t>
                            </m:r>
                          </m:e>
                          <m:sub>
                            <m:r>
                              <a:rPr lang="ar-AE" sz="1600" i="1">
                                <a:latin typeface="Cambria Math" panose="02040503050406030204" pitchFamily="18" charset="0"/>
                              </a:rPr>
                              <m:t>𝑡</m:t>
                            </m:r>
                          </m:sub>
                        </m:sSub>
                      </m:den>
                    </m:f>
                    <m:r>
                      <a:rPr lang="en-IN" sz="1600" b="0" i="0" smtClean="0">
                        <a:latin typeface="Cambria Math" panose="02040503050406030204" pitchFamily="18" charset="0"/>
                      </a:rPr>
                      <m:t>                            </m:t>
                    </m:r>
                  </m:oMath>
                </a14:m>
                <a:r>
                  <a:rPr lang="en-IN" sz="1600" b="1" dirty="0"/>
                  <a:t>Output Weight Update:</a:t>
                </a:r>
                <a:r>
                  <a:rPr lang="en-IN" sz="1600" dirty="0"/>
                  <a:t>  </a:t>
                </a:r>
                <a14:m>
                  <m:oMath xmlns:m="http://schemas.openxmlformats.org/officeDocument/2006/math">
                    <m:r>
                      <a:rPr lang="en-IN" sz="1600" i="1">
                        <a:latin typeface="Cambria Math" panose="02040503050406030204" pitchFamily="18" charset="0"/>
                      </a:rPr>
                      <m:t>𝛽</m:t>
                    </m:r>
                    <m:r>
                      <a:rPr lang="en-IN" sz="1600">
                        <a:latin typeface="Cambria Math" panose="02040503050406030204" pitchFamily="18" charset="0"/>
                      </a:rPr>
                      <m:t>←</m:t>
                    </m:r>
                    <m:r>
                      <a:rPr lang="en-IN" sz="1600" i="1">
                        <a:latin typeface="Cambria Math" panose="02040503050406030204" pitchFamily="18" charset="0"/>
                      </a:rPr>
                      <m:t>𝛽</m:t>
                    </m:r>
                    <m:r>
                      <a:rPr lang="en-IN" sz="1600">
                        <a:latin typeface="Cambria Math" panose="02040503050406030204" pitchFamily="18" charset="0"/>
                      </a:rPr>
                      <m:t>+</m:t>
                    </m:r>
                    <m:sSub>
                      <m:sSubPr>
                        <m:ctrlPr>
                          <a:rPr lang="ar-AE" sz="1600" i="1">
                            <a:latin typeface="Cambria Math" panose="02040503050406030204" pitchFamily="18" charset="0"/>
                          </a:rPr>
                        </m:ctrlPr>
                      </m:sSubPr>
                      <m:e>
                        <m:r>
                          <a:rPr lang="ar-AE" sz="1600" i="1">
                            <a:latin typeface="Cambria Math" panose="02040503050406030204" pitchFamily="18" charset="0"/>
                          </a:rPr>
                          <m:t>𝑘</m:t>
                        </m:r>
                      </m:e>
                      <m:sub>
                        <m:r>
                          <a:rPr lang="ar-AE" sz="1600" i="1">
                            <a:latin typeface="Cambria Math" panose="02040503050406030204" pitchFamily="18" charset="0"/>
                          </a:rPr>
                          <m:t>𝑡</m:t>
                        </m:r>
                      </m:sub>
                    </m:sSub>
                    <m:d>
                      <m:dPr>
                        <m:endChr m:val=""/>
                        <m:ctrlPr>
                          <a:rPr lang="ar-AE" sz="1600" i="1">
                            <a:latin typeface="Cambria Math" panose="02040503050406030204" pitchFamily="18" charset="0"/>
                          </a:rPr>
                        </m:ctrlPr>
                      </m:dPr>
                      <m:e>
                        <m:sSub>
                          <m:sSubPr>
                            <m:ctrlPr>
                              <a:rPr lang="ar-AE" sz="1600" i="1">
                                <a:latin typeface="Cambria Math" panose="02040503050406030204" pitchFamily="18" charset="0"/>
                              </a:rPr>
                            </m:ctrlPr>
                          </m:sSubPr>
                          <m:e>
                            <m:r>
                              <a:rPr lang="ar-AE" sz="1600" i="1">
                                <a:latin typeface="Cambria Math" panose="02040503050406030204" pitchFamily="18" charset="0"/>
                              </a:rPr>
                              <m:t>𝑦</m:t>
                            </m:r>
                          </m:e>
                          <m:sub>
                            <m:r>
                              <a:rPr lang="ar-AE" sz="1600" i="1">
                                <a:latin typeface="Cambria Math" panose="02040503050406030204" pitchFamily="18" charset="0"/>
                              </a:rPr>
                              <m:t>𝑡</m:t>
                            </m:r>
                          </m:sub>
                        </m:sSub>
                        <m:r>
                          <a:rPr lang="ar-AE" sz="1600">
                            <a:latin typeface="Cambria Math" panose="02040503050406030204" pitchFamily="18" charset="0"/>
                          </a:rPr>
                          <m:t>−</m:t>
                        </m:r>
                        <m:sSubSup>
                          <m:sSubSupPr>
                            <m:ctrlPr>
                              <a:rPr lang="ar-AE" sz="1600" i="1">
                                <a:latin typeface="Cambria Math" panose="02040503050406030204" pitchFamily="18" charset="0"/>
                              </a:rPr>
                            </m:ctrlPr>
                          </m:sSubSupPr>
                          <m:e>
                            <m:r>
                              <a:rPr lang="ar-AE" sz="1600" i="1">
                                <a:latin typeface="Cambria Math" panose="02040503050406030204" pitchFamily="18" charset="0"/>
                              </a:rPr>
                              <m:t>h</m:t>
                            </m:r>
                          </m:e>
                          <m:sub>
                            <m:r>
                              <a:rPr lang="ar-AE" sz="1600" i="1">
                                <a:latin typeface="Cambria Math" panose="02040503050406030204" pitchFamily="18" charset="0"/>
                              </a:rPr>
                              <m:t>𝑡</m:t>
                            </m:r>
                          </m:sub>
                          <m:sup>
                            <m:r>
                              <a:rPr lang="ar-AE" sz="1600" i="1">
                                <a:latin typeface="Cambria Math" panose="02040503050406030204" pitchFamily="18" charset="0"/>
                              </a:rPr>
                              <m:t>𝑇</m:t>
                            </m:r>
                          </m:sup>
                        </m:sSubSup>
                        <m:r>
                          <a:rPr lang="ar-AE" sz="1600" i="1">
                            <a:latin typeface="Cambria Math" panose="02040503050406030204" pitchFamily="18" charset="0"/>
                          </a:rPr>
                          <m:t>𝛽</m:t>
                        </m:r>
                        <m:sSup>
                          <m:sSupPr>
                            <m:ctrlPr>
                              <a:rPr lang="ar-AE" sz="1600" i="1">
                                <a:latin typeface="Cambria Math" panose="02040503050406030204" pitchFamily="18" charset="0"/>
                              </a:rPr>
                            </m:ctrlPr>
                          </m:sSupPr>
                          <m:e>
                            <m:d>
                              <m:dPr>
                                <m:begChr m:val=""/>
                                <m:endChr m:val=""/>
                                <m:ctrlPr>
                                  <a:rPr lang="ar-AE" sz="1600" i="1">
                                    <a:latin typeface="Cambria Math" panose="02040503050406030204" pitchFamily="18" charset="0"/>
                                  </a:rPr>
                                </m:ctrlPr>
                              </m:dPr>
                              <m:e>
                                <m:r>
                                  <a:rPr lang="ar-AE" sz="1600">
                                    <a:latin typeface="Cambria Math" panose="02040503050406030204" pitchFamily="18" charset="0"/>
                                  </a:rPr>
                                  <m:t>)</m:t>
                                </m:r>
                              </m:e>
                            </m:d>
                          </m:e>
                          <m:sup>
                            <m:r>
                              <a:rPr lang="ar-AE" sz="1600" i="1">
                                <a:latin typeface="Cambria Math" panose="02040503050406030204" pitchFamily="18" charset="0"/>
                              </a:rPr>
                              <m:t>𝑇</m:t>
                            </m:r>
                          </m:sup>
                        </m:sSup>
                      </m:e>
                    </m:d>
                  </m:oMath>
                </a14:m>
                <a:endParaRPr lang="ar-AE" sz="1600" dirty="0"/>
              </a:p>
              <a:p>
                <a:r>
                  <a:rPr lang="en-IN" sz="1600" b="1" dirty="0"/>
                  <a:t>Correlation Matrix Update:</a:t>
                </a:r>
                <a:r>
                  <a:rPr lang="en-IN" sz="1600" dirty="0"/>
                  <a:t>   </a:t>
                </a:r>
                <a14:m>
                  <m:oMath xmlns:m="http://schemas.openxmlformats.org/officeDocument/2006/math">
                    <m:r>
                      <a:rPr lang="en-IN" sz="1600" i="1">
                        <a:latin typeface="Cambria Math" panose="02040503050406030204" pitchFamily="18" charset="0"/>
                      </a:rPr>
                      <m:t>𝑃</m:t>
                    </m:r>
                    <m:r>
                      <a:rPr lang="en-IN" sz="1600">
                        <a:latin typeface="Cambria Math" panose="02040503050406030204" pitchFamily="18" charset="0"/>
                      </a:rPr>
                      <m:t>←</m:t>
                    </m:r>
                    <m:r>
                      <a:rPr lang="en-IN" sz="1600" i="1">
                        <a:latin typeface="Cambria Math" panose="02040503050406030204" pitchFamily="18" charset="0"/>
                      </a:rPr>
                      <m:t>𝑃</m:t>
                    </m:r>
                    <m:r>
                      <a:rPr lang="en-IN" sz="1600">
                        <a:latin typeface="Cambria Math" panose="02040503050406030204" pitchFamily="18" charset="0"/>
                      </a:rPr>
                      <m:t>−</m:t>
                    </m:r>
                    <m:sSub>
                      <m:sSubPr>
                        <m:ctrlPr>
                          <a:rPr lang="ar-AE" sz="1600" i="1">
                            <a:latin typeface="Cambria Math" panose="02040503050406030204" pitchFamily="18" charset="0"/>
                          </a:rPr>
                        </m:ctrlPr>
                      </m:sSubPr>
                      <m:e>
                        <m:r>
                          <a:rPr lang="ar-AE" sz="1600" i="1">
                            <a:latin typeface="Cambria Math" panose="02040503050406030204" pitchFamily="18" charset="0"/>
                          </a:rPr>
                          <m:t>𝑘</m:t>
                        </m:r>
                      </m:e>
                      <m:sub>
                        <m:r>
                          <a:rPr lang="ar-AE" sz="1600" i="1">
                            <a:latin typeface="Cambria Math" panose="02040503050406030204" pitchFamily="18" charset="0"/>
                          </a:rPr>
                          <m:t>𝑡</m:t>
                        </m:r>
                      </m:sub>
                    </m:sSub>
                    <m:d>
                      <m:dPr>
                        <m:ctrlPr>
                          <a:rPr lang="ar-AE" sz="1600" i="1">
                            <a:latin typeface="Cambria Math" panose="02040503050406030204" pitchFamily="18" charset="0"/>
                          </a:rPr>
                        </m:ctrlPr>
                      </m:dPr>
                      <m:e>
                        <m:sSubSup>
                          <m:sSubSupPr>
                            <m:ctrlPr>
                              <a:rPr lang="ar-AE" sz="1600" i="1">
                                <a:latin typeface="Cambria Math" panose="02040503050406030204" pitchFamily="18" charset="0"/>
                              </a:rPr>
                            </m:ctrlPr>
                          </m:sSubSupPr>
                          <m:e>
                            <m:r>
                              <a:rPr lang="ar-AE" sz="1600" i="1">
                                <a:latin typeface="Cambria Math" panose="02040503050406030204" pitchFamily="18" charset="0"/>
                              </a:rPr>
                              <m:t>h</m:t>
                            </m:r>
                          </m:e>
                          <m:sub>
                            <m:r>
                              <a:rPr lang="ar-AE" sz="1600" i="1">
                                <a:latin typeface="Cambria Math" panose="02040503050406030204" pitchFamily="18" charset="0"/>
                              </a:rPr>
                              <m:t>𝑡</m:t>
                            </m:r>
                          </m:sub>
                          <m:sup>
                            <m:r>
                              <a:rPr lang="ar-AE" sz="1600" i="1">
                                <a:latin typeface="Cambria Math" panose="02040503050406030204" pitchFamily="18" charset="0"/>
                              </a:rPr>
                              <m:t>𝑇</m:t>
                            </m:r>
                          </m:sup>
                        </m:sSubSup>
                        <m:r>
                          <a:rPr lang="ar-AE" sz="1600" i="1">
                            <a:latin typeface="Cambria Math" panose="02040503050406030204" pitchFamily="18" charset="0"/>
                          </a:rPr>
                          <m:t>𝑃</m:t>
                        </m:r>
                      </m:e>
                    </m:d>
                  </m:oMath>
                </a14:m>
                <a:endParaRPr lang="en-IN" sz="1600" dirty="0"/>
              </a:p>
              <a:p>
                <a:endParaRPr lang="ar-AE" sz="1600" dirty="0"/>
              </a:p>
            </p:txBody>
          </p:sp>
        </mc:Choice>
        <mc:Fallback xmlns="">
          <p:sp>
            <p:nvSpPr>
              <p:cNvPr id="3" name="Content Placeholder 2">
                <a:extLst>
                  <a:ext uri="{FF2B5EF4-FFF2-40B4-BE49-F238E27FC236}">
                    <a16:creationId xmlns:a16="http://schemas.microsoft.com/office/drawing/2014/main" id="{FD5CF339-684F-3592-377F-B5375DE95B26}"/>
                  </a:ext>
                </a:extLst>
              </p:cNvPr>
              <p:cNvSpPr>
                <a:spLocks noGrp="1" noRot="1" noChangeAspect="1" noMove="1" noResize="1" noEditPoints="1" noAdjustHandles="1" noChangeArrowheads="1" noChangeShapeType="1" noTextEdit="1"/>
              </p:cNvSpPr>
              <p:nvPr>
                <p:ph idx="1"/>
              </p:nvPr>
            </p:nvSpPr>
            <p:spPr>
              <a:xfrm>
                <a:off x="1014065" y="1515356"/>
                <a:ext cx="10353762" cy="4499680"/>
              </a:xfrm>
              <a:blipFill>
                <a:blip r:embed="rId2"/>
                <a:stretch>
                  <a:fillRect/>
                </a:stretch>
              </a:blipFill>
              <a:ln>
                <a:noFill/>
              </a:ln>
            </p:spPr>
            <p:txBody>
              <a:bodyPr/>
              <a:lstStyle/>
              <a:p>
                <a:r>
                  <a:rPr lang="en-IN">
                    <a:noFill/>
                  </a:rPr>
                  <a:t> </a:t>
                </a:r>
              </a:p>
            </p:txBody>
          </p:sp>
        </mc:Fallback>
      </mc:AlternateContent>
      <p:sp>
        <p:nvSpPr>
          <p:cNvPr id="7" name="Isosceles Triangle 6">
            <a:extLst>
              <a:ext uri="{FF2B5EF4-FFF2-40B4-BE49-F238E27FC236}">
                <a16:creationId xmlns:a16="http://schemas.microsoft.com/office/drawing/2014/main" id="{78D7EB0E-45C6-EAA8-8546-140913856045}"/>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53EA8DFF-9513-19FC-81E5-41B4218D6638}"/>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15068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860B6-A530-33F9-6BD0-FDACE762AE80}"/>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E8FCD13-80E7-3336-566C-A481B64EBB46}"/>
              </a:ext>
            </a:extLst>
          </p:cNvPr>
          <p:cNvSpPr/>
          <p:nvPr/>
        </p:nvSpPr>
        <p:spPr>
          <a:xfrm>
            <a:off x="847119" y="1281112"/>
            <a:ext cx="10687655" cy="4900613"/>
          </a:xfrm>
          <a:prstGeom prst="roundRect">
            <a:avLst>
              <a:gd name="adj" fmla="val 11345"/>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3C5400AB-5B72-C805-B22D-61F0F50AE66F}"/>
              </a:ext>
            </a:extLst>
          </p:cNvPr>
          <p:cNvSpPr>
            <a:spLocks noGrp="1"/>
          </p:cNvSpPr>
          <p:nvPr>
            <p:ph type="title"/>
          </p:nvPr>
        </p:nvSpPr>
        <p:spPr>
          <a:xfrm>
            <a:off x="847119" y="133791"/>
            <a:ext cx="10353762" cy="1257300"/>
          </a:xfrm>
        </p:spPr>
        <p:txBody>
          <a:bodyPr>
            <a:normAutofit/>
          </a:bodyPr>
          <a:lstStyle/>
          <a:p>
            <a:pPr algn="l"/>
            <a:r>
              <a:rPr lang="en-IN" sz="4800" dirty="0"/>
              <a:t>Ridge, Correlation Matrix &amp; RLS Gain :</a:t>
            </a:r>
          </a:p>
        </p:txBody>
      </p:sp>
      <p:sp>
        <p:nvSpPr>
          <p:cNvPr id="3" name="Content Placeholder 2">
            <a:extLst>
              <a:ext uri="{FF2B5EF4-FFF2-40B4-BE49-F238E27FC236}">
                <a16:creationId xmlns:a16="http://schemas.microsoft.com/office/drawing/2014/main" id="{C7670580-DD67-6566-6926-C9B510041FBF}"/>
              </a:ext>
            </a:extLst>
          </p:cNvPr>
          <p:cNvSpPr>
            <a:spLocks noGrp="1"/>
          </p:cNvSpPr>
          <p:nvPr>
            <p:ph idx="1"/>
          </p:nvPr>
        </p:nvSpPr>
        <p:spPr>
          <a:xfrm>
            <a:off x="1014065" y="1515356"/>
            <a:ext cx="10353762" cy="4499680"/>
          </a:xfrm>
          <a:noFill/>
          <a:ln>
            <a:noFill/>
          </a:ln>
        </p:spPr>
        <p:style>
          <a:lnRef idx="2">
            <a:schemeClr val="dk1"/>
          </a:lnRef>
          <a:fillRef idx="1">
            <a:schemeClr val="lt1"/>
          </a:fillRef>
          <a:effectRef idx="0">
            <a:schemeClr val="dk1"/>
          </a:effectRef>
          <a:fontRef idx="minor">
            <a:schemeClr val="dk1"/>
          </a:fontRef>
        </p:style>
        <p:txBody>
          <a:bodyPr>
            <a:noAutofit/>
          </a:bodyPr>
          <a:lstStyle/>
          <a:p>
            <a:pPr marL="36900" indent="0">
              <a:buNone/>
            </a:pPr>
            <a:r>
              <a:rPr lang="en-IN" sz="2000" b="1" dirty="0"/>
              <a:t>Ridge:</a:t>
            </a:r>
          </a:p>
          <a:p>
            <a:pPr lvl="0"/>
            <a:r>
              <a:rPr lang="en-IN" sz="1600" dirty="0">
                <a:effectLst/>
              </a:rPr>
              <a:t>The ridge parameter is a </a:t>
            </a:r>
            <a:r>
              <a:rPr lang="en-IN" sz="1600" b="1" dirty="0">
                <a:effectLst/>
              </a:rPr>
              <a:t>regularization constant</a:t>
            </a:r>
            <a:r>
              <a:rPr lang="en-IN" sz="1600" dirty="0">
                <a:effectLst/>
              </a:rPr>
              <a:t> (λ in ridge regression).</a:t>
            </a:r>
          </a:p>
          <a:p>
            <a:pPr lvl="0"/>
            <a:r>
              <a:rPr lang="en-IN" sz="1600" dirty="0">
                <a:effectLst/>
              </a:rPr>
              <a:t>It prevents overfitting and </a:t>
            </a:r>
            <a:r>
              <a:rPr lang="en-IN" sz="1600" b="1" dirty="0">
                <a:effectLst/>
              </a:rPr>
              <a:t>numerical instability</a:t>
            </a:r>
            <a:r>
              <a:rPr lang="en-IN" sz="1600" dirty="0">
                <a:effectLst/>
              </a:rPr>
              <a:t> when computing the recursive update of β. </a:t>
            </a:r>
          </a:p>
          <a:p>
            <a:pPr marL="36900" lvl="0" indent="0">
              <a:buNone/>
            </a:pPr>
            <a:r>
              <a:rPr lang="en-IN" sz="2000" b="1" dirty="0">
                <a:effectLst/>
              </a:rPr>
              <a:t>Correlation Matrix(P):</a:t>
            </a:r>
          </a:p>
          <a:p>
            <a:pPr lvl="0"/>
            <a:r>
              <a:rPr lang="en-IN" sz="1600" dirty="0">
                <a:effectLst/>
              </a:rPr>
              <a:t>Keeps track of the </a:t>
            </a:r>
            <a:r>
              <a:rPr lang="en-IN" sz="1600" b="1" dirty="0">
                <a:effectLst/>
              </a:rPr>
              <a:t>inverse correlation of hidden activations</a:t>
            </a:r>
            <a:r>
              <a:rPr lang="en-IN" sz="1600" dirty="0">
                <a:effectLst/>
              </a:rPr>
              <a:t>.</a:t>
            </a:r>
          </a:p>
          <a:p>
            <a:pPr lvl="0"/>
            <a:r>
              <a:rPr lang="en-IN" sz="1600" dirty="0">
                <a:effectLst/>
              </a:rPr>
              <a:t>Used to compute the </a:t>
            </a:r>
            <a:r>
              <a:rPr lang="en-IN" sz="1600" b="1" dirty="0">
                <a:effectLst/>
              </a:rPr>
              <a:t>RLS gain vector k</a:t>
            </a:r>
            <a:r>
              <a:rPr lang="en-IN" sz="1600" dirty="0">
                <a:effectLst/>
              </a:rPr>
              <a:t>, which tells us </a:t>
            </a:r>
            <a:r>
              <a:rPr lang="en-IN" sz="1600" b="1" dirty="0">
                <a:effectLst/>
              </a:rPr>
              <a:t>how much to adjust β</a:t>
            </a:r>
            <a:r>
              <a:rPr lang="en-IN" sz="1600" dirty="0">
                <a:effectLst/>
              </a:rPr>
              <a:t> for each new sample.</a:t>
            </a:r>
            <a:endParaRPr lang="en-IN" sz="2000" b="1" dirty="0">
              <a:effectLst/>
            </a:endParaRPr>
          </a:p>
          <a:p>
            <a:pPr marL="36900" indent="0">
              <a:buNone/>
            </a:pPr>
            <a:r>
              <a:rPr lang="en-IN" sz="2000" b="1" dirty="0"/>
              <a:t>RLS Gain Vector: </a:t>
            </a:r>
          </a:p>
          <a:p>
            <a:pPr lvl="0"/>
            <a:r>
              <a:rPr lang="en-IN" sz="1600" dirty="0">
                <a:effectLst/>
              </a:rPr>
              <a:t>k = </a:t>
            </a:r>
            <a:r>
              <a:rPr lang="en-IN" sz="1600" b="1" dirty="0">
                <a:effectLst/>
              </a:rPr>
              <a:t>gain vector</a:t>
            </a:r>
            <a:r>
              <a:rPr lang="en-IN" sz="1600" dirty="0">
                <a:effectLst/>
              </a:rPr>
              <a:t>, size (hidden dim, 1)</a:t>
            </a:r>
          </a:p>
          <a:p>
            <a:pPr lvl="0"/>
            <a:r>
              <a:rPr lang="en-IN" sz="1600" dirty="0">
                <a:effectLst/>
              </a:rPr>
              <a:t>Determines </a:t>
            </a:r>
            <a:r>
              <a:rPr lang="en-IN" sz="1600" b="1" dirty="0">
                <a:effectLst/>
              </a:rPr>
              <a:t>how much β should change</a:t>
            </a:r>
            <a:r>
              <a:rPr lang="en-IN" sz="1600" dirty="0">
                <a:effectLst/>
              </a:rPr>
              <a:t> based on the error for this sample.</a:t>
            </a:r>
          </a:p>
          <a:p>
            <a:r>
              <a:rPr lang="en-US" altLang="en-US" sz="1600" dirty="0">
                <a:ln>
                  <a:noFill/>
                </a:ln>
                <a:solidFill>
                  <a:schemeClr val="bg1"/>
                </a:solidFill>
                <a:effectLst/>
                <a:latin typeface="Arial" panose="020B0604020202020204" pitchFamily="34" charset="0"/>
              </a:rPr>
              <a:t>k​ = how much to adjust weights in the direction of h</a:t>
            </a:r>
          </a:p>
          <a:p>
            <a:r>
              <a:rPr lang="en-US" altLang="en-US" sz="1600" dirty="0">
                <a:ln>
                  <a:noFill/>
                </a:ln>
                <a:solidFill>
                  <a:schemeClr val="bg1"/>
                </a:solidFill>
                <a:effectLst/>
                <a:latin typeface="Arial" panose="020B0604020202020204" pitchFamily="34" charset="0"/>
              </a:rPr>
              <a:t>Ensures </a:t>
            </a:r>
            <a:r>
              <a:rPr lang="en-US" altLang="en-US" sz="1600" b="1" dirty="0">
                <a:ln>
                  <a:noFill/>
                </a:ln>
                <a:solidFill>
                  <a:schemeClr val="bg1"/>
                </a:solidFill>
                <a:effectLst/>
                <a:latin typeface="Arial" panose="020B0604020202020204" pitchFamily="34" charset="0"/>
              </a:rPr>
              <a:t>fast convergence</a:t>
            </a:r>
            <a:r>
              <a:rPr lang="en-US" altLang="en-US" sz="1600" dirty="0">
                <a:ln>
                  <a:noFill/>
                </a:ln>
                <a:solidFill>
                  <a:schemeClr val="bg1"/>
                </a:solidFill>
                <a:effectLst/>
                <a:latin typeface="Arial" panose="020B0604020202020204" pitchFamily="34" charset="0"/>
              </a:rPr>
              <a:t> and avoids recalculating matrix inverses</a:t>
            </a:r>
          </a:p>
          <a:p>
            <a:pPr lvl="0"/>
            <a:endParaRPr lang="en-IN" sz="1600" dirty="0"/>
          </a:p>
        </p:txBody>
      </p:sp>
      <p:sp>
        <p:nvSpPr>
          <p:cNvPr id="7" name="Isosceles Triangle 6">
            <a:extLst>
              <a:ext uri="{FF2B5EF4-FFF2-40B4-BE49-F238E27FC236}">
                <a16:creationId xmlns:a16="http://schemas.microsoft.com/office/drawing/2014/main" id="{76860E80-5EE9-B958-ED87-181BE93DC838}"/>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EEEB2468-FFDC-7784-81B1-2810649AB07F}"/>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73982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A679E-A2E0-5A22-CFAB-03E7F9F4DBD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1A15083-FED9-B1D5-0D22-C3D833FA3B32}"/>
              </a:ext>
            </a:extLst>
          </p:cNvPr>
          <p:cNvSpPr/>
          <p:nvPr/>
        </p:nvSpPr>
        <p:spPr>
          <a:xfrm>
            <a:off x="847119" y="1281112"/>
            <a:ext cx="10687655" cy="4900613"/>
          </a:xfrm>
          <a:prstGeom prst="roundRect">
            <a:avLst>
              <a:gd name="adj" fmla="val 11345"/>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5EB47FA5-2CA3-3A6B-9A92-7D7AED6985B5}"/>
              </a:ext>
            </a:extLst>
          </p:cNvPr>
          <p:cNvSpPr>
            <a:spLocks noGrp="1"/>
          </p:cNvSpPr>
          <p:nvPr>
            <p:ph type="title"/>
          </p:nvPr>
        </p:nvSpPr>
        <p:spPr>
          <a:xfrm>
            <a:off x="847119" y="196145"/>
            <a:ext cx="10353762" cy="1257300"/>
          </a:xfrm>
        </p:spPr>
        <p:txBody>
          <a:bodyPr>
            <a:normAutofit/>
          </a:bodyPr>
          <a:lstStyle/>
          <a:p>
            <a:pPr algn="l"/>
            <a:r>
              <a:rPr lang="en-IN" sz="4800" dirty="0"/>
              <a:t>ADMM Feature Selection Design: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005C822-42BD-192B-2C22-D82C2A2CCBB2}"/>
                  </a:ext>
                </a:extLst>
              </p:cNvPr>
              <p:cNvSpPr>
                <a:spLocks noGrp="1"/>
              </p:cNvSpPr>
              <p:nvPr>
                <p:ph idx="1"/>
              </p:nvPr>
            </p:nvSpPr>
            <p:spPr>
              <a:xfrm>
                <a:off x="1014064" y="1501070"/>
                <a:ext cx="10687655" cy="4499680"/>
              </a:xfrm>
              <a:noFill/>
              <a:ln>
                <a:noFill/>
              </a:ln>
            </p:spPr>
            <p:style>
              <a:lnRef idx="2">
                <a:schemeClr val="dk1"/>
              </a:lnRef>
              <a:fillRef idx="1">
                <a:schemeClr val="lt1"/>
              </a:fillRef>
              <a:effectRef idx="0">
                <a:schemeClr val="dk1"/>
              </a:effectRef>
              <a:fontRef idx="minor">
                <a:schemeClr val="dk1"/>
              </a:fontRef>
            </p:style>
            <p:txBody>
              <a:bodyPr>
                <a:noAutofit/>
              </a:bodyPr>
              <a:lstStyle/>
              <a:p>
                <a:pPr marL="36900" indent="0">
                  <a:buNone/>
                </a:pPr>
                <a:r>
                  <a:rPr lang="en-IN" sz="2000" b="1" dirty="0"/>
                  <a:t>Mathematical Formulation :</a:t>
                </a:r>
                <a:endParaRPr lang="en-IN" sz="2000" dirty="0"/>
              </a:p>
              <a:p>
                <a:r>
                  <a:rPr lang="en-IN" sz="1600" b="1" dirty="0"/>
                  <a:t>Lasso problem</a:t>
                </a:r>
                <a:r>
                  <a:rPr lang="en-IN" sz="1600" dirty="0"/>
                  <a:t>:</a:t>
                </a:r>
              </a:p>
              <a:p>
                <a:pPr marL="36900" indent="0">
                  <a:buNone/>
                </a:pPr>
                <a:r>
                  <a:rPr lang="en-IN" sz="1600" dirty="0"/>
                  <a:t>	</a:t>
                </a:r>
                <a14:m>
                  <m:oMath xmlns:m="http://schemas.openxmlformats.org/officeDocument/2006/math">
                    <m:limLow>
                      <m:limLowPr>
                        <m:ctrlPr>
                          <a:rPr lang="ar-AE" sz="1600" i="1">
                            <a:latin typeface="Cambria Math" panose="02040503050406030204" pitchFamily="18" charset="0"/>
                          </a:rPr>
                        </m:ctrlPr>
                      </m:limLowPr>
                      <m:e>
                        <m:func>
                          <m:funcPr>
                            <m:ctrlPr>
                              <a:rPr lang="ar-AE" sz="1600" i="1">
                                <a:latin typeface="Cambria Math" panose="02040503050406030204" pitchFamily="18" charset="0"/>
                              </a:rPr>
                            </m:ctrlPr>
                          </m:funcPr>
                          <m:fName>
                            <m:r>
                              <m:rPr>
                                <m:sty m:val="p"/>
                              </m:rPr>
                              <a:rPr lang="en-IN" sz="1600">
                                <a:latin typeface="Cambria Math" panose="02040503050406030204" pitchFamily="18" charset="0"/>
                              </a:rPr>
                              <m:t>min</m:t>
                            </m:r>
                          </m:fName>
                          <m:e/>
                        </m:func>
                      </m:e>
                      <m:lim>
                        <m:r>
                          <a:rPr lang="ar-AE" sz="1600" i="1">
                            <a:latin typeface="Cambria Math" panose="02040503050406030204" pitchFamily="18" charset="0"/>
                          </a:rPr>
                          <m:t>𝑤</m:t>
                        </m:r>
                      </m:lim>
                    </m:limLow>
                    <m:r>
                      <m:rPr>
                        <m:nor/>
                      </m:rPr>
                      <a:rPr lang="ar-AE" sz="1600" i="1"/>
                      <m:t>  </m:t>
                    </m:r>
                    <m:f>
                      <m:fPr>
                        <m:ctrlPr>
                          <a:rPr lang="ar-AE" sz="1600" i="1">
                            <a:latin typeface="Cambria Math" panose="02040503050406030204" pitchFamily="18" charset="0"/>
                          </a:rPr>
                        </m:ctrlPr>
                      </m:fPr>
                      <m:num>
                        <m:r>
                          <a:rPr lang="ar-AE" sz="1600">
                            <a:latin typeface="Cambria Math" panose="02040503050406030204" pitchFamily="18" charset="0"/>
                          </a:rPr>
                          <m:t>1</m:t>
                        </m:r>
                      </m:num>
                      <m:den>
                        <m:r>
                          <a:rPr lang="ar-AE" sz="1600">
                            <a:latin typeface="Cambria Math" panose="02040503050406030204" pitchFamily="18" charset="0"/>
                          </a:rPr>
                          <m:t>2</m:t>
                        </m:r>
                      </m:den>
                    </m:f>
                    <m:r>
                      <a:rPr lang="ar-AE" sz="1600">
                        <a:latin typeface="Cambria Math" panose="02040503050406030204" pitchFamily="18" charset="0"/>
                      </a:rPr>
                      <m:t>∥</m:t>
                    </m:r>
                    <m:r>
                      <a:rPr lang="ar-AE" sz="1600" i="1">
                        <a:latin typeface="Cambria Math" panose="02040503050406030204" pitchFamily="18" charset="0"/>
                      </a:rPr>
                      <m:t>𝑋𝑤</m:t>
                    </m:r>
                    <m:r>
                      <a:rPr lang="ar-AE" sz="1600">
                        <a:latin typeface="Cambria Math" panose="02040503050406030204" pitchFamily="18" charset="0"/>
                      </a:rPr>
                      <m:t>−</m:t>
                    </m:r>
                    <m:r>
                      <a:rPr lang="ar-AE" sz="1600" i="1">
                        <a:latin typeface="Cambria Math" panose="02040503050406030204" pitchFamily="18" charset="0"/>
                      </a:rPr>
                      <m:t>𝑦</m:t>
                    </m:r>
                    <m:sSubSup>
                      <m:sSubSupPr>
                        <m:ctrlPr>
                          <a:rPr lang="ar-AE" sz="1600" i="1">
                            <a:latin typeface="Cambria Math" panose="02040503050406030204" pitchFamily="18" charset="0"/>
                          </a:rPr>
                        </m:ctrlPr>
                      </m:sSubSupPr>
                      <m:e>
                        <m:r>
                          <a:rPr lang="ar-AE" sz="1600">
                            <a:latin typeface="Cambria Math" panose="02040503050406030204" pitchFamily="18" charset="0"/>
                          </a:rPr>
                          <m:t>∥</m:t>
                        </m:r>
                      </m:e>
                      <m:sub>
                        <m:r>
                          <a:rPr lang="ar-AE" sz="1600">
                            <a:latin typeface="Cambria Math" panose="02040503050406030204" pitchFamily="18" charset="0"/>
                          </a:rPr>
                          <m:t>2</m:t>
                        </m:r>
                      </m:sub>
                      <m:sup>
                        <m:r>
                          <a:rPr lang="ar-AE" sz="1600">
                            <a:latin typeface="Cambria Math" panose="02040503050406030204" pitchFamily="18" charset="0"/>
                          </a:rPr>
                          <m:t>2</m:t>
                        </m:r>
                      </m:sup>
                    </m:sSubSup>
                    <m:r>
                      <a:rPr lang="ar-AE" sz="1600">
                        <a:latin typeface="Cambria Math" panose="02040503050406030204" pitchFamily="18" charset="0"/>
                      </a:rPr>
                      <m:t>+</m:t>
                    </m:r>
                    <m:r>
                      <a:rPr lang="ar-AE" sz="1600" i="1">
                        <a:latin typeface="Cambria Math" panose="02040503050406030204" pitchFamily="18" charset="0"/>
                      </a:rPr>
                      <m:t>𝜆</m:t>
                    </m:r>
                    <m:r>
                      <a:rPr lang="ar-AE" sz="1600">
                        <a:latin typeface="Cambria Math" panose="02040503050406030204" pitchFamily="18" charset="0"/>
                      </a:rPr>
                      <m:t>∥</m:t>
                    </m:r>
                    <m:r>
                      <a:rPr lang="ar-AE" sz="1600" i="1">
                        <a:latin typeface="Cambria Math" panose="02040503050406030204" pitchFamily="18" charset="0"/>
                      </a:rPr>
                      <m:t>𝑤</m:t>
                    </m:r>
                    <m:sSub>
                      <m:sSubPr>
                        <m:ctrlPr>
                          <a:rPr lang="ar-AE" sz="1600" i="1">
                            <a:latin typeface="Cambria Math" panose="02040503050406030204" pitchFamily="18" charset="0"/>
                          </a:rPr>
                        </m:ctrlPr>
                      </m:sSubPr>
                      <m:e>
                        <m:r>
                          <a:rPr lang="ar-AE" sz="1600">
                            <a:latin typeface="Cambria Math" panose="02040503050406030204" pitchFamily="18" charset="0"/>
                          </a:rPr>
                          <m:t>∥</m:t>
                        </m:r>
                      </m:e>
                      <m:sub>
                        <m:r>
                          <a:rPr lang="ar-AE" sz="1600">
                            <a:latin typeface="Cambria Math" panose="02040503050406030204" pitchFamily="18" charset="0"/>
                          </a:rPr>
                          <m:t>1</m:t>
                        </m:r>
                      </m:sub>
                    </m:sSub>
                  </m:oMath>
                </a14:m>
                <a:endParaRPr lang="en-IN" sz="1600" dirty="0"/>
              </a:p>
              <a:p>
                <a:pPr marL="36900" indent="0">
                  <a:buNone/>
                </a:pPr>
                <a:r>
                  <a:rPr lang="en-IN" sz="1600" dirty="0"/>
                  <a:t>	where: </a:t>
                </a:r>
                <a14:m>
                  <m:oMath xmlns:m="http://schemas.openxmlformats.org/officeDocument/2006/math">
                    <m:r>
                      <a:rPr lang="en-IN" sz="1600" i="1">
                        <a:latin typeface="Cambria Math" panose="02040503050406030204" pitchFamily="18" charset="0"/>
                      </a:rPr>
                      <m:t>𝑋</m:t>
                    </m:r>
                  </m:oMath>
                </a14:m>
                <a:r>
                  <a:rPr lang="en-IN" sz="1600" dirty="0"/>
                  <a:t>= feature matrix,  </a:t>
                </a:r>
                <a14:m>
                  <m:oMath xmlns:m="http://schemas.openxmlformats.org/officeDocument/2006/math">
                    <m:r>
                      <a:rPr lang="en-IN" sz="1600" i="1">
                        <a:latin typeface="Cambria Math" panose="02040503050406030204" pitchFamily="18" charset="0"/>
                      </a:rPr>
                      <m:t>𝑦</m:t>
                    </m:r>
                  </m:oMath>
                </a14:m>
                <a:r>
                  <a:rPr lang="en-IN" sz="1600" dirty="0"/>
                  <a:t>= target values,  </a:t>
                </a:r>
                <a14:m>
                  <m:oMath xmlns:m="http://schemas.openxmlformats.org/officeDocument/2006/math">
                    <m:r>
                      <a:rPr lang="en-IN" sz="1600" i="1">
                        <a:latin typeface="Cambria Math" panose="02040503050406030204" pitchFamily="18" charset="0"/>
                      </a:rPr>
                      <m:t>𝑤</m:t>
                    </m:r>
                  </m:oMath>
                </a14:m>
                <a:r>
                  <a:rPr lang="en-IN" sz="1600" dirty="0"/>
                  <a:t>= feature weights</a:t>
                </a:r>
              </a:p>
              <a:p>
                <a:pPr marL="36900" indent="0">
                  <a:buNone/>
                </a:pPr>
                <a:r>
                  <a:rPr lang="en-IN" sz="1600" b="1" dirty="0"/>
                  <a:t>ADMM Updates : </a:t>
                </a:r>
                <a:r>
                  <a:rPr lang="en-IN" sz="1600" dirty="0"/>
                  <a:t>ADMM splits the optimization into smaller sub-problems:</a:t>
                </a:r>
              </a:p>
              <a:p>
                <a:r>
                  <a:rPr lang="en-IN" sz="1600" b="1" dirty="0"/>
                  <a:t>Weight Update: </a:t>
                </a:r>
                <a14:m>
                  <m:oMath xmlns:m="http://schemas.openxmlformats.org/officeDocument/2006/math">
                    <m:sSup>
                      <m:sSupPr>
                        <m:ctrlPr>
                          <a:rPr lang="ar-AE" sz="1600" i="1">
                            <a:latin typeface="Cambria Math" panose="02040503050406030204" pitchFamily="18" charset="0"/>
                          </a:rPr>
                        </m:ctrlPr>
                      </m:sSupPr>
                      <m:e>
                        <m:r>
                          <a:rPr lang="ar-AE" sz="1600" i="1">
                            <a:latin typeface="Cambria Math" panose="02040503050406030204" pitchFamily="18" charset="0"/>
                          </a:rPr>
                          <m:t>𝑤</m:t>
                        </m:r>
                      </m:e>
                      <m:sup>
                        <m:d>
                          <m:dPr>
                            <m:ctrlPr>
                              <a:rPr lang="ar-AE" sz="1600" i="1">
                                <a:latin typeface="Cambria Math" panose="02040503050406030204" pitchFamily="18" charset="0"/>
                              </a:rPr>
                            </m:ctrlPr>
                          </m:dPr>
                          <m:e>
                            <m:r>
                              <a:rPr lang="ar-AE" sz="1600" i="1">
                                <a:latin typeface="Cambria Math" panose="02040503050406030204" pitchFamily="18" charset="0"/>
                              </a:rPr>
                              <m:t>𝑡</m:t>
                            </m:r>
                            <m:r>
                              <a:rPr lang="ar-AE" sz="1600">
                                <a:latin typeface="Cambria Math" panose="02040503050406030204" pitchFamily="18" charset="0"/>
                              </a:rPr>
                              <m:t>+</m:t>
                            </m:r>
                            <m:r>
                              <a:rPr lang="ar-AE" sz="1600">
                                <a:latin typeface="Cambria Math" panose="02040503050406030204" pitchFamily="18" charset="0"/>
                              </a:rPr>
                              <m:t>1</m:t>
                            </m:r>
                          </m:e>
                        </m:d>
                      </m:sup>
                    </m:sSup>
                    <m:r>
                      <a:rPr lang="ar-AE" sz="1600">
                        <a:latin typeface="Cambria Math" panose="02040503050406030204" pitchFamily="18" charset="0"/>
                      </a:rPr>
                      <m:t>=</m:t>
                    </m:r>
                    <m:r>
                      <a:rPr lang="en-IN" sz="1600" b="0" i="1" smtClean="0">
                        <a:latin typeface="Cambria Math" panose="02040503050406030204" pitchFamily="18" charset="0"/>
                      </a:rPr>
                      <m:t>𝑎𝑟𝑔𝑚𝑖𝑛</m:t>
                    </m:r>
                    <m:r>
                      <m:rPr>
                        <m:nor/>
                      </m:rPr>
                      <a:rPr lang="ar-AE" sz="1600" i="1"/>
                      <m:t>    </m:t>
                    </m:r>
                    <m:f>
                      <m:fPr>
                        <m:ctrlPr>
                          <a:rPr lang="ar-AE" sz="1600" i="1">
                            <a:latin typeface="Cambria Math" panose="02040503050406030204" pitchFamily="18" charset="0"/>
                          </a:rPr>
                        </m:ctrlPr>
                      </m:fPr>
                      <m:num>
                        <m:r>
                          <a:rPr lang="ar-AE" sz="1600">
                            <a:latin typeface="Cambria Math" panose="02040503050406030204" pitchFamily="18" charset="0"/>
                          </a:rPr>
                          <m:t>1</m:t>
                        </m:r>
                      </m:num>
                      <m:den>
                        <m:r>
                          <a:rPr lang="ar-AE" sz="1600">
                            <a:latin typeface="Cambria Math" panose="02040503050406030204" pitchFamily="18" charset="0"/>
                          </a:rPr>
                          <m:t>2</m:t>
                        </m:r>
                      </m:den>
                    </m:f>
                    <m:r>
                      <a:rPr lang="ar-AE" sz="1600">
                        <a:latin typeface="Cambria Math" panose="02040503050406030204" pitchFamily="18" charset="0"/>
                      </a:rPr>
                      <m:t>∥</m:t>
                    </m:r>
                    <m:r>
                      <a:rPr lang="ar-AE" sz="1600" i="1">
                        <a:latin typeface="Cambria Math" panose="02040503050406030204" pitchFamily="18" charset="0"/>
                      </a:rPr>
                      <m:t>𝑋𝑤</m:t>
                    </m:r>
                    <m:r>
                      <a:rPr lang="ar-AE" sz="1600">
                        <a:latin typeface="Cambria Math" panose="02040503050406030204" pitchFamily="18" charset="0"/>
                      </a:rPr>
                      <m:t>−</m:t>
                    </m:r>
                    <m:r>
                      <a:rPr lang="ar-AE" sz="1600" i="1">
                        <a:latin typeface="Cambria Math" panose="02040503050406030204" pitchFamily="18" charset="0"/>
                      </a:rPr>
                      <m:t>𝑦</m:t>
                    </m:r>
                    <m:sSubSup>
                      <m:sSubSupPr>
                        <m:ctrlPr>
                          <a:rPr lang="ar-AE" sz="1600" i="1">
                            <a:latin typeface="Cambria Math" panose="02040503050406030204" pitchFamily="18" charset="0"/>
                          </a:rPr>
                        </m:ctrlPr>
                      </m:sSubSupPr>
                      <m:e>
                        <m:r>
                          <a:rPr lang="ar-AE" sz="1600">
                            <a:latin typeface="Cambria Math" panose="02040503050406030204" pitchFamily="18" charset="0"/>
                          </a:rPr>
                          <m:t>∥</m:t>
                        </m:r>
                      </m:e>
                      <m:sub>
                        <m:r>
                          <a:rPr lang="ar-AE" sz="1600">
                            <a:latin typeface="Cambria Math" panose="02040503050406030204" pitchFamily="18" charset="0"/>
                          </a:rPr>
                          <m:t>2</m:t>
                        </m:r>
                      </m:sub>
                      <m:sup>
                        <m:r>
                          <a:rPr lang="ar-AE" sz="1600">
                            <a:latin typeface="Cambria Math" panose="02040503050406030204" pitchFamily="18" charset="0"/>
                          </a:rPr>
                          <m:t>2</m:t>
                        </m:r>
                      </m:sup>
                    </m:sSubSup>
                    <m:r>
                      <a:rPr lang="ar-AE" sz="1600">
                        <a:latin typeface="Cambria Math" panose="02040503050406030204" pitchFamily="18" charset="0"/>
                      </a:rPr>
                      <m:t>+</m:t>
                    </m:r>
                    <m:f>
                      <m:fPr>
                        <m:ctrlPr>
                          <a:rPr lang="ar-AE" sz="1600" i="1">
                            <a:latin typeface="Cambria Math" panose="02040503050406030204" pitchFamily="18" charset="0"/>
                          </a:rPr>
                        </m:ctrlPr>
                      </m:fPr>
                      <m:num>
                        <m:r>
                          <a:rPr lang="ar-AE" sz="1600" i="1">
                            <a:latin typeface="Cambria Math" panose="02040503050406030204" pitchFamily="18" charset="0"/>
                          </a:rPr>
                          <m:t>𝜌</m:t>
                        </m:r>
                      </m:num>
                      <m:den>
                        <m:r>
                          <a:rPr lang="ar-AE" sz="1600">
                            <a:latin typeface="Cambria Math" panose="02040503050406030204" pitchFamily="18" charset="0"/>
                          </a:rPr>
                          <m:t>2</m:t>
                        </m:r>
                      </m:den>
                    </m:f>
                    <m:r>
                      <a:rPr lang="ar-AE" sz="1600">
                        <a:latin typeface="Cambria Math" panose="02040503050406030204" pitchFamily="18" charset="0"/>
                      </a:rPr>
                      <m:t>∥</m:t>
                    </m:r>
                    <m:r>
                      <a:rPr lang="ar-AE" sz="1600" i="1">
                        <a:latin typeface="Cambria Math" panose="02040503050406030204" pitchFamily="18" charset="0"/>
                      </a:rPr>
                      <m:t>𝑤</m:t>
                    </m:r>
                    <m:r>
                      <a:rPr lang="ar-AE" sz="1600">
                        <a:latin typeface="Cambria Math" panose="02040503050406030204" pitchFamily="18" charset="0"/>
                      </a:rPr>
                      <m:t>−</m:t>
                    </m:r>
                    <m:sSup>
                      <m:sSupPr>
                        <m:ctrlPr>
                          <a:rPr lang="ar-AE" sz="1600" i="1">
                            <a:latin typeface="Cambria Math" panose="02040503050406030204" pitchFamily="18" charset="0"/>
                          </a:rPr>
                        </m:ctrlPr>
                      </m:sSupPr>
                      <m:e>
                        <m:r>
                          <a:rPr lang="ar-AE" sz="1600" i="1">
                            <a:latin typeface="Cambria Math" panose="02040503050406030204" pitchFamily="18" charset="0"/>
                          </a:rPr>
                          <m:t>𝑧</m:t>
                        </m:r>
                      </m:e>
                      <m:sup>
                        <m:d>
                          <m:dPr>
                            <m:ctrlPr>
                              <a:rPr lang="ar-AE" sz="1600" i="1">
                                <a:latin typeface="Cambria Math" panose="02040503050406030204" pitchFamily="18" charset="0"/>
                              </a:rPr>
                            </m:ctrlPr>
                          </m:dPr>
                          <m:e>
                            <m:r>
                              <a:rPr lang="ar-AE" sz="1600" i="1">
                                <a:latin typeface="Cambria Math" panose="02040503050406030204" pitchFamily="18" charset="0"/>
                              </a:rPr>
                              <m:t>𝑡</m:t>
                            </m:r>
                          </m:e>
                        </m:d>
                      </m:sup>
                    </m:sSup>
                    <m:r>
                      <a:rPr lang="ar-AE" sz="1600">
                        <a:latin typeface="Cambria Math" panose="02040503050406030204" pitchFamily="18" charset="0"/>
                      </a:rPr>
                      <m:t>+</m:t>
                    </m:r>
                    <m:sSup>
                      <m:sSupPr>
                        <m:ctrlPr>
                          <a:rPr lang="ar-AE" sz="1600" i="1">
                            <a:latin typeface="Cambria Math" panose="02040503050406030204" pitchFamily="18" charset="0"/>
                          </a:rPr>
                        </m:ctrlPr>
                      </m:sSupPr>
                      <m:e>
                        <m:r>
                          <a:rPr lang="ar-AE" sz="1600" i="1">
                            <a:latin typeface="Cambria Math" panose="02040503050406030204" pitchFamily="18" charset="0"/>
                          </a:rPr>
                          <m:t>𝑢</m:t>
                        </m:r>
                      </m:e>
                      <m:sup>
                        <m:d>
                          <m:dPr>
                            <m:ctrlPr>
                              <a:rPr lang="ar-AE" sz="1600" i="1">
                                <a:latin typeface="Cambria Math" panose="02040503050406030204" pitchFamily="18" charset="0"/>
                              </a:rPr>
                            </m:ctrlPr>
                          </m:dPr>
                          <m:e>
                            <m:r>
                              <a:rPr lang="ar-AE" sz="1600" i="1">
                                <a:latin typeface="Cambria Math" panose="02040503050406030204" pitchFamily="18" charset="0"/>
                              </a:rPr>
                              <m:t>𝑡</m:t>
                            </m:r>
                          </m:e>
                        </m:d>
                      </m:sup>
                    </m:sSup>
                    <m:sSubSup>
                      <m:sSubSupPr>
                        <m:ctrlPr>
                          <a:rPr lang="ar-AE" sz="1600" i="1">
                            <a:latin typeface="Cambria Math" panose="02040503050406030204" pitchFamily="18" charset="0"/>
                          </a:rPr>
                        </m:ctrlPr>
                      </m:sSubSupPr>
                      <m:e>
                        <m:r>
                          <a:rPr lang="ar-AE" sz="1600">
                            <a:latin typeface="Cambria Math" panose="02040503050406030204" pitchFamily="18" charset="0"/>
                          </a:rPr>
                          <m:t>∥</m:t>
                        </m:r>
                      </m:e>
                      <m:sub>
                        <m:r>
                          <a:rPr lang="ar-AE" sz="1600">
                            <a:latin typeface="Cambria Math" panose="02040503050406030204" pitchFamily="18" charset="0"/>
                          </a:rPr>
                          <m:t>2</m:t>
                        </m:r>
                      </m:sub>
                      <m:sup>
                        <m:r>
                          <a:rPr lang="ar-AE" sz="1600">
                            <a:latin typeface="Cambria Math" panose="02040503050406030204" pitchFamily="18" charset="0"/>
                          </a:rPr>
                          <m:t>2</m:t>
                        </m:r>
                      </m:sup>
                    </m:sSubSup>
                  </m:oMath>
                </a14:m>
                <a:endParaRPr lang="en-IN" sz="1600" b="1" dirty="0"/>
              </a:p>
              <a:p>
                <a:r>
                  <a:rPr lang="en-IN" sz="1600" b="1" dirty="0"/>
                  <a:t>Z Update: </a:t>
                </a:r>
                <a14:m>
                  <m:oMath xmlns:m="http://schemas.openxmlformats.org/officeDocument/2006/math">
                    <m:sSup>
                      <m:sSupPr>
                        <m:ctrlPr>
                          <a:rPr lang="ar-AE" sz="1600" i="1" smtClean="0">
                            <a:latin typeface="Cambria Math" panose="02040503050406030204" pitchFamily="18" charset="0"/>
                          </a:rPr>
                        </m:ctrlPr>
                      </m:sSupPr>
                      <m:e>
                        <m:r>
                          <a:rPr lang="ar-AE" sz="1600" i="1">
                            <a:latin typeface="Cambria Math" panose="02040503050406030204" pitchFamily="18" charset="0"/>
                          </a:rPr>
                          <m:t>𝑧</m:t>
                        </m:r>
                      </m:e>
                      <m:sup>
                        <m:r>
                          <a:rPr lang="ar-AE" sz="1600" i="1">
                            <a:latin typeface="Cambria Math" panose="02040503050406030204" pitchFamily="18" charset="0"/>
                          </a:rPr>
                          <m:t>𝑡</m:t>
                        </m:r>
                        <m:r>
                          <a:rPr lang="ar-AE" sz="1600">
                            <a:latin typeface="Cambria Math" panose="02040503050406030204" pitchFamily="18" charset="0"/>
                          </a:rPr>
                          <m:t>+</m:t>
                        </m:r>
                        <m:r>
                          <a:rPr lang="ar-AE" sz="1600">
                            <a:latin typeface="Cambria Math" panose="02040503050406030204" pitchFamily="18" charset="0"/>
                          </a:rPr>
                          <m:t>1</m:t>
                        </m:r>
                      </m:sup>
                    </m:sSup>
                    <m:r>
                      <a:rPr lang="ar-AE" sz="1600">
                        <a:latin typeface="Cambria Math" panose="02040503050406030204" pitchFamily="18" charset="0"/>
                      </a:rPr>
                      <m:t>=</m:t>
                    </m:r>
                    <m:func>
                      <m:funcPr>
                        <m:ctrlPr>
                          <a:rPr lang="ar-AE" sz="1600" i="1">
                            <a:latin typeface="Cambria Math" panose="02040503050406030204" pitchFamily="18" charset="0"/>
                          </a:rPr>
                        </m:ctrlPr>
                      </m:funcPr>
                      <m:fName>
                        <m:r>
                          <m:rPr>
                            <m:sty m:val="p"/>
                          </m:rPr>
                          <a:rPr lang="en-IN" sz="1600">
                            <a:latin typeface="Cambria Math" panose="02040503050406030204" pitchFamily="18" charset="0"/>
                          </a:rPr>
                          <m:t>arg</m:t>
                        </m:r>
                      </m:fName>
                      <m:e>
                        <m:limLow>
                          <m:limLowPr>
                            <m:ctrlPr>
                              <a:rPr lang="ar-AE" sz="1600" i="1">
                                <a:latin typeface="Cambria Math" panose="02040503050406030204" pitchFamily="18" charset="0"/>
                              </a:rPr>
                            </m:ctrlPr>
                          </m:limLowPr>
                          <m:e>
                            <m:func>
                              <m:funcPr>
                                <m:ctrlPr>
                                  <a:rPr lang="ar-AE" sz="1600" i="1">
                                    <a:latin typeface="Cambria Math" panose="02040503050406030204" pitchFamily="18" charset="0"/>
                                  </a:rPr>
                                </m:ctrlPr>
                              </m:funcPr>
                              <m:fName>
                                <m:r>
                                  <m:rPr>
                                    <m:sty m:val="p"/>
                                  </m:rPr>
                                  <a:rPr lang="en-IN" sz="1600">
                                    <a:latin typeface="Cambria Math" panose="02040503050406030204" pitchFamily="18" charset="0"/>
                                  </a:rPr>
                                  <m:t>min</m:t>
                                </m:r>
                              </m:fName>
                              <m:e/>
                            </m:func>
                          </m:e>
                          <m:lim>
                            <m:r>
                              <a:rPr lang="ar-AE" sz="1600" i="1">
                                <a:latin typeface="Cambria Math" panose="02040503050406030204" pitchFamily="18" charset="0"/>
                              </a:rPr>
                              <m:t>𝑧</m:t>
                            </m:r>
                          </m:lim>
                        </m:limLow>
                      </m:e>
                    </m:func>
                    <m:r>
                      <a:rPr lang="ar-AE" sz="1600" i="1">
                        <a:latin typeface="Cambria Math" panose="02040503050406030204" pitchFamily="18" charset="0"/>
                      </a:rPr>
                      <m:t>𝜆</m:t>
                    </m:r>
                    <m:r>
                      <a:rPr lang="ar-AE" sz="1600">
                        <a:latin typeface="Cambria Math" panose="02040503050406030204" pitchFamily="18" charset="0"/>
                      </a:rPr>
                      <m:t>∥</m:t>
                    </m:r>
                    <m:r>
                      <a:rPr lang="ar-AE" sz="1600" i="1">
                        <a:latin typeface="Cambria Math" panose="02040503050406030204" pitchFamily="18" charset="0"/>
                      </a:rPr>
                      <m:t>𝑧</m:t>
                    </m:r>
                    <m:sSub>
                      <m:sSubPr>
                        <m:ctrlPr>
                          <a:rPr lang="ar-AE" sz="1600" i="1">
                            <a:latin typeface="Cambria Math" panose="02040503050406030204" pitchFamily="18" charset="0"/>
                          </a:rPr>
                        </m:ctrlPr>
                      </m:sSubPr>
                      <m:e>
                        <m:r>
                          <a:rPr lang="ar-AE" sz="1600">
                            <a:latin typeface="Cambria Math" panose="02040503050406030204" pitchFamily="18" charset="0"/>
                          </a:rPr>
                          <m:t>∥</m:t>
                        </m:r>
                      </m:e>
                      <m:sub>
                        <m:r>
                          <a:rPr lang="ar-AE" sz="1600">
                            <a:latin typeface="Cambria Math" panose="02040503050406030204" pitchFamily="18" charset="0"/>
                          </a:rPr>
                          <m:t>1</m:t>
                        </m:r>
                      </m:sub>
                    </m:sSub>
                    <m:r>
                      <a:rPr lang="ar-AE" sz="1600">
                        <a:latin typeface="Cambria Math" panose="02040503050406030204" pitchFamily="18" charset="0"/>
                      </a:rPr>
                      <m:t>+</m:t>
                    </m:r>
                    <m:f>
                      <m:fPr>
                        <m:ctrlPr>
                          <a:rPr lang="ar-AE" sz="1600" i="1">
                            <a:latin typeface="Cambria Math" panose="02040503050406030204" pitchFamily="18" charset="0"/>
                          </a:rPr>
                        </m:ctrlPr>
                      </m:fPr>
                      <m:num>
                        <m:r>
                          <a:rPr lang="ar-AE" sz="1600" i="1">
                            <a:latin typeface="Cambria Math" panose="02040503050406030204" pitchFamily="18" charset="0"/>
                          </a:rPr>
                          <m:t>𝜌</m:t>
                        </m:r>
                      </m:num>
                      <m:den>
                        <m:r>
                          <a:rPr lang="ar-AE" sz="1600">
                            <a:latin typeface="Cambria Math" panose="02040503050406030204" pitchFamily="18" charset="0"/>
                          </a:rPr>
                          <m:t>2</m:t>
                        </m:r>
                      </m:den>
                    </m:f>
                    <m:r>
                      <a:rPr lang="ar-AE" sz="1600">
                        <a:latin typeface="Cambria Math" panose="02040503050406030204" pitchFamily="18" charset="0"/>
                      </a:rPr>
                      <m:t>∥</m:t>
                    </m:r>
                    <m:sSup>
                      <m:sSupPr>
                        <m:ctrlPr>
                          <a:rPr lang="ar-AE" sz="1600" i="1">
                            <a:latin typeface="Cambria Math" panose="02040503050406030204" pitchFamily="18" charset="0"/>
                          </a:rPr>
                        </m:ctrlPr>
                      </m:sSupPr>
                      <m:e>
                        <m:r>
                          <a:rPr lang="ar-AE" sz="1600" i="1">
                            <a:latin typeface="Cambria Math" panose="02040503050406030204" pitchFamily="18" charset="0"/>
                          </a:rPr>
                          <m:t>𝑤</m:t>
                        </m:r>
                      </m:e>
                      <m:sup>
                        <m:r>
                          <a:rPr lang="ar-AE" sz="1600" i="1">
                            <a:latin typeface="Cambria Math" panose="02040503050406030204" pitchFamily="18" charset="0"/>
                          </a:rPr>
                          <m:t>𝑡</m:t>
                        </m:r>
                        <m:r>
                          <a:rPr lang="ar-AE" sz="1600">
                            <a:latin typeface="Cambria Math" panose="02040503050406030204" pitchFamily="18" charset="0"/>
                          </a:rPr>
                          <m:t>+</m:t>
                        </m:r>
                        <m:r>
                          <a:rPr lang="ar-AE" sz="1600">
                            <a:latin typeface="Cambria Math" panose="02040503050406030204" pitchFamily="18" charset="0"/>
                          </a:rPr>
                          <m:t>1</m:t>
                        </m:r>
                      </m:sup>
                    </m:sSup>
                    <m:r>
                      <a:rPr lang="ar-AE" sz="1600">
                        <a:latin typeface="Cambria Math" panose="02040503050406030204" pitchFamily="18" charset="0"/>
                      </a:rPr>
                      <m:t>−</m:t>
                    </m:r>
                    <m:r>
                      <a:rPr lang="ar-AE" sz="1600" i="1">
                        <a:latin typeface="Cambria Math" panose="02040503050406030204" pitchFamily="18" charset="0"/>
                      </a:rPr>
                      <m:t>𝑧</m:t>
                    </m:r>
                    <m:r>
                      <a:rPr lang="ar-AE" sz="1600">
                        <a:latin typeface="Cambria Math" panose="02040503050406030204" pitchFamily="18" charset="0"/>
                      </a:rPr>
                      <m:t>+</m:t>
                    </m:r>
                    <m:sSup>
                      <m:sSupPr>
                        <m:ctrlPr>
                          <a:rPr lang="ar-AE" sz="1600" i="1">
                            <a:latin typeface="Cambria Math" panose="02040503050406030204" pitchFamily="18" charset="0"/>
                          </a:rPr>
                        </m:ctrlPr>
                      </m:sSupPr>
                      <m:e>
                        <m:r>
                          <a:rPr lang="ar-AE" sz="1600" i="1">
                            <a:latin typeface="Cambria Math" panose="02040503050406030204" pitchFamily="18" charset="0"/>
                          </a:rPr>
                          <m:t>𝑢</m:t>
                        </m:r>
                      </m:e>
                      <m:sup>
                        <m:r>
                          <a:rPr lang="ar-AE" sz="1600" i="1">
                            <a:latin typeface="Cambria Math" panose="02040503050406030204" pitchFamily="18" charset="0"/>
                          </a:rPr>
                          <m:t>𝑡</m:t>
                        </m:r>
                      </m:sup>
                    </m:sSup>
                    <m:sSup>
                      <m:sSupPr>
                        <m:ctrlPr>
                          <a:rPr lang="ar-AE" sz="1600" i="1">
                            <a:latin typeface="Cambria Math" panose="02040503050406030204" pitchFamily="18" charset="0"/>
                          </a:rPr>
                        </m:ctrlPr>
                      </m:sSupPr>
                      <m:e>
                        <m:r>
                          <a:rPr lang="ar-AE" sz="1600">
                            <a:latin typeface="Cambria Math" panose="02040503050406030204" pitchFamily="18" charset="0"/>
                          </a:rPr>
                          <m:t>∥</m:t>
                        </m:r>
                      </m:e>
                      <m:sup>
                        <m:r>
                          <a:rPr lang="ar-AE" sz="1600">
                            <a:latin typeface="Cambria Math" panose="02040503050406030204" pitchFamily="18" charset="0"/>
                          </a:rPr>
                          <m:t>2</m:t>
                        </m:r>
                      </m:sup>
                    </m:sSup>
                  </m:oMath>
                </a14:m>
                <a:endParaRPr lang="en-IN" sz="1600" dirty="0"/>
              </a:p>
              <a:p>
                <a:r>
                  <a:rPr lang="en-IN" sz="1600" b="1" dirty="0"/>
                  <a:t>U Update:</a:t>
                </a:r>
                <a:r>
                  <a:rPr lang="en-IN" sz="1600" dirty="0"/>
                  <a:t>   </a:t>
                </a:r>
                <a14:m>
                  <m:oMath xmlns:m="http://schemas.openxmlformats.org/officeDocument/2006/math">
                    <m:r>
                      <a:rPr lang="en-IN" sz="1600" i="1">
                        <a:latin typeface="Cambria Math" panose="02040503050406030204" pitchFamily="18" charset="0"/>
                      </a:rPr>
                      <m:t>𝑢</m:t>
                    </m:r>
                    <m:r>
                      <a:rPr lang="en-IN" sz="1600">
                        <a:latin typeface="Cambria Math" panose="02040503050406030204" pitchFamily="18" charset="0"/>
                      </a:rPr>
                      <m:t>←</m:t>
                    </m:r>
                    <m:r>
                      <a:rPr lang="en-IN" sz="1600" i="1">
                        <a:latin typeface="Cambria Math" panose="02040503050406030204" pitchFamily="18" charset="0"/>
                      </a:rPr>
                      <m:t>𝑢</m:t>
                    </m:r>
                    <m:r>
                      <a:rPr lang="en-IN" sz="1600">
                        <a:latin typeface="Cambria Math" panose="02040503050406030204" pitchFamily="18" charset="0"/>
                      </a:rPr>
                      <m:t>+</m:t>
                    </m:r>
                    <m:d>
                      <m:dPr>
                        <m:ctrlPr>
                          <a:rPr lang="ar-AE" sz="1600" i="1">
                            <a:latin typeface="Cambria Math" panose="02040503050406030204" pitchFamily="18" charset="0"/>
                          </a:rPr>
                        </m:ctrlPr>
                      </m:dPr>
                      <m:e>
                        <m:r>
                          <a:rPr lang="ar-AE" sz="1600" i="1">
                            <a:latin typeface="Cambria Math" panose="02040503050406030204" pitchFamily="18" charset="0"/>
                          </a:rPr>
                          <m:t>𝑤</m:t>
                        </m:r>
                        <m:r>
                          <a:rPr lang="ar-AE" sz="1600">
                            <a:latin typeface="Cambria Math" panose="02040503050406030204" pitchFamily="18" charset="0"/>
                          </a:rPr>
                          <m:t>−</m:t>
                        </m:r>
                        <m:r>
                          <a:rPr lang="ar-AE" sz="1600" i="1">
                            <a:latin typeface="Cambria Math" panose="02040503050406030204" pitchFamily="18" charset="0"/>
                          </a:rPr>
                          <m:t>𝑧</m:t>
                        </m:r>
                      </m:e>
                    </m:d>
                  </m:oMath>
                </a14:m>
                <a:endParaRPr lang="en-IN" sz="1600" dirty="0"/>
              </a:p>
              <a:p>
                <a:pPr marL="36900" indent="0">
                  <a:buNone/>
                </a:pPr>
                <a:r>
                  <a:rPr lang="en-IN" sz="1600" b="1" dirty="0"/>
                  <a:t>Feature Selection</a:t>
                </a:r>
              </a:p>
              <a:p>
                <a:r>
                  <a:rPr lang="en-IN" sz="1600" dirty="0"/>
                  <a:t>After convergence, coefficients in </a:t>
                </a:r>
                <a14:m>
                  <m:oMath xmlns:m="http://schemas.openxmlformats.org/officeDocument/2006/math">
                    <m:r>
                      <a:rPr lang="en-IN" sz="1600" i="1">
                        <a:latin typeface="Cambria Math" panose="02040503050406030204" pitchFamily="18" charset="0"/>
                      </a:rPr>
                      <m:t>𝑧</m:t>
                    </m:r>
                    <m:r>
                      <a:rPr lang="en-IN" sz="1600" b="0" i="1" smtClean="0">
                        <a:latin typeface="Cambria Math" panose="02040503050406030204" pitchFamily="18" charset="0"/>
                      </a:rPr>
                      <m:t> </m:t>
                    </m:r>
                  </m:oMath>
                </a14:m>
                <a:r>
                  <a:rPr lang="en-IN" sz="1600" dirty="0"/>
                  <a:t>with largest magnitude indicate </a:t>
                </a:r>
                <a:r>
                  <a:rPr lang="en-IN" sz="1600" b="1" dirty="0"/>
                  <a:t>important features</a:t>
                </a:r>
                <a:r>
                  <a:rPr lang="en-IN" sz="1600" dirty="0"/>
                  <a:t>. Select top </a:t>
                </a:r>
                <a14:m>
                  <m:oMath xmlns:m="http://schemas.openxmlformats.org/officeDocument/2006/math">
                    <m:r>
                      <a:rPr lang="en-IN" sz="1600" i="1">
                        <a:latin typeface="Cambria Math" panose="02040503050406030204" pitchFamily="18" charset="0"/>
                      </a:rPr>
                      <m:t>𝑘</m:t>
                    </m:r>
                    <m:r>
                      <a:rPr lang="en-IN" sz="1600" b="0" i="1" smtClean="0">
                        <a:latin typeface="Cambria Math" panose="02040503050406030204" pitchFamily="18" charset="0"/>
                      </a:rPr>
                      <m:t> </m:t>
                    </m:r>
                  </m:oMath>
                </a14:m>
                <a:r>
                  <a:rPr lang="en-IN" sz="1600" dirty="0"/>
                  <a:t>features by ranking </a:t>
                </a:r>
                <a14:m>
                  <m:oMath xmlns:m="http://schemas.openxmlformats.org/officeDocument/2006/math">
                    <m:r>
                      <a:rPr lang="en-IN" sz="1600">
                        <a:latin typeface="Cambria Math" panose="02040503050406030204" pitchFamily="18" charset="0"/>
                      </a:rPr>
                      <m:t>∣</m:t>
                    </m:r>
                    <m:r>
                      <a:rPr lang="en-IN" sz="1600" i="1">
                        <a:latin typeface="Cambria Math" panose="02040503050406030204" pitchFamily="18" charset="0"/>
                      </a:rPr>
                      <m:t>𝑧</m:t>
                    </m:r>
                    <m:r>
                      <a:rPr lang="en-IN" sz="1600">
                        <a:latin typeface="Cambria Math" panose="02040503050406030204" pitchFamily="18" charset="0"/>
                      </a:rPr>
                      <m:t>∣</m:t>
                    </m:r>
                  </m:oMath>
                </a14:m>
                <a:r>
                  <a:rPr lang="en-IN" sz="1600" dirty="0"/>
                  <a:t>.</a:t>
                </a:r>
              </a:p>
            </p:txBody>
          </p:sp>
        </mc:Choice>
        <mc:Fallback>
          <p:sp>
            <p:nvSpPr>
              <p:cNvPr id="3" name="Content Placeholder 2">
                <a:extLst>
                  <a:ext uri="{FF2B5EF4-FFF2-40B4-BE49-F238E27FC236}">
                    <a16:creationId xmlns:a16="http://schemas.microsoft.com/office/drawing/2014/main" id="{2005C822-42BD-192B-2C22-D82C2A2CCBB2}"/>
                  </a:ext>
                </a:extLst>
              </p:cNvPr>
              <p:cNvSpPr>
                <a:spLocks noGrp="1" noRot="1" noChangeAspect="1" noMove="1" noResize="1" noEditPoints="1" noAdjustHandles="1" noChangeArrowheads="1" noChangeShapeType="1" noTextEdit="1"/>
              </p:cNvSpPr>
              <p:nvPr>
                <p:ph idx="1"/>
              </p:nvPr>
            </p:nvSpPr>
            <p:spPr>
              <a:xfrm>
                <a:off x="1014064" y="1501070"/>
                <a:ext cx="10687655" cy="4499680"/>
              </a:xfrm>
              <a:blipFill>
                <a:blip r:embed="rId2"/>
                <a:stretch>
                  <a:fillRect/>
                </a:stretch>
              </a:blipFill>
              <a:ln>
                <a:noFill/>
              </a:ln>
            </p:spPr>
            <p:txBody>
              <a:bodyPr/>
              <a:lstStyle/>
              <a:p>
                <a:r>
                  <a:rPr lang="en-IN">
                    <a:noFill/>
                  </a:rPr>
                  <a:t> </a:t>
                </a:r>
              </a:p>
            </p:txBody>
          </p:sp>
        </mc:Fallback>
      </mc:AlternateContent>
      <p:sp>
        <p:nvSpPr>
          <p:cNvPr id="7" name="Isosceles Triangle 6">
            <a:extLst>
              <a:ext uri="{FF2B5EF4-FFF2-40B4-BE49-F238E27FC236}">
                <a16:creationId xmlns:a16="http://schemas.microsoft.com/office/drawing/2014/main" id="{BE0768B3-1F2F-5642-4B54-6ED25DA051C7}"/>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F2E1CA32-B8CD-9C4B-C6FD-C4C2DB739D6C}"/>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68234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40C75-8E82-2845-05EC-1D1B93DBAA9F}"/>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E75C6D7-07EF-6CC7-2224-F508250F1584}"/>
              </a:ext>
            </a:extLst>
          </p:cNvPr>
          <p:cNvSpPr/>
          <p:nvPr/>
        </p:nvSpPr>
        <p:spPr>
          <a:xfrm>
            <a:off x="847119" y="1281112"/>
            <a:ext cx="10687655" cy="4900613"/>
          </a:xfrm>
          <a:prstGeom prst="roundRect">
            <a:avLst>
              <a:gd name="adj" fmla="val 11345"/>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41B9EDCD-DF43-285C-7FB3-7F29C5EED4B4}"/>
              </a:ext>
            </a:extLst>
          </p:cNvPr>
          <p:cNvSpPr>
            <a:spLocks noGrp="1"/>
          </p:cNvSpPr>
          <p:nvPr>
            <p:ph type="title"/>
          </p:nvPr>
        </p:nvSpPr>
        <p:spPr>
          <a:xfrm>
            <a:off x="847119" y="196145"/>
            <a:ext cx="10353762" cy="1257300"/>
          </a:xfrm>
        </p:spPr>
        <p:txBody>
          <a:bodyPr>
            <a:normAutofit/>
          </a:bodyPr>
          <a:lstStyle/>
          <a:p>
            <a:pPr algn="l"/>
            <a:r>
              <a:rPr lang="en-IN" sz="4800" dirty="0"/>
              <a:t>ADMM Feature Selection Design: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BFFF69-EC4E-8AF6-92D4-735DEAE81CD3}"/>
                  </a:ext>
                </a:extLst>
              </p:cNvPr>
              <p:cNvSpPr>
                <a:spLocks noGrp="1"/>
              </p:cNvSpPr>
              <p:nvPr>
                <p:ph idx="1"/>
              </p:nvPr>
            </p:nvSpPr>
            <p:spPr>
              <a:xfrm>
                <a:off x="1014064" y="1501070"/>
                <a:ext cx="10687655" cy="4499680"/>
              </a:xfrm>
              <a:noFill/>
              <a:ln>
                <a:noFill/>
              </a:ln>
            </p:spPr>
            <p:style>
              <a:lnRef idx="2">
                <a:schemeClr val="dk1"/>
              </a:lnRef>
              <a:fillRef idx="1">
                <a:schemeClr val="lt1"/>
              </a:fillRef>
              <a:effectRef idx="0">
                <a:schemeClr val="dk1"/>
              </a:effectRef>
              <a:fontRef idx="minor">
                <a:schemeClr val="dk1"/>
              </a:fontRef>
            </p:style>
            <p:txBody>
              <a:bodyPr>
                <a:noAutofit/>
              </a:bodyPr>
              <a:lstStyle/>
              <a:p>
                <a:pPr marL="36900" indent="0">
                  <a:buNone/>
                </a:pPr>
                <a:r>
                  <a:rPr lang="en-IN" sz="1600" b="1" dirty="0">
                    <a:effectLst/>
                  </a:rPr>
                  <a:t>The optimization problem:</a:t>
                </a:r>
                <a:endParaRPr lang="en-IN" sz="1600" dirty="0">
                  <a:effectLst/>
                </a:endParaRPr>
              </a:p>
              <a:p>
                <a:pPr lvl="0"/>
                <a14:m>
                  <m:oMath xmlns:m="http://schemas.openxmlformats.org/officeDocument/2006/math">
                    <m:limLow>
                      <m:limLowPr>
                        <m:ctrlPr>
                          <a:rPr lang="en-IN" sz="1600" i="1">
                            <a:effectLst/>
                            <a:latin typeface="Cambria Math" panose="02040503050406030204" pitchFamily="18" charset="0"/>
                          </a:rPr>
                        </m:ctrlPr>
                      </m:limLowPr>
                      <m:e>
                        <m:r>
                          <m:rPr>
                            <m:sty m:val="p"/>
                          </m:rPr>
                          <a:rPr lang="en-IN" sz="1600">
                            <a:effectLst/>
                            <a:latin typeface="Cambria Math" panose="02040503050406030204" pitchFamily="18" charset="0"/>
                          </a:rPr>
                          <m:t>min</m:t>
                        </m:r>
                        <m:r>
                          <a:rPr lang="en-IN" sz="1600" i="1">
                            <a:effectLst/>
                            <a:latin typeface="Cambria Math" panose="02040503050406030204" pitchFamily="18" charset="0"/>
                          </a:rPr>
                          <m:t>⁡</m:t>
                        </m:r>
                      </m:e>
                      <m:lim>
                        <m:r>
                          <a:rPr lang="en-IN" sz="1600" i="1">
                            <a:effectLst/>
                            <a:latin typeface="Cambria Math" panose="02040503050406030204" pitchFamily="18" charset="0"/>
                          </a:rPr>
                          <m:t>𝑤</m:t>
                        </m:r>
                      </m:lim>
                    </m:limLow>
                    <m:f>
                      <m:fPr>
                        <m:ctrlPr>
                          <a:rPr lang="en-IN" sz="1600" i="1">
                            <a:effectLst/>
                            <a:latin typeface="Cambria Math" panose="02040503050406030204" pitchFamily="18" charset="0"/>
                          </a:rPr>
                        </m:ctrlPr>
                      </m:fPr>
                      <m:num>
                        <m:r>
                          <a:rPr lang="en-IN" sz="1600" i="1">
                            <a:effectLst/>
                            <a:latin typeface="Cambria Math" panose="02040503050406030204" pitchFamily="18" charset="0"/>
                          </a:rPr>
                          <m:t>1</m:t>
                        </m:r>
                      </m:num>
                      <m:den>
                        <m:r>
                          <a:rPr lang="en-IN" sz="1600" i="1">
                            <a:effectLst/>
                            <a:latin typeface="Cambria Math" panose="02040503050406030204" pitchFamily="18" charset="0"/>
                          </a:rPr>
                          <m:t>2</m:t>
                        </m:r>
                      </m:den>
                    </m:f>
                    <m:r>
                      <a:rPr lang="en-IN" sz="1600">
                        <a:effectLst/>
                        <a:latin typeface="Cambria Math" panose="02040503050406030204" pitchFamily="18" charset="0"/>
                      </a:rPr>
                      <m:t>∥</m:t>
                    </m:r>
                    <m:r>
                      <a:rPr lang="en-IN" sz="1600" i="1">
                        <a:effectLst/>
                        <a:latin typeface="Cambria Math" panose="02040503050406030204" pitchFamily="18" charset="0"/>
                      </a:rPr>
                      <m:t>𝑋𝑤</m:t>
                    </m:r>
                    <m:r>
                      <a:rPr lang="en-IN" sz="1600" i="1">
                        <a:effectLst/>
                        <a:latin typeface="Cambria Math" panose="02040503050406030204" pitchFamily="18" charset="0"/>
                      </a:rPr>
                      <m:t>−</m:t>
                    </m:r>
                    <m:r>
                      <a:rPr lang="en-IN" sz="1600" i="1">
                        <a:effectLst/>
                        <a:latin typeface="Cambria Math" panose="02040503050406030204" pitchFamily="18" charset="0"/>
                      </a:rPr>
                      <m:t>𝑦</m:t>
                    </m:r>
                    <m:sSup>
                      <m:sSupPr>
                        <m:ctrlPr>
                          <a:rPr lang="en-IN" sz="1600" i="1">
                            <a:effectLst/>
                            <a:latin typeface="Cambria Math" panose="02040503050406030204" pitchFamily="18" charset="0"/>
                          </a:rPr>
                        </m:ctrlPr>
                      </m:sSupPr>
                      <m:e>
                        <m:r>
                          <a:rPr lang="en-IN" sz="1600">
                            <a:effectLst/>
                            <a:latin typeface="Cambria Math" panose="02040503050406030204" pitchFamily="18" charset="0"/>
                          </a:rPr>
                          <m:t>∥</m:t>
                        </m:r>
                      </m:e>
                      <m:sup>
                        <m:r>
                          <a:rPr lang="en-IN" sz="1600" i="1">
                            <a:effectLst/>
                            <a:latin typeface="Cambria Math" panose="02040503050406030204" pitchFamily="18" charset="0"/>
                          </a:rPr>
                          <m:t>2</m:t>
                        </m:r>
                      </m:sup>
                    </m:sSup>
                    <m:r>
                      <a:rPr lang="en-IN" sz="1600" i="1">
                        <a:effectLst/>
                        <a:latin typeface="Cambria Math" panose="02040503050406030204" pitchFamily="18" charset="0"/>
                      </a:rPr>
                      <m:t>+</m:t>
                    </m:r>
                    <m:r>
                      <a:rPr lang="en-IN" sz="1600" i="1">
                        <a:effectLst/>
                        <a:latin typeface="Cambria Math" panose="02040503050406030204" pitchFamily="18" charset="0"/>
                      </a:rPr>
                      <m:t>𝜆</m:t>
                    </m:r>
                    <m:r>
                      <a:rPr lang="en-IN" sz="1600">
                        <a:effectLst/>
                        <a:latin typeface="Cambria Math" panose="02040503050406030204" pitchFamily="18" charset="0"/>
                      </a:rPr>
                      <m:t>∥</m:t>
                    </m:r>
                    <m:r>
                      <a:rPr lang="en-IN" sz="1600" i="1">
                        <a:effectLst/>
                        <a:latin typeface="Cambria Math" panose="02040503050406030204" pitchFamily="18" charset="0"/>
                      </a:rPr>
                      <m:t>𝑤</m:t>
                    </m:r>
                    <m:sSub>
                      <m:sSubPr>
                        <m:ctrlPr>
                          <a:rPr lang="en-IN" sz="1600" i="1">
                            <a:effectLst/>
                            <a:latin typeface="Cambria Math" panose="02040503050406030204" pitchFamily="18" charset="0"/>
                          </a:rPr>
                        </m:ctrlPr>
                      </m:sSubPr>
                      <m:e>
                        <m:r>
                          <a:rPr lang="en-IN" sz="1600">
                            <a:effectLst/>
                            <a:latin typeface="Cambria Math" panose="02040503050406030204" pitchFamily="18" charset="0"/>
                          </a:rPr>
                          <m:t>∥</m:t>
                        </m:r>
                      </m:e>
                      <m:sub>
                        <m:r>
                          <a:rPr lang="en-IN" sz="1600" i="1">
                            <a:effectLst/>
                            <a:latin typeface="Cambria Math" panose="02040503050406030204" pitchFamily="18" charset="0"/>
                          </a:rPr>
                          <m:t>1</m:t>
                        </m:r>
                      </m:sub>
                    </m:sSub>
                  </m:oMath>
                </a14:m>
                <a:endParaRPr lang="en-IN" sz="1600" dirty="0">
                  <a:effectLst/>
                </a:endParaRPr>
              </a:p>
              <a:p>
                <a:pPr marL="36900" lvl="0" indent="0">
                  <a:buNone/>
                </a:pPr>
                <a:r>
                  <a:rPr lang="en-IN" sz="1600" b="1" dirty="0">
                    <a:effectLst/>
                  </a:rPr>
                  <a:t>ADMM reformulation</a:t>
                </a:r>
                <a:endParaRPr lang="en-IN" sz="1600" dirty="0">
                  <a:effectLst/>
                </a:endParaRPr>
              </a:p>
              <a:p>
                <a:pPr lvl="0"/>
                <a:r>
                  <a:rPr lang="en-IN" sz="1600" dirty="0">
                    <a:effectLst/>
                  </a:rPr>
                  <a:t>ADMM splits this into two variables, w and z, with the constraint </a:t>
                </a:r>
                <a14:m>
                  <m:oMath xmlns:m="http://schemas.openxmlformats.org/officeDocument/2006/math">
                    <m:r>
                      <a:rPr lang="en-IN" sz="1600" i="1">
                        <a:effectLst/>
                        <a:latin typeface="Cambria Math" panose="02040503050406030204" pitchFamily="18" charset="0"/>
                      </a:rPr>
                      <m:t>𝑤</m:t>
                    </m:r>
                    <m:r>
                      <a:rPr lang="en-IN" sz="1600" i="1">
                        <a:effectLst/>
                        <a:latin typeface="Cambria Math" panose="02040503050406030204" pitchFamily="18" charset="0"/>
                      </a:rPr>
                      <m:t>=</m:t>
                    </m:r>
                    <m:r>
                      <a:rPr lang="en-IN" sz="1600" i="1">
                        <a:effectLst/>
                        <a:latin typeface="Cambria Math" panose="02040503050406030204" pitchFamily="18" charset="0"/>
                      </a:rPr>
                      <m:t>𝑧</m:t>
                    </m:r>
                  </m:oMath>
                </a14:m>
                <a:r>
                  <a:rPr lang="en-IN" sz="1600" dirty="0">
                    <a:effectLst/>
                  </a:rPr>
                  <a:t>:    </a:t>
                </a:r>
              </a:p>
              <a:p>
                <a:pPr lvl="0"/>
                <a:r>
                  <a:rPr lang="en-IN" sz="1600" dirty="0">
                    <a:effectLst/>
                  </a:rPr>
                  <a:t> </a:t>
                </a:r>
                <a14:m>
                  <m:oMath xmlns:m="http://schemas.openxmlformats.org/officeDocument/2006/math">
                    <m:limLow>
                      <m:limLowPr>
                        <m:ctrlPr>
                          <a:rPr lang="en-IN" sz="1600" i="1" smtClean="0">
                            <a:effectLst/>
                            <a:latin typeface="Cambria Math" panose="02040503050406030204" pitchFamily="18" charset="0"/>
                          </a:rPr>
                        </m:ctrlPr>
                      </m:limLowPr>
                      <m:e>
                        <m:r>
                          <m:rPr>
                            <m:sty m:val="p"/>
                          </m:rPr>
                          <a:rPr lang="en-IN" sz="1600">
                            <a:effectLst/>
                            <a:latin typeface="Cambria Math" panose="02040503050406030204" pitchFamily="18" charset="0"/>
                          </a:rPr>
                          <m:t>min</m:t>
                        </m:r>
                        <m:r>
                          <a:rPr lang="en-IN" sz="1600" i="1">
                            <a:effectLst/>
                            <a:latin typeface="Cambria Math" panose="02040503050406030204" pitchFamily="18" charset="0"/>
                          </a:rPr>
                          <m:t>⁡</m:t>
                        </m:r>
                      </m:e>
                      <m:lim>
                        <m:r>
                          <a:rPr lang="en-IN" sz="1600" i="1">
                            <a:effectLst/>
                            <a:latin typeface="Cambria Math" panose="02040503050406030204" pitchFamily="18" charset="0"/>
                          </a:rPr>
                          <m:t>𝑤</m:t>
                        </m:r>
                        <m:r>
                          <a:rPr lang="en-IN" sz="1600" i="1">
                            <a:effectLst/>
                            <a:latin typeface="Cambria Math" panose="02040503050406030204" pitchFamily="18" charset="0"/>
                          </a:rPr>
                          <m:t>,</m:t>
                        </m:r>
                        <m:r>
                          <a:rPr lang="en-IN" sz="1600" i="1">
                            <a:effectLst/>
                            <a:latin typeface="Cambria Math" panose="02040503050406030204" pitchFamily="18" charset="0"/>
                          </a:rPr>
                          <m:t>𝑧</m:t>
                        </m:r>
                      </m:lim>
                    </m:limLow>
                    <m:f>
                      <m:fPr>
                        <m:ctrlPr>
                          <a:rPr lang="en-IN" sz="1600" i="1">
                            <a:effectLst/>
                            <a:latin typeface="Cambria Math" panose="02040503050406030204" pitchFamily="18" charset="0"/>
                          </a:rPr>
                        </m:ctrlPr>
                      </m:fPr>
                      <m:num>
                        <m:r>
                          <a:rPr lang="en-IN" sz="1600" i="1">
                            <a:effectLst/>
                            <a:latin typeface="Cambria Math" panose="02040503050406030204" pitchFamily="18" charset="0"/>
                          </a:rPr>
                          <m:t>1</m:t>
                        </m:r>
                      </m:num>
                      <m:den>
                        <m:r>
                          <a:rPr lang="en-IN" sz="1600" i="1">
                            <a:effectLst/>
                            <a:latin typeface="Cambria Math" panose="02040503050406030204" pitchFamily="18" charset="0"/>
                          </a:rPr>
                          <m:t>2</m:t>
                        </m:r>
                      </m:den>
                    </m:f>
                    <m:r>
                      <a:rPr lang="en-IN" sz="1600">
                        <a:effectLst/>
                        <a:latin typeface="Cambria Math" panose="02040503050406030204" pitchFamily="18" charset="0"/>
                      </a:rPr>
                      <m:t>∥</m:t>
                    </m:r>
                    <m:r>
                      <a:rPr lang="en-IN" sz="1600" i="1">
                        <a:effectLst/>
                        <a:latin typeface="Cambria Math" panose="02040503050406030204" pitchFamily="18" charset="0"/>
                      </a:rPr>
                      <m:t>𝑋𝑤</m:t>
                    </m:r>
                    <m:r>
                      <a:rPr lang="en-IN" sz="1600" i="1">
                        <a:effectLst/>
                        <a:latin typeface="Cambria Math" panose="02040503050406030204" pitchFamily="18" charset="0"/>
                      </a:rPr>
                      <m:t>−</m:t>
                    </m:r>
                    <m:r>
                      <a:rPr lang="en-IN" sz="1600" i="1">
                        <a:effectLst/>
                        <a:latin typeface="Cambria Math" panose="02040503050406030204" pitchFamily="18" charset="0"/>
                      </a:rPr>
                      <m:t>𝑦</m:t>
                    </m:r>
                    <m:sSup>
                      <m:sSupPr>
                        <m:ctrlPr>
                          <a:rPr lang="en-IN" sz="1600" i="1">
                            <a:effectLst/>
                            <a:latin typeface="Cambria Math" panose="02040503050406030204" pitchFamily="18" charset="0"/>
                          </a:rPr>
                        </m:ctrlPr>
                      </m:sSupPr>
                      <m:e>
                        <m:r>
                          <a:rPr lang="en-IN" sz="1600">
                            <a:effectLst/>
                            <a:latin typeface="Cambria Math" panose="02040503050406030204" pitchFamily="18" charset="0"/>
                          </a:rPr>
                          <m:t>∥</m:t>
                        </m:r>
                      </m:e>
                      <m:sup>
                        <m:r>
                          <a:rPr lang="en-IN" sz="1600" i="1">
                            <a:effectLst/>
                            <a:latin typeface="Cambria Math" panose="02040503050406030204" pitchFamily="18" charset="0"/>
                          </a:rPr>
                          <m:t>2</m:t>
                        </m:r>
                      </m:sup>
                    </m:sSup>
                    <m:r>
                      <a:rPr lang="en-IN" sz="1600" i="1">
                        <a:effectLst/>
                        <a:latin typeface="Cambria Math" panose="02040503050406030204" pitchFamily="18" charset="0"/>
                      </a:rPr>
                      <m:t>+</m:t>
                    </m:r>
                    <m:r>
                      <a:rPr lang="en-IN" sz="1600" i="1">
                        <a:effectLst/>
                        <a:latin typeface="Cambria Math" panose="02040503050406030204" pitchFamily="18" charset="0"/>
                      </a:rPr>
                      <m:t>𝜆</m:t>
                    </m:r>
                    <m:r>
                      <a:rPr lang="en-IN" sz="1600">
                        <a:effectLst/>
                        <a:latin typeface="Cambria Math" panose="02040503050406030204" pitchFamily="18" charset="0"/>
                      </a:rPr>
                      <m:t>∥</m:t>
                    </m:r>
                    <m:r>
                      <a:rPr lang="en-IN" sz="1600" i="1">
                        <a:effectLst/>
                        <a:latin typeface="Cambria Math" panose="02040503050406030204" pitchFamily="18" charset="0"/>
                      </a:rPr>
                      <m:t>𝑧</m:t>
                    </m:r>
                    <m:sSub>
                      <m:sSubPr>
                        <m:ctrlPr>
                          <a:rPr lang="en-IN" sz="1600" i="1">
                            <a:effectLst/>
                            <a:latin typeface="Cambria Math" panose="02040503050406030204" pitchFamily="18" charset="0"/>
                          </a:rPr>
                        </m:ctrlPr>
                      </m:sSubPr>
                      <m:e>
                        <m:r>
                          <a:rPr lang="en-IN" sz="1600">
                            <a:effectLst/>
                            <a:latin typeface="Cambria Math" panose="02040503050406030204" pitchFamily="18" charset="0"/>
                          </a:rPr>
                          <m:t>∥</m:t>
                        </m:r>
                      </m:e>
                      <m:sub>
                        <m:r>
                          <a:rPr lang="en-IN" sz="1600" i="1">
                            <a:effectLst/>
                            <a:latin typeface="Cambria Math" panose="02040503050406030204" pitchFamily="18" charset="0"/>
                          </a:rPr>
                          <m:t>1</m:t>
                        </m:r>
                      </m:sub>
                    </m:sSub>
                    <m:r>
                      <a:rPr lang="en-IN" sz="1600" i="1">
                        <a:effectLst/>
                        <a:latin typeface="Cambria Math" panose="02040503050406030204" pitchFamily="18" charset="0"/>
                      </a:rPr>
                      <m:t>𝑠</m:t>
                    </m:r>
                    <m:r>
                      <a:rPr lang="en-IN" sz="1600">
                        <a:effectLst/>
                        <a:latin typeface="Cambria Math" panose="02040503050406030204" pitchFamily="18" charset="0"/>
                      </a:rPr>
                      <m:t>.</m:t>
                    </m:r>
                    <m:r>
                      <a:rPr lang="en-IN" sz="1600" i="1">
                        <a:effectLst/>
                        <a:latin typeface="Cambria Math" panose="02040503050406030204" pitchFamily="18" charset="0"/>
                      </a:rPr>
                      <m:t>𝑡</m:t>
                    </m:r>
                    <m:r>
                      <a:rPr lang="en-IN" sz="1600">
                        <a:effectLst/>
                        <a:latin typeface="Cambria Math" panose="02040503050406030204" pitchFamily="18" charset="0"/>
                      </a:rPr>
                      <m:t>. </m:t>
                    </m:r>
                    <m:r>
                      <a:rPr lang="en-IN" sz="1600" i="1">
                        <a:effectLst/>
                        <a:latin typeface="Cambria Math" panose="02040503050406030204" pitchFamily="18" charset="0"/>
                      </a:rPr>
                      <m:t>𝑤</m:t>
                    </m:r>
                    <m:r>
                      <a:rPr lang="en-IN" sz="1600" i="1">
                        <a:effectLst/>
                        <a:latin typeface="Cambria Math" panose="02040503050406030204" pitchFamily="18" charset="0"/>
                      </a:rPr>
                      <m:t>=</m:t>
                    </m:r>
                    <m:r>
                      <a:rPr lang="en-IN" sz="1600" i="1">
                        <a:effectLst/>
                        <a:latin typeface="Cambria Math" panose="02040503050406030204" pitchFamily="18" charset="0"/>
                      </a:rPr>
                      <m:t>𝑧</m:t>
                    </m:r>
                  </m:oMath>
                </a14:m>
                <a:endParaRPr lang="en-IN" sz="1600" dirty="0">
                  <a:effectLst/>
                </a:endParaRPr>
              </a:p>
              <a:p>
                <a:pPr lvl="0"/>
                <a:r>
                  <a:rPr lang="en-IN" sz="1600" dirty="0">
                    <a:effectLst/>
                  </a:rPr>
                  <a:t>The constraint </a:t>
                </a:r>
                <a14:m>
                  <m:oMath xmlns:m="http://schemas.openxmlformats.org/officeDocument/2006/math">
                    <m:r>
                      <a:rPr lang="en-IN" sz="1600" i="1">
                        <a:effectLst/>
                        <a:latin typeface="Cambria Math" panose="02040503050406030204" pitchFamily="18" charset="0"/>
                      </a:rPr>
                      <m:t>𝑤</m:t>
                    </m:r>
                    <m:r>
                      <a:rPr lang="en-IN" sz="1600" i="1">
                        <a:effectLst/>
                        <a:latin typeface="Cambria Math" panose="02040503050406030204" pitchFamily="18" charset="0"/>
                      </a:rPr>
                      <m:t>=</m:t>
                    </m:r>
                    <m:r>
                      <a:rPr lang="en-IN" sz="1600" i="1">
                        <a:effectLst/>
                        <a:latin typeface="Cambria Math" panose="02040503050406030204" pitchFamily="18" charset="0"/>
                      </a:rPr>
                      <m:t>𝑧</m:t>
                    </m:r>
                  </m:oMath>
                </a14:m>
                <a:endParaRPr lang="en-IN" sz="1600" dirty="0">
                  <a:effectLst/>
                </a:endParaRPr>
              </a:p>
              <a:p>
                <a:pPr marL="36900" lvl="0" indent="0">
                  <a:buNone/>
                </a:pPr>
                <a:r>
                  <a:rPr lang="en-IN" sz="1600" b="1" dirty="0">
                    <a:effectLst/>
                  </a:rPr>
                  <a:t>Augmented </a:t>
                </a:r>
                <a:r>
                  <a:rPr lang="en-IN" sz="1600" b="1" dirty="0" err="1">
                    <a:effectLst/>
                  </a:rPr>
                  <a:t>Lagrangian</a:t>
                </a:r>
                <a:endParaRPr lang="en-IN" sz="1600" dirty="0">
                  <a:effectLst/>
                </a:endParaRPr>
              </a:p>
              <a:p>
                <a:pPr lvl="0"/>
                <a14:m>
                  <m:oMath xmlns:m="http://schemas.openxmlformats.org/officeDocument/2006/math">
                    <m:sSub>
                      <m:sSubPr>
                        <m:ctrlPr>
                          <a:rPr lang="en-IN" sz="1600" i="1" smtClean="0">
                            <a:effectLst/>
                            <a:latin typeface="Cambria Math" panose="02040503050406030204" pitchFamily="18" charset="0"/>
                          </a:rPr>
                        </m:ctrlPr>
                      </m:sSubPr>
                      <m:e>
                        <m:r>
                          <a:rPr lang="en-IN" sz="1600" i="1">
                            <a:effectLst/>
                            <a:latin typeface="Cambria Math" panose="02040503050406030204" pitchFamily="18" charset="0"/>
                          </a:rPr>
                          <m:t>𝐿</m:t>
                        </m:r>
                      </m:e>
                      <m:sub>
                        <m:r>
                          <a:rPr lang="en-IN" sz="1600" i="1">
                            <a:effectLst/>
                            <a:latin typeface="Cambria Math" panose="02040503050406030204" pitchFamily="18" charset="0"/>
                          </a:rPr>
                          <m:t>𝜌</m:t>
                        </m:r>
                      </m:sub>
                    </m:sSub>
                    <m:r>
                      <a:rPr lang="en-IN" sz="1600" i="1">
                        <a:effectLst/>
                        <a:latin typeface="Cambria Math" panose="02040503050406030204" pitchFamily="18" charset="0"/>
                      </a:rPr>
                      <m:t>(</m:t>
                    </m:r>
                    <m:r>
                      <a:rPr lang="en-IN" sz="1600" i="1">
                        <a:effectLst/>
                        <a:latin typeface="Cambria Math" panose="02040503050406030204" pitchFamily="18" charset="0"/>
                      </a:rPr>
                      <m:t>𝑤</m:t>
                    </m:r>
                    <m:r>
                      <a:rPr lang="en-IN" sz="1600" i="1">
                        <a:effectLst/>
                        <a:latin typeface="Cambria Math" panose="02040503050406030204" pitchFamily="18" charset="0"/>
                      </a:rPr>
                      <m:t>,</m:t>
                    </m:r>
                    <m:r>
                      <a:rPr lang="en-IN" sz="1600" i="1">
                        <a:effectLst/>
                        <a:latin typeface="Cambria Math" panose="02040503050406030204" pitchFamily="18" charset="0"/>
                      </a:rPr>
                      <m:t>𝑧</m:t>
                    </m:r>
                    <m:r>
                      <a:rPr lang="en-IN" sz="1600" i="1">
                        <a:effectLst/>
                        <a:latin typeface="Cambria Math" panose="02040503050406030204" pitchFamily="18" charset="0"/>
                      </a:rPr>
                      <m:t>,</m:t>
                    </m:r>
                    <m:r>
                      <a:rPr lang="en-IN" sz="1600" i="1">
                        <a:effectLst/>
                        <a:latin typeface="Cambria Math" panose="02040503050406030204" pitchFamily="18" charset="0"/>
                      </a:rPr>
                      <m:t>𝑢</m:t>
                    </m:r>
                    <m:r>
                      <a:rPr lang="en-IN" sz="1600" i="1">
                        <a:effectLst/>
                        <a:latin typeface="Cambria Math" panose="02040503050406030204" pitchFamily="18" charset="0"/>
                      </a:rPr>
                      <m:t>)=</m:t>
                    </m:r>
                    <m:f>
                      <m:fPr>
                        <m:ctrlPr>
                          <a:rPr lang="en-IN" sz="1600" i="1">
                            <a:effectLst/>
                            <a:latin typeface="Cambria Math" panose="02040503050406030204" pitchFamily="18" charset="0"/>
                          </a:rPr>
                        </m:ctrlPr>
                      </m:fPr>
                      <m:num>
                        <m:r>
                          <a:rPr lang="en-IN" sz="1600" i="1">
                            <a:effectLst/>
                            <a:latin typeface="Cambria Math" panose="02040503050406030204" pitchFamily="18" charset="0"/>
                          </a:rPr>
                          <m:t>1</m:t>
                        </m:r>
                      </m:num>
                      <m:den>
                        <m:r>
                          <a:rPr lang="en-IN" sz="1600" i="1">
                            <a:effectLst/>
                            <a:latin typeface="Cambria Math" panose="02040503050406030204" pitchFamily="18" charset="0"/>
                          </a:rPr>
                          <m:t>2</m:t>
                        </m:r>
                      </m:den>
                    </m:f>
                    <m:r>
                      <a:rPr lang="en-IN" sz="1600">
                        <a:effectLst/>
                        <a:latin typeface="Cambria Math" panose="02040503050406030204" pitchFamily="18" charset="0"/>
                      </a:rPr>
                      <m:t>∥</m:t>
                    </m:r>
                    <m:r>
                      <a:rPr lang="en-IN" sz="1600" i="1">
                        <a:effectLst/>
                        <a:latin typeface="Cambria Math" panose="02040503050406030204" pitchFamily="18" charset="0"/>
                      </a:rPr>
                      <m:t>𝑋𝑤</m:t>
                    </m:r>
                    <m:r>
                      <a:rPr lang="en-IN" sz="1600" i="1">
                        <a:effectLst/>
                        <a:latin typeface="Cambria Math" panose="02040503050406030204" pitchFamily="18" charset="0"/>
                      </a:rPr>
                      <m:t>−</m:t>
                    </m:r>
                    <m:r>
                      <a:rPr lang="en-IN" sz="1600" i="1">
                        <a:effectLst/>
                        <a:latin typeface="Cambria Math" panose="02040503050406030204" pitchFamily="18" charset="0"/>
                      </a:rPr>
                      <m:t>𝑦</m:t>
                    </m:r>
                    <m:sSup>
                      <m:sSupPr>
                        <m:ctrlPr>
                          <a:rPr lang="en-IN" sz="1600" i="1">
                            <a:effectLst/>
                            <a:latin typeface="Cambria Math" panose="02040503050406030204" pitchFamily="18" charset="0"/>
                          </a:rPr>
                        </m:ctrlPr>
                      </m:sSupPr>
                      <m:e>
                        <m:r>
                          <a:rPr lang="en-IN" sz="1600">
                            <a:effectLst/>
                            <a:latin typeface="Cambria Math" panose="02040503050406030204" pitchFamily="18" charset="0"/>
                          </a:rPr>
                          <m:t>∥</m:t>
                        </m:r>
                      </m:e>
                      <m:sup>
                        <m:r>
                          <a:rPr lang="en-IN" sz="1600" i="1">
                            <a:effectLst/>
                            <a:latin typeface="Cambria Math" panose="02040503050406030204" pitchFamily="18" charset="0"/>
                          </a:rPr>
                          <m:t>2</m:t>
                        </m:r>
                      </m:sup>
                    </m:sSup>
                    <m:r>
                      <a:rPr lang="en-IN" sz="1600" i="1">
                        <a:effectLst/>
                        <a:latin typeface="Cambria Math" panose="02040503050406030204" pitchFamily="18" charset="0"/>
                      </a:rPr>
                      <m:t>+</m:t>
                    </m:r>
                    <m:r>
                      <a:rPr lang="en-IN" sz="1600" i="1">
                        <a:effectLst/>
                        <a:latin typeface="Cambria Math" panose="02040503050406030204" pitchFamily="18" charset="0"/>
                      </a:rPr>
                      <m:t>𝜆</m:t>
                    </m:r>
                    <m:r>
                      <a:rPr lang="en-IN" sz="1600">
                        <a:effectLst/>
                        <a:latin typeface="Cambria Math" panose="02040503050406030204" pitchFamily="18" charset="0"/>
                      </a:rPr>
                      <m:t>∥</m:t>
                    </m:r>
                    <m:r>
                      <a:rPr lang="en-IN" sz="1600" i="1">
                        <a:effectLst/>
                        <a:latin typeface="Cambria Math" panose="02040503050406030204" pitchFamily="18" charset="0"/>
                      </a:rPr>
                      <m:t>𝑧</m:t>
                    </m:r>
                    <m:sSub>
                      <m:sSubPr>
                        <m:ctrlPr>
                          <a:rPr lang="en-IN" sz="1600" i="1">
                            <a:effectLst/>
                            <a:latin typeface="Cambria Math" panose="02040503050406030204" pitchFamily="18" charset="0"/>
                          </a:rPr>
                        </m:ctrlPr>
                      </m:sSubPr>
                      <m:e>
                        <m:r>
                          <a:rPr lang="en-IN" sz="1600">
                            <a:effectLst/>
                            <a:latin typeface="Cambria Math" panose="02040503050406030204" pitchFamily="18" charset="0"/>
                          </a:rPr>
                          <m:t>∥</m:t>
                        </m:r>
                      </m:e>
                      <m:sub>
                        <m:r>
                          <a:rPr lang="en-IN" sz="1600" i="1">
                            <a:effectLst/>
                            <a:latin typeface="Cambria Math" panose="02040503050406030204" pitchFamily="18" charset="0"/>
                          </a:rPr>
                          <m:t>1</m:t>
                        </m:r>
                      </m:sub>
                    </m:sSub>
                    <m:r>
                      <a:rPr lang="en-IN" sz="1600" i="1">
                        <a:effectLst/>
                        <a:latin typeface="Cambria Math" panose="02040503050406030204" pitchFamily="18" charset="0"/>
                      </a:rPr>
                      <m:t>+</m:t>
                    </m:r>
                    <m:sSup>
                      <m:sSupPr>
                        <m:ctrlPr>
                          <a:rPr lang="en-IN" sz="1600" i="1">
                            <a:effectLst/>
                            <a:latin typeface="Cambria Math" panose="02040503050406030204" pitchFamily="18" charset="0"/>
                          </a:rPr>
                        </m:ctrlPr>
                      </m:sSupPr>
                      <m:e>
                        <m:r>
                          <a:rPr lang="en-IN" sz="1600" i="1">
                            <a:effectLst/>
                            <a:latin typeface="Cambria Math" panose="02040503050406030204" pitchFamily="18" charset="0"/>
                          </a:rPr>
                          <m:t>𝑢</m:t>
                        </m:r>
                      </m:e>
                      <m:sup>
                        <m:r>
                          <a:rPr lang="en-IN" sz="1600" i="1">
                            <a:effectLst/>
                            <a:latin typeface="Cambria Math" panose="02040503050406030204" pitchFamily="18" charset="0"/>
                          </a:rPr>
                          <m:t>𝑇</m:t>
                        </m:r>
                      </m:sup>
                    </m:sSup>
                    <m:r>
                      <a:rPr lang="en-IN" sz="1600" i="1">
                        <a:effectLst/>
                        <a:latin typeface="Cambria Math" panose="02040503050406030204" pitchFamily="18" charset="0"/>
                      </a:rPr>
                      <m:t>(</m:t>
                    </m:r>
                    <m:r>
                      <a:rPr lang="en-IN" sz="1600" i="1">
                        <a:effectLst/>
                        <a:latin typeface="Cambria Math" panose="02040503050406030204" pitchFamily="18" charset="0"/>
                      </a:rPr>
                      <m:t>𝑤</m:t>
                    </m:r>
                    <m:r>
                      <a:rPr lang="en-IN" sz="1600" i="1">
                        <a:effectLst/>
                        <a:latin typeface="Cambria Math" panose="02040503050406030204" pitchFamily="18" charset="0"/>
                      </a:rPr>
                      <m:t>−</m:t>
                    </m:r>
                    <m:r>
                      <a:rPr lang="en-IN" sz="1600" i="1">
                        <a:effectLst/>
                        <a:latin typeface="Cambria Math" panose="02040503050406030204" pitchFamily="18" charset="0"/>
                      </a:rPr>
                      <m:t>𝑧</m:t>
                    </m:r>
                    <m:r>
                      <a:rPr lang="en-IN" sz="1600" i="1">
                        <a:effectLst/>
                        <a:latin typeface="Cambria Math" panose="02040503050406030204" pitchFamily="18" charset="0"/>
                      </a:rPr>
                      <m:t>)+</m:t>
                    </m:r>
                    <m:f>
                      <m:fPr>
                        <m:ctrlPr>
                          <a:rPr lang="en-IN" sz="1600" i="1">
                            <a:effectLst/>
                            <a:latin typeface="Cambria Math" panose="02040503050406030204" pitchFamily="18" charset="0"/>
                          </a:rPr>
                        </m:ctrlPr>
                      </m:fPr>
                      <m:num>
                        <m:r>
                          <a:rPr lang="en-IN" sz="1600" i="1">
                            <a:effectLst/>
                            <a:latin typeface="Cambria Math" panose="02040503050406030204" pitchFamily="18" charset="0"/>
                          </a:rPr>
                          <m:t>𝜌</m:t>
                        </m:r>
                      </m:num>
                      <m:den>
                        <m:r>
                          <a:rPr lang="en-IN" sz="1600" i="1">
                            <a:effectLst/>
                            <a:latin typeface="Cambria Math" panose="02040503050406030204" pitchFamily="18" charset="0"/>
                          </a:rPr>
                          <m:t>2</m:t>
                        </m:r>
                      </m:den>
                    </m:f>
                    <m:r>
                      <a:rPr lang="en-IN" sz="1600">
                        <a:effectLst/>
                        <a:latin typeface="Cambria Math" panose="02040503050406030204" pitchFamily="18" charset="0"/>
                      </a:rPr>
                      <m:t>∥</m:t>
                    </m:r>
                    <m:r>
                      <a:rPr lang="en-IN" sz="1600" i="1">
                        <a:effectLst/>
                        <a:latin typeface="Cambria Math" panose="02040503050406030204" pitchFamily="18" charset="0"/>
                      </a:rPr>
                      <m:t>𝑤</m:t>
                    </m:r>
                    <m:r>
                      <a:rPr lang="en-IN" sz="1600" i="1">
                        <a:effectLst/>
                        <a:latin typeface="Cambria Math" panose="02040503050406030204" pitchFamily="18" charset="0"/>
                      </a:rPr>
                      <m:t>−</m:t>
                    </m:r>
                    <m:r>
                      <a:rPr lang="en-IN" sz="1600" i="1">
                        <a:effectLst/>
                        <a:latin typeface="Cambria Math" panose="02040503050406030204" pitchFamily="18" charset="0"/>
                      </a:rPr>
                      <m:t>𝑧</m:t>
                    </m:r>
                    <m:sSup>
                      <m:sSupPr>
                        <m:ctrlPr>
                          <a:rPr lang="en-IN" sz="1600" i="1">
                            <a:effectLst/>
                            <a:latin typeface="Cambria Math" panose="02040503050406030204" pitchFamily="18" charset="0"/>
                          </a:rPr>
                        </m:ctrlPr>
                      </m:sSupPr>
                      <m:e>
                        <m:r>
                          <a:rPr lang="en-IN" sz="1600">
                            <a:effectLst/>
                            <a:latin typeface="Cambria Math" panose="02040503050406030204" pitchFamily="18" charset="0"/>
                          </a:rPr>
                          <m:t>∥</m:t>
                        </m:r>
                      </m:e>
                      <m:sup>
                        <m:r>
                          <a:rPr lang="en-IN" sz="1600" i="1">
                            <a:effectLst/>
                            <a:latin typeface="Cambria Math" panose="02040503050406030204" pitchFamily="18" charset="0"/>
                          </a:rPr>
                          <m:t>2</m:t>
                        </m:r>
                      </m:sup>
                    </m:sSup>
                  </m:oMath>
                </a14:m>
                <a:br>
                  <a:rPr lang="en-IN" sz="1600" dirty="0">
                    <a:effectLst/>
                  </a:rPr>
                </a:br>
                <a:endParaRPr lang="en-IN" sz="1600" dirty="0">
                  <a:effectLst/>
                </a:endParaRPr>
              </a:p>
            </p:txBody>
          </p:sp>
        </mc:Choice>
        <mc:Fallback xmlns="">
          <p:sp>
            <p:nvSpPr>
              <p:cNvPr id="3" name="Content Placeholder 2">
                <a:extLst>
                  <a:ext uri="{FF2B5EF4-FFF2-40B4-BE49-F238E27FC236}">
                    <a16:creationId xmlns:a16="http://schemas.microsoft.com/office/drawing/2014/main" id="{6EBFFF69-EC4E-8AF6-92D4-735DEAE81CD3}"/>
                  </a:ext>
                </a:extLst>
              </p:cNvPr>
              <p:cNvSpPr>
                <a:spLocks noGrp="1" noRot="1" noChangeAspect="1" noMove="1" noResize="1" noEditPoints="1" noAdjustHandles="1" noChangeArrowheads="1" noChangeShapeType="1" noTextEdit="1"/>
              </p:cNvSpPr>
              <p:nvPr>
                <p:ph idx="1"/>
              </p:nvPr>
            </p:nvSpPr>
            <p:spPr>
              <a:xfrm>
                <a:off x="1014064" y="1501070"/>
                <a:ext cx="10687655" cy="4499680"/>
              </a:xfrm>
              <a:blipFill>
                <a:blip r:embed="rId2"/>
                <a:stretch>
                  <a:fillRect/>
                </a:stretch>
              </a:blipFill>
              <a:ln>
                <a:noFill/>
              </a:ln>
            </p:spPr>
            <p:txBody>
              <a:bodyPr/>
              <a:lstStyle/>
              <a:p>
                <a:r>
                  <a:rPr lang="en-IN">
                    <a:noFill/>
                  </a:rPr>
                  <a:t> </a:t>
                </a:r>
              </a:p>
            </p:txBody>
          </p:sp>
        </mc:Fallback>
      </mc:AlternateContent>
      <p:sp>
        <p:nvSpPr>
          <p:cNvPr id="7" name="Isosceles Triangle 6">
            <a:extLst>
              <a:ext uri="{FF2B5EF4-FFF2-40B4-BE49-F238E27FC236}">
                <a16:creationId xmlns:a16="http://schemas.microsoft.com/office/drawing/2014/main" id="{8C927AFC-2FD7-FA6F-0E97-3E4F4F255AE2}"/>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6704FDF4-2F75-9624-01FE-410FD0E5C5BC}"/>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76805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FEE18-B28E-3F9F-32F9-172B176C97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1CCC41-4D90-C91A-2D19-257F1ADD0C74}"/>
              </a:ext>
            </a:extLst>
          </p:cNvPr>
          <p:cNvSpPr>
            <a:spLocks noGrp="1"/>
          </p:cNvSpPr>
          <p:nvPr>
            <p:ph type="title"/>
          </p:nvPr>
        </p:nvSpPr>
        <p:spPr>
          <a:xfrm>
            <a:off x="260266" y="830497"/>
            <a:ext cx="12007934" cy="1257300"/>
          </a:xfrm>
        </p:spPr>
        <p:txBody>
          <a:bodyPr>
            <a:normAutofit fontScale="90000"/>
          </a:bodyPr>
          <a:lstStyle/>
          <a:p>
            <a:pPr algn="l"/>
            <a:r>
              <a:rPr lang="en-IN" sz="3600" b="1" dirty="0"/>
              <a:t>Results: </a:t>
            </a:r>
            <a:r>
              <a:rPr lang="en-US" sz="3600" b="1" dirty="0"/>
              <a:t>All Accuracy Comparisons with/without Feature Selection:</a:t>
            </a:r>
            <a:br>
              <a:rPr lang="en-US" sz="3600" b="1" dirty="0"/>
            </a:br>
            <a:r>
              <a:rPr lang="en-US" sz="3600" dirty="0"/>
              <a:t>Dataset One: Compressive Strength Prediction :</a:t>
            </a:r>
            <a:br>
              <a:rPr lang="en-US" sz="4800" b="1" dirty="0"/>
            </a:br>
            <a:endParaRPr lang="en-IN" sz="4800" dirty="0"/>
          </a:p>
        </p:txBody>
      </p:sp>
      <p:sp>
        <p:nvSpPr>
          <p:cNvPr id="7" name="Isosceles Triangle 6">
            <a:extLst>
              <a:ext uri="{FF2B5EF4-FFF2-40B4-BE49-F238E27FC236}">
                <a16:creationId xmlns:a16="http://schemas.microsoft.com/office/drawing/2014/main" id="{08E1E636-B959-3D77-3636-10EE06D9AC32}"/>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8" name="Table 7">
            <a:extLst>
              <a:ext uri="{FF2B5EF4-FFF2-40B4-BE49-F238E27FC236}">
                <a16:creationId xmlns:a16="http://schemas.microsoft.com/office/drawing/2014/main" id="{86B47DED-69B8-764C-2761-79B6083C65FE}"/>
              </a:ext>
            </a:extLst>
          </p:cNvPr>
          <p:cNvGraphicFramePr>
            <a:graphicFrameLocks noGrp="1"/>
          </p:cNvGraphicFramePr>
          <p:nvPr>
            <p:extLst>
              <p:ext uri="{D42A27DB-BD31-4B8C-83A1-F6EECF244321}">
                <p14:modId xmlns:p14="http://schemas.microsoft.com/office/powerpoint/2010/main" val="421127978"/>
              </p:ext>
            </p:extLst>
          </p:nvPr>
        </p:nvGraphicFramePr>
        <p:xfrm>
          <a:off x="1712560" y="2018539"/>
          <a:ext cx="8570648" cy="1107440"/>
        </p:xfrm>
        <a:graphic>
          <a:graphicData uri="http://schemas.openxmlformats.org/drawingml/2006/table">
            <a:tbl>
              <a:tblPr firstRow="1" bandRow="1">
                <a:tableStyleId>{073A0DAA-6AF3-43AB-8588-CEC1D06C72B9}</a:tableStyleId>
              </a:tblPr>
              <a:tblGrid>
                <a:gridCol w="725840">
                  <a:extLst>
                    <a:ext uri="{9D8B030D-6E8A-4147-A177-3AD203B41FA5}">
                      <a16:colId xmlns:a16="http://schemas.microsoft.com/office/drawing/2014/main" val="1443978667"/>
                    </a:ext>
                  </a:extLst>
                </a:gridCol>
                <a:gridCol w="3025158">
                  <a:extLst>
                    <a:ext uri="{9D8B030D-6E8A-4147-A177-3AD203B41FA5}">
                      <a16:colId xmlns:a16="http://schemas.microsoft.com/office/drawing/2014/main" val="1613467020"/>
                    </a:ext>
                  </a:extLst>
                </a:gridCol>
                <a:gridCol w="2590800">
                  <a:extLst>
                    <a:ext uri="{9D8B030D-6E8A-4147-A177-3AD203B41FA5}">
                      <a16:colId xmlns:a16="http://schemas.microsoft.com/office/drawing/2014/main" val="426115020"/>
                    </a:ext>
                  </a:extLst>
                </a:gridCol>
                <a:gridCol w="2228850">
                  <a:extLst>
                    <a:ext uri="{9D8B030D-6E8A-4147-A177-3AD203B41FA5}">
                      <a16:colId xmlns:a16="http://schemas.microsoft.com/office/drawing/2014/main" val="1790855210"/>
                    </a:ext>
                  </a:extLst>
                </a:gridCol>
              </a:tblGrid>
              <a:tr h="370840">
                <a:tc>
                  <a:txBody>
                    <a:bodyPr/>
                    <a:lstStyle/>
                    <a:p>
                      <a:pPr algn="ctr"/>
                      <a:r>
                        <a:rPr lang="en-IN" dirty="0"/>
                        <a:t>S.no</a:t>
                      </a:r>
                    </a:p>
                  </a:txBody>
                  <a:tcPr/>
                </a:tc>
                <a:tc>
                  <a:txBody>
                    <a:bodyPr/>
                    <a:lstStyle/>
                    <a:p>
                      <a:pPr algn="ctr"/>
                      <a:r>
                        <a:rPr lang="en-IN" dirty="0"/>
                        <a:t>Without Feature Selection(1)</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dirty="0"/>
                        <a:t>With Feature Selection(2)</a:t>
                      </a:r>
                    </a:p>
                  </a:txBody>
                  <a:tcPr/>
                </a:tc>
                <a:tc>
                  <a:txBody>
                    <a:bodyPr/>
                    <a:lstStyle/>
                    <a:p>
                      <a:pPr algn="ctr"/>
                      <a:r>
                        <a:rPr lang="en-IN" dirty="0"/>
                        <a:t>Online Training(3)</a:t>
                      </a:r>
                    </a:p>
                  </a:txBody>
                  <a:tcPr/>
                </a:tc>
                <a:extLst>
                  <a:ext uri="{0D108BD9-81ED-4DB2-BD59-A6C34878D82A}">
                    <a16:rowId xmlns:a16="http://schemas.microsoft.com/office/drawing/2014/main" val="4086863503"/>
                  </a:ext>
                </a:extLst>
              </a:tr>
              <a:tr h="370840">
                <a:tc>
                  <a:txBody>
                    <a:bodyPr/>
                    <a:lstStyle/>
                    <a:p>
                      <a:pPr algn="ctr"/>
                      <a:r>
                        <a:rPr lang="en-IN" dirty="0"/>
                        <a:t>ELM</a:t>
                      </a:r>
                    </a:p>
                  </a:txBody>
                  <a:tcPr/>
                </a:tc>
                <a:tc>
                  <a:txBody>
                    <a:bodyPr/>
                    <a:lstStyle/>
                    <a:p>
                      <a:pPr algn="ctr"/>
                      <a:r>
                        <a:rPr lang="en-IN" dirty="0"/>
                        <a:t>79.61%</a:t>
                      </a:r>
                    </a:p>
                  </a:txBody>
                  <a:tcPr/>
                </a:tc>
                <a:tc>
                  <a:txBody>
                    <a:bodyPr/>
                    <a:lstStyle/>
                    <a:p>
                      <a:pPr algn="ctr"/>
                      <a:r>
                        <a:rPr lang="en-IN" dirty="0"/>
                        <a:t>72.33%</a:t>
                      </a:r>
                    </a:p>
                  </a:txBody>
                  <a:tcPr/>
                </a:tc>
                <a:tc>
                  <a:txBody>
                    <a:bodyPr/>
                    <a:lstStyle/>
                    <a:p>
                      <a:pPr algn="ctr"/>
                      <a:r>
                        <a:rPr lang="en-IN" dirty="0">
                          <a:latin typeface="+mn-lt"/>
                          <a:cs typeface="Arial" panose="020B0604020202020204" pitchFamily="34" charset="0"/>
                        </a:rPr>
                        <a:t>75.33%</a:t>
                      </a:r>
                    </a:p>
                  </a:txBody>
                  <a:tcPr/>
                </a:tc>
                <a:extLst>
                  <a:ext uri="{0D108BD9-81ED-4DB2-BD59-A6C34878D82A}">
                    <a16:rowId xmlns:a16="http://schemas.microsoft.com/office/drawing/2014/main" val="3553119316"/>
                  </a:ext>
                </a:extLst>
              </a:tr>
              <a:tr h="0">
                <a:tc>
                  <a:txBody>
                    <a:bodyPr/>
                    <a:lstStyle/>
                    <a:p>
                      <a:pPr algn="ctr"/>
                      <a:r>
                        <a:rPr lang="en-IN" dirty="0"/>
                        <a:t>SVM</a:t>
                      </a:r>
                    </a:p>
                  </a:txBody>
                  <a:tcPr/>
                </a:tc>
                <a:tc>
                  <a:txBody>
                    <a:bodyPr/>
                    <a:lstStyle/>
                    <a:p>
                      <a:pPr algn="ctr"/>
                      <a:r>
                        <a:rPr lang="en-IN" dirty="0"/>
                        <a:t>86.41%</a:t>
                      </a:r>
                    </a:p>
                  </a:txBody>
                  <a:tcPr/>
                </a:tc>
                <a:tc>
                  <a:txBody>
                    <a:bodyPr/>
                    <a:lstStyle/>
                    <a:p>
                      <a:pPr algn="ctr"/>
                      <a:r>
                        <a:rPr lang="en-IN" dirty="0"/>
                        <a:t>84.95%</a:t>
                      </a:r>
                    </a:p>
                  </a:txBody>
                  <a:tcPr/>
                </a:tc>
                <a:tc>
                  <a:txBody>
                    <a:bodyPr/>
                    <a:lstStyle/>
                    <a:p>
                      <a:pPr algn="ctr"/>
                      <a:r>
                        <a:rPr lang="en-IN"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289594250"/>
                  </a:ext>
                </a:extLst>
              </a:tr>
            </a:tbl>
          </a:graphicData>
        </a:graphic>
      </p:graphicFrame>
      <p:graphicFrame>
        <p:nvGraphicFramePr>
          <p:cNvPr id="9" name="Table 8">
            <a:extLst>
              <a:ext uri="{FF2B5EF4-FFF2-40B4-BE49-F238E27FC236}">
                <a16:creationId xmlns:a16="http://schemas.microsoft.com/office/drawing/2014/main" id="{1F179948-44B4-ECF6-6AB8-51428062B227}"/>
              </a:ext>
            </a:extLst>
          </p:cNvPr>
          <p:cNvGraphicFramePr>
            <a:graphicFrameLocks noGrp="1"/>
          </p:cNvGraphicFramePr>
          <p:nvPr>
            <p:extLst>
              <p:ext uri="{D42A27DB-BD31-4B8C-83A1-F6EECF244321}">
                <p14:modId xmlns:p14="http://schemas.microsoft.com/office/powerpoint/2010/main" val="1447530570"/>
              </p:ext>
            </p:extLst>
          </p:nvPr>
        </p:nvGraphicFramePr>
        <p:xfrm>
          <a:off x="808966" y="4596861"/>
          <a:ext cx="1958974" cy="1112520"/>
        </p:xfrm>
        <a:graphic>
          <a:graphicData uri="http://schemas.openxmlformats.org/drawingml/2006/table">
            <a:tbl>
              <a:tblPr bandRow="1">
                <a:tableStyleId>{073A0DAA-6AF3-43AB-8588-CEC1D06C72B9}</a:tableStyleId>
              </a:tblPr>
              <a:tblGrid>
                <a:gridCol w="695325">
                  <a:extLst>
                    <a:ext uri="{9D8B030D-6E8A-4147-A177-3AD203B41FA5}">
                      <a16:colId xmlns:a16="http://schemas.microsoft.com/office/drawing/2014/main" val="1378622236"/>
                    </a:ext>
                  </a:extLst>
                </a:gridCol>
                <a:gridCol w="666750">
                  <a:extLst>
                    <a:ext uri="{9D8B030D-6E8A-4147-A177-3AD203B41FA5}">
                      <a16:colId xmlns:a16="http://schemas.microsoft.com/office/drawing/2014/main" val="373693309"/>
                    </a:ext>
                  </a:extLst>
                </a:gridCol>
                <a:gridCol w="596899">
                  <a:extLst>
                    <a:ext uri="{9D8B030D-6E8A-4147-A177-3AD203B41FA5}">
                      <a16:colId xmlns:a16="http://schemas.microsoft.com/office/drawing/2014/main" val="3945074127"/>
                    </a:ext>
                  </a:extLst>
                </a:gridCol>
              </a:tblGrid>
              <a:tr h="370840">
                <a:tc>
                  <a:txBody>
                    <a:bodyPr/>
                    <a:lstStyle/>
                    <a:p>
                      <a:pPr algn="ctr"/>
                      <a:r>
                        <a:rPr lang="en-IN" dirty="0"/>
                        <a:t>32</a:t>
                      </a:r>
                    </a:p>
                  </a:txBody>
                  <a:tcPr/>
                </a:tc>
                <a:tc>
                  <a:txBody>
                    <a:bodyPr/>
                    <a:lstStyle/>
                    <a:p>
                      <a:pPr algn="ctr"/>
                      <a:r>
                        <a:rPr lang="en-IN" dirty="0"/>
                        <a:t>7</a:t>
                      </a:r>
                    </a:p>
                  </a:txBody>
                  <a:tcPr/>
                </a:tc>
                <a:tc>
                  <a:txBody>
                    <a:bodyPr/>
                    <a:lstStyle/>
                    <a:p>
                      <a:pPr algn="ctr"/>
                      <a:r>
                        <a:rPr lang="en-IN" dirty="0"/>
                        <a:t>0</a:t>
                      </a:r>
                    </a:p>
                  </a:txBody>
                  <a:tcPr/>
                </a:tc>
                <a:extLst>
                  <a:ext uri="{0D108BD9-81ED-4DB2-BD59-A6C34878D82A}">
                    <a16:rowId xmlns:a16="http://schemas.microsoft.com/office/drawing/2014/main" val="1434590033"/>
                  </a:ext>
                </a:extLst>
              </a:tr>
              <a:tr h="370840">
                <a:tc>
                  <a:txBody>
                    <a:bodyPr/>
                    <a:lstStyle/>
                    <a:p>
                      <a:pPr algn="ctr"/>
                      <a:r>
                        <a:rPr lang="en-IN" dirty="0"/>
                        <a:t>8</a:t>
                      </a:r>
                    </a:p>
                  </a:txBody>
                  <a:tcPr/>
                </a:tc>
                <a:tc>
                  <a:txBody>
                    <a:bodyPr/>
                    <a:lstStyle/>
                    <a:p>
                      <a:pPr algn="ctr"/>
                      <a:r>
                        <a:rPr lang="en-IN" dirty="0"/>
                        <a:t>74</a:t>
                      </a:r>
                    </a:p>
                  </a:txBody>
                  <a:tcPr/>
                </a:tc>
                <a:tc>
                  <a:txBody>
                    <a:bodyPr/>
                    <a:lstStyle/>
                    <a:p>
                      <a:pPr algn="ctr"/>
                      <a:r>
                        <a:rPr lang="en-IN" dirty="0"/>
                        <a:t>9</a:t>
                      </a:r>
                    </a:p>
                  </a:txBody>
                  <a:tcPr/>
                </a:tc>
                <a:extLst>
                  <a:ext uri="{0D108BD9-81ED-4DB2-BD59-A6C34878D82A}">
                    <a16:rowId xmlns:a16="http://schemas.microsoft.com/office/drawing/2014/main" val="358502552"/>
                  </a:ext>
                </a:extLst>
              </a:tr>
              <a:tr h="370840">
                <a:tc>
                  <a:txBody>
                    <a:bodyPr/>
                    <a:lstStyle/>
                    <a:p>
                      <a:pPr algn="ctr"/>
                      <a:r>
                        <a:rPr lang="en-IN" dirty="0"/>
                        <a:t>4</a:t>
                      </a:r>
                    </a:p>
                  </a:txBody>
                  <a:tcPr/>
                </a:tc>
                <a:tc>
                  <a:txBody>
                    <a:bodyPr/>
                    <a:lstStyle/>
                    <a:p>
                      <a:pPr algn="ctr"/>
                      <a:r>
                        <a:rPr lang="en-IN" dirty="0"/>
                        <a:t>14</a:t>
                      </a:r>
                    </a:p>
                  </a:txBody>
                  <a:tcPr/>
                </a:tc>
                <a:tc>
                  <a:txBody>
                    <a:bodyPr/>
                    <a:lstStyle/>
                    <a:p>
                      <a:pPr algn="ctr"/>
                      <a:r>
                        <a:rPr lang="en-IN" dirty="0"/>
                        <a:t>58</a:t>
                      </a:r>
                    </a:p>
                  </a:txBody>
                  <a:tcPr/>
                </a:tc>
                <a:extLst>
                  <a:ext uri="{0D108BD9-81ED-4DB2-BD59-A6C34878D82A}">
                    <a16:rowId xmlns:a16="http://schemas.microsoft.com/office/drawing/2014/main" val="2251843507"/>
                  </a:ext>
                </a:extLst>
              </a:tr>
            </a:tbl>
          </a:graphicData>
        </a:graphic>
      </p:graphicFrame>
      <p:sp>
        <p:nvSpPr>
          <p:cNvPr id="10" name="TextBox 9">
            <a:extLst>
              <a:ext uri="{FF2B5EF4-FFF2-40B4-BE49-F238E27FC236}">
                <a16:creationId xmlns:a16="http://schemas.microsoft.com/office/drawing/2014/main" id="{445F6749-2A97-7E4D-58F0-43CA2A11C4D7}"/>
              </a:ext>
            </a:extLst>
          </p:cNvPr>
          <p:cNvSpPr txBox="1"/>
          <p:nvPr/>
        </p:nvSpPr>
        <p:spPr>
          <a:xfrm>
            <a:off x="658419" y="3489421"/>
            <a:ext cx="2857500" cy="461665"/>
          </a:xfrm>
          <a:prstGeom prst="rect">
            <a:avLst/>
          </a:prstGeom>
          <a:noFill/>
        </p:spPr>
        <p:txBody>
          <a:bodyPr wrap="square" rtlCol="0">
            <a:spAutoFit/>
          </a:bodyPr>
          <a:lstStyle/>
          <a:p>
            <a:r>
              <a:rPr lang="en-IN" sz="2400" b="1" dirty="0"/>
              <a:t>Confusion Matrices:</a:t>
            </a:r>
          </a:p>
        </p:txBody>
      </p:sp>
      <p:sp>
        <p:nvSpPr>
          <p:cNvPr id="13" name="TextBox 12">
            <a:extLst>
              <a:ext uri="{FF2B5EF4-FFF2-40B4-BE49-F238E27FC236}">
                <a16:creationId xmlns:a16="http://schemas.microsoft.com/office/drawing/2014/main" id="{A31375FE-ABC5-F11A-1900-FF7C2BA4EE64}"/>
              </a:ext>
            </a:extLst>
          </p:cNvPr>
          <p:cNvSpPr txBox="1"/>
          <p:nvPr/>
        </p:nvSpPr>
        <p:spPr>
          <a:xfrm>
            <a:off x="808966" y="4089307"/>
            <a:ext cx="1409700" cy="369332"/>
          </a:xfrm>
          <a:prstGeom prst="rect">
            <a:avLst/>
          </a:prstGeom>
          <a:noFill/>
        </p:spPr>
        <p:txBody>
          <a:bodyPr wrap="square" rtlCol="0">
            <a:spAutoFit/>
          </a:bodyPr>
          <a:lstStyle/>
          <a:p>
            <a:r>
              <a:rPr lang="en-IN" dirty="0"/>
              <a:t>ELM(1):</a:t>
            </a:r>
          </a:p>
        </p:txBody>
      </p:sp>
      <p:graphicFrame>
        <p:nvGraphicFramePr>
          <p:cNvPr id="15" name="Table 14">
            <a:extLst>
              <a:ext uri="{FF2B5EF4-FFF2-40B4-BE49-F238E27FC236}">
                <a16:creationId xmlns:a16="http://schemas.microsoft.com/office/drawing/2014/main" id="{796529D8-DD00-550B-B680-32F31717C829}"/>
              </a:ext>
            </a:extLst>
          </p:cNvPr>
          <p:cNvGraphicFramePr>
            <a:graphicFrameLocks noGrp="1"/>
          </p:cNvGraphicFramePr>
          <p:nvPr>
            <p:extLst>
              <p:ext uri="{D42A27DB-BD31-4B8C-83A1-F6EECF244321}">
                <p14:modId xmlns:p14="http://schemas.microsoft.com/office/powerpoint/2010/main" val="2663722780"/>
              </p:ext>
            </p:extLst>
          </p:nvPr>
        </p:nvGraphicFramePr>
        <p:xfrm>
          <a:off x="2977467" y="4592594"/>
          <a:ext cx="1958974" cy="1112520"/>
        </p:xfrm>
        <a:graphic>
          <a:graphicData uri="http://schemas.openxmlformats.org/drawingml/2006/table">
            <a:tbl>
              <a:tblPr bandRow="1">
                <a:tableStyleId>{073A0DAA-6AF3-43AB-8588-CEC1D06C72B9}</a:tableStyleId>
              </a:tblPr>
              <a:tblGrid>
                <a:gridCol w="695325">
                  <a:extLst>
                    <a:ext uri="{9D8B030D-6E8A-4147-A177-3AD203B41FA5}">
                      <a16:colId xmlns:a16="http://schemas.microsoft.com/office/drawing/2014/main" val="1378622236"/>
                    </a:ext>
                  </a:extLst>
                </a:gridCol>
                <a:gridCol w="666750">
                  <a:extLst>
                    <a:ext uri="{9D8B030D-6E8A-4147-A177-3AD203B41FA5}">
                      <a16:colId xmlns:a16="http://schemas.microsoft.com/office/drawing/2014/main" val="373693309"/>
                    </a:ext>
                  </a:extLst>
                </a:gridCol>
                <a:gridCol w="596899">
                  <a:extLst>
                    <a:ext uri="{9D8B030D-6E8A-4147-A177-3AD203B41FA5}">
                      <a16:colId xmlns:a16="http://schemas.microsoft.com/office/drawing/2014/main" val="3945074127"/>
                    </a:ext>
                  </a:extLst>
                </a:gridCol>
              </a:tblGrid>
              <a:tr h="370840">
                <a:tc>
                  <a:txBody>
                    <a:bodyPr/>
                    <a:lstStyle/>
                    <a:p>
                      <a:pPr algn="ctr"/>
                      <a:r>
                        <a:rPr lang="en-IN" dirty="0"/>
                        <a:t>34</a:t>
                      </a:r>
                    </a:p>
                  </a:txBody>
                  <a:tcPr/>
                </a:tc>
                <a:tc>
                  <a:txBody>
                    <a:bodyPr/>
                    <a:lstStyle/>
                    <a:p>
                      <a:pPr algn="ctr"/>
                      <a:r>
                        <a:rPr lang="en-IN" dirty="0"/>
                        <a:t>4</a:t>
                      </a:r>
                    </a:p>
                  </a:txBody>
                  <a:tcPr/>
                </a:tc>
                <a:tc>
                  <a:txBody>
                    <a:bodyPr/>
                    <a:lstStyle/>
                    <a:p>
                      <a:pPr algn="ctr"/>
                      <a:r>
                        <a:rPr lang="en-IN" dirty="0"/>
                        <a:t>1</a:t>
                      </a:r>
                    </a:p>
                  </a:txBody>
                  <a:tcPr/>
                </a:tc>
                <a:extLst>
                  <a:ext uri="{0D108BD9-81ED-4DB2-BD59-A6C34878D82A}">
                    <a16:rowId xmlns:a16="http://schemas.microsoft.com/office/drawing/2014/main" val="1434590033"/>
                  </a:ext>
                </a:extLst>
              </a:tr>
              <a:tr h="370840">
                <a:tc>
                  <a:txBody>
                    <a:bodyPr/>
                    <a:lstStyle/>
                    <a:p>
                      <a:pPr algn="ctr"/>
                      <a:r>
                        <a:rPr lang="en-IN" dirty="0"/>
                        <a:t>7</a:t>
                      </a:r>
                    </a:p>
                  </a:txBody>
                  <a:tcPr/>
                </a:tc>
                <a:tc>
                  <a:txBody>
                    <a:bodyPr/>
                    <a:lstStyle/>
                    <a:p>
                      <a:pPr algn="ctr"/>
                      <a:r>
                        <a:rPr lang="en-IN" dirty="0"/>
                        <a:t>66</a:t>
                      </a:r>
                    </a:p>
                  </a:txBody>
                  <a:tcPr/>
                </a:tc>
                <a:tc>
                  <a:txBody>
                    <a:bodyPr/>
                    <a:lstStyle/>
                    <a:p>
                      <a:pPr algn="ctr"/>
                      <a:r>
                        <a:rPr lang="en-IN" dirty="0"/>
                        <a:t>18</a:t>
                      </a:r>
                    </a:p>
                  </a:txBody>
                  <a:tcPr/>
                </a:tc>
                <a:extLst>
                  <a:ext uri="{0D108BD9-81ED-4DB2-BD59-A6C34878D82A}">
                    <a16:rowId xmlns:a16="http://schemas.microsoft.com/office/drawing/2014/main" val="358502552"/>
                  </a:ext>
                </a:extLst>
              </a:tr>
              <a:tr h="370840">
                <a:tc>
                  <a:txBody>
                    <a:bodyPr/>
                    <a:lstStyle/>
                    <a:p>
                      <a:pPr algn="ctr"/>
                      <a:r>
                        <a:rPr lang="en-IN" dirty="0"/>
                        <a:t>7</a:t>
                      </a:r>
                    </a:p>
                  </a:txBody>
                  <a:tcPr/>
                </a:tc>
                <a:tc>
                  <a:txBody>
                    <a:bodyPr/>
                    <a:lstStyle/>
                    <a:p>
                      <a:pPr algn="ctr"/>
                      <a:r>
                        <a:rPr lang="en-IN" dirty="0"/>
                        <a:t>20</a:t>
                      </a:r>
                    </a:p>
                  </a:txBody>
                  <a:tcPr/>
                </a:tc>
                <a:tc>
                  <a:txBody>
                    <a:bodyPr/>
                    <a:lstStyle/>
                    <a:p>
                      <a:pPr algn="ctr"/>
                      <a:r>
                        <a:rPr lang="en-IN" dirty="0"/>
                        <a:t>49</a:t>
                      </a:r>
                    </a:p>
                  </a:txBody>
                  <a:tcPr/>
                </a:tc>
                <a:extLst>
                  <a:ext uri="{0D108BD9-81ED-4DB2-BD59-A6C34878D82A}">
                    <a16:rowId xmlns:a16="http://schemas.microsoft.com/office/drawing/2014/main" val="2251843507"/>
                  </a:ext>
                </a:extLst>
              </a:tr>
            </a:tbl>
          </a:graphicData>
        </a:graphic>
      </p:graphicFrame>
      <p:sp>
        <p:nvSpPr>
          <p:cNvPr id="16" name="TextBox 15">
            <a:extLst>
              <a:ext uri="{FF2B5EF4-FFF2-40B4-BE49-F238E27FC236}">
                <a16:creationId xmlns:a16="http://schemas.microsoft.com/office/drawing/2014/main" id="{A01B5ECB-63DD-6B47-2E71-864FF8A52FD7}"/>
              </a:ext>
            </a:extLst>
          </p:cNvPr>
          <p:cNvSpPr txBox="1"/>
          <p:nvPr/>
        </p:nvSpPr>
        <p:spPr>
          <a:xfrm>
            <a:off x="2977467" y="4085040"/>
            <a:ext cx="1409700" cy="369332"/>
          </a:xfrm>
          <a:prstGeom prst="rect">
            <a:avLst/>
          </a:prstGeom>
          <a:noFill/>
        </p:spPr>
        <p:txBody>
          <a:bodyPr wrap="square" rtlCol="0">
            <a:spAutoFit/>
          </a:bodyPr>
          <a:lstStyle/>
          <a:p>
            <a:r>
              <a:rPr lang="en-IN" dirty="0"/>
              <a:t>ELM(2):</a:t>
            </a:r>
          </a:p>
        </p:txBody>
      </p:sp>
      <p:graphicFrame>
        <p:nvGraphicFramePr>
          <p:cNvPr id="17" name="Table 16">
            <a:extLst>
              <a:ext uri="{FF2B5EF4-FFF2-40B4-BE49-F238E27FC236}">
                <a16:creationId xmlns:a16="http://schemas.microsoft.com/office/drawing/2014/main" id="{038BFA0C-723B-110C-D08F-C86DCBD615C4}"/>
              </a:ext>
            </a:extLst>
          </p:cNvPr>
          <p:cNvGraphicFramePr>
            <a:graphicFrameLocks noGrp="1"/>
          </p:cNvGraphicFramePr>
          <p:nvPr>
            <p:extLst>
              <p:ext uri="{D42A27DB-BD31-4B8C-83A1-F6EECF244321}">
                <p14:modId xmlns:p14="http://schemas.microsoft.com/office/powerpoint/2010/main" val="285507075"/>
              </p:ext>
            </p:extLst>
          </p:nvPr>
        </p:nvGraphicFramePr>
        <p:xfrm>
          <a:off x="7714697" y="4596861"/>
          <a:ext cx="1958974" cy="1112520"/>
        </p:xfrm>
        <a:graphic>
          <a:graphicData uri="http://schemas.openxmlformats.org/drawingml/2006/table">
            <a:tbl>
              <a:tblPr bandRow="1">
                <a:tableStyleId>{073A0DAA-6AF3-43AB-8588-CEC1D06C72B9}</a:tableStyleId>
              </a:tblPr>
              <a:tblGrid>
                <a:gridCol w="695325">
                  <a:extLst>
                    <a:ext uri="{9D8B030D-6E8A-4147-A177-3AD203B41FA5}">
                      <a16:colId xmlns:a16="http://schemas.microsoft.com/office/drawing/2014/main" val="1378622236"/>
                    </a:ext>
                  </a:extLst>
                </a:gridCol>
                <a:gridCol w="666750">
                  <a:extLst>
                    <a:ext uri="{9D8B030D-6E8A-4147-A177-3AD203B41FA5}">
                      <a16:colId xmlns:a16="http://schemas.microsoft.com/office/drawing/2014/main" val="373693309"/>
                    </a:ext>
                  </a:extLst>
                </a:gridCol>
                <a:gridCol w="596899">
                  <a:extLst>
                    <a:ext uri="{9D8B030D-6E8A-4147-A177-3AD203B41FA5}">
                      <a16:colId xmlns:a16="http://schemas.microsoft.com/office/drawing/2014/main" val="3945074127"/>
                    </a:ext>
                  </a:extLst>
                </a:gridCol>
              </a:tblGrid>
              <a:tr h="370840">
                <a:tc>
                  <a:txBody>
                    <a:bodyPr/>
                    <a:lstStyle/>
                    <a:p>
                      <a:pPr algn="ctr"/>
                      <a:r>
                        <a:rPr lang="en-IN" dirty="0"/>
                        <a:t>36</a:t>
                      </a:r>
                    </a:p>
                  </a:txBody>
                  <a:tcPr/>
                </a:tc>
                <a:tc>
                  <a:txBody>
                    <a:bodyPr/>
                    <a:lstStyle/>
                    <a:p>
                      <a:pPr algn="ctr"/>
                      <a:r>
                        <a:rPr lang="en-IN" dirty="0"/>
                        <a:t>3</a:t>
                      </a:r>
                    </a:p>
                  </a:txBody>
                  <a:tcPr/>
                </a:tc>
                <a:tc>
                  <a:txBody>
                    <a:bodyPr/>
                    <a:lstStyle/>
                    <a:p>
                      <a:pPr algn="ctr"/>
                      <a:r>
                        <a:rPr lang="en-IN" dirty="0"/>
                        <a:t>0</a:t>
                      </a:r>
                    </a:p>
                  </a:txBody>
                  <a:tcPr/>
                </a:tc>
                <a:extLst>
                  <a:ext uri="{0D108BD9-81ED-4DB2-BD59-A6C34878D82A}">
                    <a16:rowId xmlns:a16="http://schemas.microsoft.com/office/drawing/2014/main" val="1434590033"/>
                  </a:ext>
                </a:extLst>
              </a:tr>
              <a:tr h="370840">
                <a:tc>
                  <a:txBody>
                    <a:bodyPr/>
                    <a:lstStyle/>
                    <a:p>
                      <a:pPr algn="ctr"/>
                      <a:r>
                        <a:rPr lang="en-IN" dirty="0"/>
                        <a:t>3</a:t>
                      </a:r>
                    </a:p>
                  </a:txBody>
                  <a:tcPr/>
                </a:tc>
                <a:tc>
                  <a:txBody>
                    <a:bodyPr/>
                    <a:lstStyle/>
                    <a:p>
                      <a:pPr algn="ctr"/>
                      <a:r>
                        <a:rPr lang="en-IN" dirty="0"/>
                        <a:t>84</a:t>
                      </a:r>
                    </a:p>
                  </a:txBody>
                  <a:tcPr/>
                </a:tc>
                <a:tc>
                  <a:txBody>
                    <a:bodyPr/>
                    <a:lstStyle/>
                    <a:p>
                      <a:pPr algn="ctr"/>
                      <a:r>
                        <a:rPr lang="en-IN" dirty="0"/>
                        <a:t>4</a:t>
                      </a:r>
                    </a:p>
                  </a:txBody>
                  <a:tcPr/>
                </a:tc>
                <a:extLst>
                  <a:ext uri="{0D108BD9-81ED-4DB2-BD59-A6C34878D82A}">
                    <a16:rowId xmlns:a16="http://schemas.microsoft.com/office/drawing/2014/main" val="358502552"/>
                  </a:ext>
                </a:extLst>
              </a:tr>
              <a:tr h="370840">
                <a:tc>
                  <a:txBody>
                    <a:bodyPr/>
                    <a:lstStyle/>
                    <a:p>
                      <a:pPr algn="ctr"/>
                      <a:r>
                        <a:rPr lang="en-IN" dirty="0"/>
                        <a:t>1</a:t>
                      </a:r>
                    </a:p>
                  </a:txBody>
                  <a:tcPr/>
                </a:tc>
                <a:tc>
                  <a:txBody>
                    <a:bodyPr/>
                    <a:lstStyle/>
                    <a:p>
                      <a:pPr algn="ctr"/>
                      <a:r>
                        <a:rPr lang="en-IN" dirty="0"/>
                        <a:t>17</a:t>
                      </a:r>
                    </a:p>
                  </a:txBody>
                  <a:tcPr/>
                </a:tc>
                <a:tc>
                  <a:txBody>
                    <a:bodyPr/>
                    <a:lstStyle/>
                    <a:p>
                      <a:pPr algn="ctr"/>
                      <a:r>
                        <a:rPr lang="en-IN" dirty="0"/>
                        <a:t>58</a:t>
                      </a:r>
                    </a:p>
                  </a:txBody>
                  <a:tcPr/>
                </a:tc>
                <a:extLst>
                  <a:ext uri="{0D108BD9-81ED-4DB2-BD59-A6C34878D82A}">
                    <a16:rowId xmlns:a16="http://schemas.microsoft.com/office/drawing/2014/main" val="2251843507"/>
                  </a:ext>
                </a:extLst>
              </a:tr>
            </a:tbl>
          </a:graphicData>
        </a:graphic>
      </p:graphicFrame>
      <p:sp>
        <p:nvSpPr>
          <p:cNvPr id="18" name="TextBox 17">
            <a:extLst>
              <a:ext uri="{FF2B5EF4-FFF2-40B4-BE49-F238E27FC236}">
                <a16:creationId xmlns:a16="http://schemas.microsoft.com/office/drawing/2014/main" id="{B855840D-167D-FDC2-06C0-15C2C441B47D}"/>
              </a:ext>
            </a:extLst>
          </p:cNvPr>
          <p:cNvSpPr txBox="1"/>
          <p:nvPr/>
        </p:nvSpPr>
        <p:spPr>
          <a:xfrm>
            <a:off x="7714697" y="4089307"/>
            <a:ext cx="1409700" cy="369332"/>
          </a:xfrm>
          <a:prstGeom prst="rect">
            <a:avLst/>
          </a:prstGeom>
          <a:noFill/>
        </p:spPr>
        <p:txBody>
          <a:bodyPr wrap="square" rtlCol="0">
            <a:spAutoFit/>
          </a:bodyPr>
          <a:lstStyle/>
          <a:p>
            <a:r>
              <a:rPr lang="en-IN" dirty="0"/>
              <a:t>SVM(1):</a:t>
            </a:r>
          </a:p>
        </p:txBody>
      </p:sp>
      <p:graphicFrame>
        <p:nvGraphicFramePr>
          <p:cNvPr id="19" name="Table 18">
            <a:extLst>
              <a:ext uri="{FF2B5EF4-FFF2-40B4-BE49-F238E27FC236}">
                <a16:creationId xmlns:a16="http://schemas.microsoft.com/office/drawing/2014/main" id="{2385D74E-4D89-FD55-C212-BA3FE2C1EACD}"/>
              </a:ext>
            </a:extLst>
          </p:cNvPr>
          <p:cNvGraphicFramePr>
            <a:graphicFrameLocks noGrp="1"/>
          </p:cNvGraphicFramePr>
          <p:nvPr>
            <p:extLst>
              <p:ext uri="{D42A27DB-BD31-4B8C-83A1-F6EECF244321}">
                <p14:modId xmlns:p14="http://schemas.microsoft.com/office/powerpoint/2010/main" val="3937414307"/>
              </p:ext>
            </p:extLst>
          </p:nvPr>
        </p:nvGraphicFramePr>
        <p:xfrm>
          <a:off x="9974659" y="4596861"/>
          <a:ext cx="1958974" cy="1112520"/>
        </p:xfrm>
        <a:graphic>
          <a:graphicData uri="http://schemas.openxmlformats.org/drawingml/2006/table">
            <a:tbl>
              <a:tblPr bandRow="1">
                <a:tableStyleId>{073A0DAA-6AF3-43AB-8588-CEC1D06C72B9}</a:tableStyleId>
              </a:tblPr>
              <a:tblGrid>
                <a:gridCol w="695325">
                  <a:extLst>
                    <a:ext uri="{9D8B030D-6E8A-4147-A177-3AD203B41FA5}">
                      <a16:colId xmlns:a16="http://schemas.microsoft.com/office/drawing/2014/main" val="1378622236"/>
                    </a:ext>
                  </a:extLst>
                </a:gridCol>
                <a:gridCol w="666750">
                  <a:extLst>
                    <a:ext uri="{9D8B030D-6E8A-4147-A177-3AD203B41FA5}">
                      <a16:colId xmlns:a16="http://schemas.microsoft.com/office/drawing/2014/main" val="373693309"/>
                    </a:ext>
                  </a:extLst>
                </a:gridCol>
                <a:gridCol w="596899">
                  <a:extLst>
                    <a:ext uri="{9D8B030D-6E8A-4147-A177-3AD203B41FA5}">
                      <a16:colId xmlns:a16="http://schemas.microsoft.com/office/drawing/2014/main" val="3945074127"/>
                    </a:ext>
                  </a:extLst>
                </a:gridCol>
              </a:tblGrid>
              <a:tr h="370840">
                <a:tc>
                  <a:txBody>
                    <a:bodyPr/>
                    <a:lstStyle/>
                    <a:p>
                      <a:pPr algn="ctr"/>
                      <a:r>
                        <a:rPr lang="en-IN" dirty="0"/>
                        <a:t>36</a:t>
                      </a:r>
                    </a:p>
                  </a:txBody>
                  <a:tcPr/>
                </a:tc>
                <a:tc>
                  <a:txBody>
                    <a:bodyPr/>
                    <a:lstStyle/>
                    <a:p>
                      <a:pPr algn="ctr"/>
                      <a:r>
                        <a:rPr lang="en-IN" dirty="0"/>
                        <a:t>3</a:t>
                      </a:r>
                    </a:p>
                  </a:txBody>
                  <a:tcPr/>
                </a:tc>
                <a:tc>
                  <a:txBody>
                    <a:bodyPr/>
                    <a:lstStyle/>
                    <a:p>
                      <a:pPr algn="ctr"/>
                      <a:r>
                        <a:rPr lang="en-IN" dirty="0"/>
                        <a:t>0</a:t>
                      </a:r>
                    </a:p>
                  </a:txBody>
                  <a:tcPr/>
                </a:tc>
                <a:extLst>
                  <a:ext uri="{0D108BD9-81ED-4DB2-BD59-A6C34878D82A}">
                    <a16:rowId xmlns:a16="http://schemas.microsoft.com/office/drawing/2014/main" val="1434590033"/>
                  </a:ext>
                </a:extLst>
              </a:tr>
              <a:tr h="370840">
                <a:tc>
                  <a:txBody>
                    <a:bodyPr/>
                    <a:lstStyle/>
                    <a:p>
                      <a:pPr algn="ctr"/>
                      <a:r>
                        <a:rPr lang="en-IN" dirty="0"/>
                        <a:t>4</a:t>
                      </a:r>
                    </a:p>
                  </a:txBody>
                  <a:tcPr/>
                </a:tc>
                <a:tc>
                  <a:txBody>
                    <a:bodyPr/>
                    <a:lstStyle/>
                    <a:p>
                      <a:pPr algn="ctr"/>
                      <a:r>
                        <a:rPr lang="en-IN" dirty="0"/>
                        <a:t>85</a:t>
                      </a:r>
                    </a:p>
                  </a:txBody>
                  <a:tcPr/>
                </a:tc>
                <a:tc>
                  <a:txBody>
                    <a:bodyPr/>
                    <a:lstStyle/>
                    <a:p>
                      <a:pPr algn="ctr"/>
                      <a:r>
                        <a:rPr lang="en-IN" dirty="0"/>
                        <a:t>2</a:t>
                      </a:r>
                    </a:p>
                  </a:txBody>
                  <a:tcPr/>
                </a:tc>
                <a:extLst>
                  <a:ext uri="{0D108BD9-81ED-4DB2-BD59-A6C34878D82A}">
                    <a16:rowId xmlns:a16="http://schemas.microsoft.com/office/drawing/2014/main" val="358502552"/>
                  </a:ext>
                </a:extLst>
              </a:tr>
              <a:tr h="370840">
                <a:tc>
                  <a:txBody>
                    <a:bodyPr/>
                    <a:lstStyle/>
                    <a:p>
                      <a:pPr algn="ctr"/>
                      <a:r>
                        <a:rPr lang="en-IN" dirty="0"/>
                        <a:t>0</a:t>
                      </a:r>
                    </a:p>
                  </a:txBody>
                  <a:tcPr/>
                </a:tc>
                <a:tc>
                  <a:txBody>
                    <a:bodyPr/>
                    <a:lstStyle/>
                    <a:p>
                      <a:pPr algn="ctr"/>
                      <a:r>
                        <a:rPr lang="en-IN" dirty="0"/>
                        <a:t>22</a:t>
                      </a:r>
                    </a:p>
                  </a:txBody>
                  <a:tcPr/>
                </a:tc>
                <a:tc>
                  <a:txBody>
                    <a:bodyPr/>
                    <a:lstStyle/>
                    <a:p>
                      <a:pPr algn="ctr"/>
                      <a:r>
                        <a:rPr lang="en-IN" dirty="0"/>
                        <a:t>54</a:t>
                      </a:r>
                    </a:p>
                  </a:txBody>
                  <a:tcPr/>
                </a:tc>
                <a:extLst>
                  <a:ext uri="{0D108BD9-81ED-4DB2-BD59-A6C34878D82A}">
                    <a16:rowId xmlns:a16="http://schemas.microsoft.com/office/drawing/2014/main" val="2251843507"/>
                  </a:ext>
                </a:extLst>
              </a:tr>
            </a:tbl>
          </a:graphicData>
        </a:graphic>
      </p:graphicFrame>
      <p:sp>
        <p:nvSpPr>
          <p:cNvPr id="20" name="TextBox 19">
            <a:extLst>
              <a:ext uri="{FF2B5EF4-FFF2-40B4-BE49-F238E27FC236}">
                <a16:creationId xmlns:a16="http://schemas.microsoft.com/office/drawing/2014/main" id="{9A80816B-32D9-181B-95E4-4D410FD175F7}"/>
              </a:ext>
            </a:extLst>
          </p:cNvPr>
          <p:cNvSpPr txBox="1"/>
          <p:nvPr/>
        </p:nvSpPr>
        <p:spPr>
          <a:xfrm>
            <a:off x="9974659" y="4089307"/>
            <a:ext cx="1409700" cy="369332"/>
          </a:xfrm>
          <a:prstGeom prst="rect">
            <a:avLst/>
          </a:prstGeom>
          <a:noFill/>
        </p:spPr>
        <p:txBody>
          <a:bodyPr wrap="square" rtlCol="0">
            <a:spAutoFit/>
          </a:bodyPr>
          <a:lstStyle/>
          <a:p>
            <a:r>
              <a:rPr lang="en-IN" dirty="0"/>
              <a:t>SVM(2):</a:t>
            </a:r>
          </a:p>
        </p:txBody>
      </p:sp>
      <p:sp>
        <p:nvSpPr>
          <p:cNvPr id="21" name="TextBox 20">
            <a:extLst>
              <a:ext uri="{FF2B5EF4-FFF2-40B4-BE49-F238E27FC236}">
                <a16:creationId xmlns:a16="http://schemas.microsoft.com/office/drawing/2014/main" id="{281FB875-56D8-3855-2E82-68473FB62FAA}"/>
              </a:ext>
            </a:extLst>
          </p:cNvPr>
          <p:cNvSpPr txBox="1"/>
          <p:nvPr/>
        </p:nvSpPr>
        <p:spPr>
          <a:xfrm>
            <a:off x="845125" y="5703491"/>
            <a:ext cx="2006601" cy="369332"/>
          </a:xfrm>
          <a:prstGeom prst="rect">
            <a:avLst/>
          </a:prstGeom>
          <a:noFill/>
        </p:spPr>
        <p:txBody>
          <a:bodyPr wrap="square" rtlCol="0">
            <a:spAutoFit/>
          </a:bodyPr>
          <a:lstStyle/>
          <a:p>
            <a:r>
              <a:rPr lang="en-IN" dirty="0"/>
              <a:t>Low     Med    High</a:t>
            </a:r>
          </a:p>
        </p:txBody>
      </p:sp>
      <p:sp>
        <p:nvSpPr>
          <p:cNvPr id="22" name="TextBox 21">
            <a:extLst>
              <a:ext uri="{FF2B5EF4-FFF2-40B4-BE49-F238E27FC236}">
                <a16:creationId xmlns:a16="http://schemas.microsoft.com/office/drawing/2014/main" id="{41E01351-A75A-21F4-D423-D48A9BBEE0F5}"/>
              </a:ext>
            </a:extLst>
          </p:cNvPr>
          <p:cNvSpPr txBox="1"/>
          <p:nvPr/>
        </p:nvSpPr>
        <p:spPr>
          <a:xfrm>
            <a:off x="2977466" y="5699224"/>
            <a:ext cx="2006601" cy="369332"/>
          </a:xfrm>
          <a:prstGeom prst="rect">
            <a:avLst/>
          </a:prstGeom>
          <a:noFill/>
        </p:spPr>
        <p:txBody>
          <a:bodyPr wrap="square" rtlCol="0">
            <a:spAutoFit/>
          </a:bodyPr>
          <a:lstStyle/>
          <a:p>
            <a:r>
              <a:rPr lang="en-IN" dirty="0"/>
              <a:t>Low     Med    High</a:t>
            </a:r>
          </a:p>
        </p:txBody>
      </p:sp>
      <p:sp>
        <p:nvSpPr>
          <p:cNvPr id="23" name="TextBox 22">
            <a:extLst>
              <a:ext uri="{FF2B5EF4-FFF2-40B4-BE49-F238E27FC236}">
                <a16:creationId xmlns:a16="http://schemas.microsoft.com/office/drawing/2014/main" id="{62945BB1-2CD8-48F2-5D29-0D9486CDC96E}"/>
              </a:ext>
            </a:extLst>
          </p:cNvPr>
          <p:cNvSpPr txBox="1"/>
          <p:nvPr/>
        </p:nvSpPr>
        <p:spPr>
          <a:xfrm>
            <a:off x="7711521" y="5715192"/>
            <a:ext cx="2006601" cy="369332"/>
          </a:xfrm>
          <a:prstGeom prst="rect">
            <a:avLst/>
          </a:prstGeom>
          <a:noFill/>
        </p:spPr>
        <p:txBody>
          <a:bodyPr wrap="square" rtlCol="0">
            <a:spAutoFit/>
          </a:bodyPr>
          <a:lstStyle/>
          <a:p>
            <a:r>
              <a:rPr lang="en-IN" dirty="0"/>
              <a:t>Low     Med    High</a:t>
            </a:r>
          </a:p>
        </p:txBody>
      </p:sp>
      <p:sp>
        <p:nvSpPr>
          <p:cNvPr id="24" name="TextBox 23">
            <a:extLst>
              <a:ext uri="{FF2B5EF4-FFF2-40B4-BE49-F238E27FC236}">
                <a16:creationId xmlns:a16="http://schemas.microsoft.com/office/drawing/2014/main" id="{E6F8D06D-0030-B7A3-C574-09B607B00FB0}"/>
              </a:ext>
            </a:extLst>
          </p:cNvPr>
          <p:cNvSpPr txBox="1"/>
          <p:nvPr/>
        </p:nvSpPr>
        <p:spPr>
          <a:xfrm>
            <a:off x="10038775" y="5715192"/>
            <a:ext cx="2006601" cy="369332"/>
          </a:xfrm>
          <a:prstGeom prst="rect">
            <a:avLst/>
          </a:prstGeom>
          <a:noFill/>
        </p:spPr>
        <p:txBody>
          <a:bodyPr wrap="square" rtlCol="0">
            <a:spAutoFit/>
          </a:bodyPr>
          <a:lstStyle/>
          <a:p>
            <a:r>
              <a:rPr lang="en-IN" dirty="0"/>
              <a:t>Low     Med    High</a:t>
            </a:r>
          </a:p>
        </p:txBody>
      </p:sp>
      <p:sp>
        <p:nvSpPr>
          <p:cNvPr id="3" name="TextBox 2">
            <a:extLst>
              <a:ext uri="{FF2B5EF4-FFF2-40B4-BE49-F238E27FC236}">
                <a16:creationId xmlns:a16="http://schemas.microsoft.com/office/drawing/2014/main" id="{CDE22AB9-5893-AA91-BFB4-B510720BEABE}"/>
              </a:ext>
            </a:extLst>
          </p:cNvPr>
          <p:cNvSpPr txBox="1"/>
          <p:nvPr/>
        </p:nvSpPr>
        <p:spPr>
          <a:xfrm>
            <a:off x="146624" y="4458639"/>
            <a:ext cx="2006601" cy="1294009"/>
          </a:xfrm>
          <a:prstGeom prst="rect">
            <a:avLst/>
          </a:prstGeom>
          <a:noFill/>
        </p:spPr>
        <p:txBody>
          <a:bodyPr wrap="square" rtlCol="0">
            <a:spAutoFit/>
          </a:bodyPr>
          <a:lstStyle/>
          <a:p>
            <a:pPr>
              <a:lnSpc>
                <a:spcPct val="150000"/>
              </a:lnSpc>
            </a:pPr>
            <a:r>
              <a:rPr lang="en-IN" dirty="0"/>
              <a:t>Low  </a:t>
            </a:r>
          </a:p>
          <a:p>
            <a:pPr>
              <a:lnSpc>
                <a:spcPct val="150000"/>
              </a:lnSpc>
            </a:pPr>
            <a:r>
              <a:rPr lang="en-IN" dirty="0"/>
              <a:t>Med </a:t>
            </a:r>
          </a:p>
          <a:p>
            <a:pPr>
              <a:lnSpc>
                <a:spcPct val="150000"/>
              </a:lnSpc>
            </a:pPr>
            <a:r>
              <a:rPr lang="en-IN" dirty="0"/>
              <a:t>High</a:t>
            </a:r>
          </a:p>
        </p:txBody>
      </p:sp>
      <p:sp>
        <p:nvSpPr>
          <p:cNvPr id="4" name="Isosceles Triangle 3">
            <a:extLst>
              <a:ext uri="{FF2B5EF4-FFF2-40B4-BE49-F238E27FC236}">
                <a16:creationId xmlns:a16="http://schemas.microsoft.com/office/drawing/2014/main" id="{6F36719F-2ED5-38B0-F5D8-166454A74A82}"/>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5" name="Table 4">
            <a:extLst>
              <a:ext uri="{FF2B5EF4-FFF2-40B4-BE49-F238E27FC236}">
                <a16:creationId xmlns:a16="http://schemas.microsoft.com/office/drawing/2014/main" id="{BCA34B8B-788C-91E2-1B1B-922E0768984A}"/>
              </a:ext>
            </a:extLst>
          </p:cNvPr>
          <p:cNvGraphicFramePr>
            <a:graphicFrameLocks noGrp="1"/>
          </p:cNvGraphicFramePr>
          <p:nvPr>
            <p:extLst>
              <p:ext uri="{D42A27DB-BD31-4B8C-83A1-F6EECF244321}">
                <p14:modId xmlns:p14="http://schemas.microsoft.com/office/powerpoint/2010/main" val="1815587910"/>
              </p:ext>
            </p:extLst>
          </p:nvPr>
        </p:nvGraphicFramePr>
        <p:xfrm>
          <a:off x="5158823" y="4592594"/>
          <a:ext cx="1958974" cy="1112520"/>
        </p:xfrm>
        <a:graphic>
          <a:graphicData uri="http://schemas.openxmlformats.org/drawingml/2006/table">
            <a:tbl>
              <a:tblPr bandRow="1">
                <a:tableStyleId>{073A0DAA-6AF3-43AB-8588-CEC1D06C72B9}</a:tableStyleId>
              </a:tblPr>
              <a:tblGrid>
                <a:gridCol w="695325">
                  <a:extLst>
                    <a:ext uri="{9D8B030D-6E8A-4147-A177-3AD203B41FA5}">
                      <a16:colId xmlns:a16="http://schemas.microsoft.com/office/drawing/2014/main" val="1378622236"/>
                    </a:ext>
                  </a:extLst>
                </a:gridCol>
                <a:gridCol w="666750">
                  <a:extLst>
                    <a:ext uri="{9D8B030D-6E8A-4147-A177-3AD203B41FA5}">
                      <a16:colId xmlns:a16="http://schemas.microsoft.com/office/drawing/2014/main" val="373693309"/>
                    </a:ext>
                  </a:extLst>
                </a:gridCol>
                <a:gridCol w="596899">
                  <a:extLst>
                    <a:ext uri="{9D8B030D-6E8A-4147-A177-3AD203B41FA5}">
                      <a16:colId xmlns:a16="http://schemas.microsoft.com/office/drawing/2014/main" val="3945074127"/>
                    </a:ext>
                  </a:extLst>
                </a:gridCol>
              </a:tblGrid>
              <a:tr h="370840">
                <a:tc>
                  <a:txBody>
                    <a:bodyPr/>
                    <a:lstStyle/>
                    <a:p>
                      <a:pPr algn="ctr"/>
                      <a:r>
                        <a:rPr lang="en-IN" dirty="0"/>
                        <a:t>33</a:t>
                      </a:r>
                    </a:p>
                  </a:txBody>
                  <a:tcPr/>
                </a:tc>
                <a:tc>
                  <a:txBody>
                    <a:bodyPr/>
                    <a:lstStyle/>
                    <a:p>
                      <a:pPr algn="ctr"/>
                      <a:r>
                        <a:rPr lang="en-IN" dirty="0"/>
                        <a:t>6</a:t>
                      </a:r>
                    </a:p>
                  </a:txBody>
                  <a:tcPr/>
                </a:tc>
                <a:tc>
                  <a:txBody>
                    <a:bodyPr/>
                    <a:lstStyle/>
                    <a:p>
                      <a:pPr algn="ctr"/>
                      <a:r>
                        <a:rPr lang="en-IN" dirty="0"/>
                        <a:t>0</a:t>
                      </a:r>
                    </a:p>
                  </a:txBody>
                  <a:tcPr/>
                </a:tc>
                <a:extLst>
                  <a:ext uri="{0D108BD9-81ED-4DB2-BD59-A6C34878D82A}">
                    <a16:rowId xmlns:a16="http://schemas.microsoft.com/office/drawing/2014/main" val="1434590033"/>
                  </a:ext>
                </a:extLst>
              </a:tr>
              <a:tr h="370840">
                <a:tc>
                  <a:txBody>
                    <a:bodyPr/>
                    <a:lstStyle/>
                    <a:p>
                      <a:pPr algn="ctr"/>
                      <a:r>
                        <a:rPr lang="en-IN" dirty="0"/>
                        <a:t>8</a:t>
                      </a:r>
                    </a:p>
                  </a:txBody>
                  <a:tcPr/>
                </a:tc>
                <a:tc>
                  <a:txBody>
                    <a:bodyPr/>
                    <a:lstStyle/>
                    <a:p>
                      <a:pPr algn="ctr"/>
                      <a:r>
                        <a:rPr lang="en-IN" dirty="0"/>
                        <a:t>74</a:t>
                      </a:r>
                    </a:p>
                  </a:txBody>
                  <a:tcPr/>
                </a:tc>
                <a:tc>
                  <a:txBody>
                    <a:bodyPr/>
                    <a:lstStyle/>
                    <a:p>
                      <a:pPr algn="ctr"/>
                      <a:r>
                        <a:rPr lang="en-IN" dirty="0"/>
                        <a:t>9</a:t>
                      </a:r>
                    </a:p>
                  </a:txBody>
                  <a:tcPr/>
                </a:tc>
                <a:extLst>
                  <a:ext uri="{0D108BD9-81ED-4DB2-BD59-A6C34878D82A}">
                    <a16:rowId xmlns:a16="http://schemas.microsoft.com/office/drawing/2014/main" val="358502552"/>
                  </a:ext>
                </a:extLst>
              </a:tr>
              <a:tr h="370840">
                <a:tc>
                  <a:txBody>
                    <a:bodyPr/>
                    <a:lstStyle/>
                    <a:p>
                      <a:pPr algn="ctr"/>
                      <a:r>
                        <a:rPr lang="en-IN" dirty="0"/>
                        <a:t>1</a:t>
                      </a:r>
                    </a:p>
                  </a:txBody>
                  <a:tcPr/>
                </a:tc>
                <a:tc>
                  <a:txBody>
                    <a:bodyPr/>
                    <a:lstStyle/>
                    <a:p>
                      <a:pPr algn="ctr"/>
                      <a:r>
                        <a:rPr lang="en-IN" dirty="0"/>
                        <a:t>26</a:t>
                      </a:r>
                    </a:p>
                  </a:txBody>
                  <a:tcPr/>
                </a:tc>
                <a:tc>
                  <a:txBody>
                    <a:bodyPr/>
                    <a:lstStyle/>
                    <a:p>
                      <a:pPr algn="ctr"/>
                      <a:r>
                        <a:rPr lang="en-IN" dirty="0"/>
                        <a:t>49</a:t>
                      </a:r>
                    </a:p>
                  </a:txBody>
                  <a:tcPr/>
                </a:tc>
                <a:extLst>
                  <a:ext uri="{0D108BD9-81ED-4DB2-BD59-A6C34878D82A}">
                    <a16:rowId xmlns:a16="http://schemas.microsoft.com/office/drawing/2014/main" val="2251843507"/>
                  </a:ext>
                </a:extLst>
              </a:tr>
            </a:tbl>
          </a:graphicData>
        </a:graphic>
      </p:graphicFrame>
      <p:sp>
        <p:nvSpPr>
          <p:cNvPr id="6" name="TextBox 5">
            <a:extLst>
              <a:ext uri="{FF2B5EF4-FFF2-40B4-BE49-F238E27FC236}">
                <a16:creationId xmlns:a16="http://schemas.microsoft.com/office/drawing/2014/main" id="{AFF56AD6-499F-B9F7-F1E6-451DF816DF8C}"/>
              </a:ext>
            </a:extLst>
          </p:cNvPr>
          <p:cNvSpPr txBox="1"/>
          <p:nvPr/>
        </p:nvSpPr>
        <p:spPr>
          <a:xfrm>
            <a:off x="5158823" y="4085040"/>
            <a:ext cx="1409700" cy="369332"/>
          </a:xfrm>
          <a:prstGeom prst="rect">
            <a:avLst/>
          </a:prstGeom>
          <a:noFill/>
        </p:spPr>
        <p:txBody>
          <a:bodyPr wrap="square" rtlCol="0">
            <a:spAutoFit/>
          </a:bodyPr>
          <a:lstStyle/>
          <a:p>
            <a:r>
              <a:rPr lang="en-IN" dirty="0"/>
              <a:t>ELM(3):</a:t>
            </a:r>
          </a:p>
        </p:txBody>
      </p:sp>
      <p:sp>
        <p:nvSpPr>
          <p:cNvPr id="11" name="TextBox 10">
            <a:extLst>
              <a:ext uri="{FF2B5EF4-FFF2-40B4-BE49-F238E27FC236}">
                <a16:creationId xmlns:a16="http://schemas.microsoft.com/office/drawing/2014/main" id="{D86349DB-5748-7F73-11CC-22C9F81634ED}"/>
              </a:ext>
            </a:extLst>
          </p:cNvPr>
          <p:cNvSpPr txBox="1"/>
          <p:nvPr/>
        </p:nvSpPr>
        <p:spPr>
          <a:xfrm>
            <a:off x="5158822" y="5699224"/>
            <a:ext cx="2006601" cy="369332"/>
          </a:xfrm>
          <a:prstGeom prst="rect">
            <a:avLst/>
          </a:prstGeom>
          <a:noFill/>
        </p:spPr>
        <p:txBody>
          <a:bodyPr wrap="square" rtlCol="0">
            <a:spAutoFit/>
          </a:bodyPr>
          <a:lstStyle/>
          <a:p>
            <a:r>
              <a:rPr lang="en-IN" dirty="0"/>
              <a:t>Low     Med    High</a:t>
            </a:r>
          </a:p>
        </p:txBody>
      </p:sp>
    </p:spTree>
    <p:extLst>
      <p:ext uri="{BB962C8B-B14F-4D97-AF65-F5344CB8AC3E}">
        <p14:creationId xmlns:p14="http://schemas.microsoft.com/office/powerpoint/2010/main" val="2256483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7494D-C079-F5B7-089F-4B6BC5E627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2AD17-23DC-2EFD-2AAC-A39C1EE0AB29}"/>
              </a:ext>
            </a:extLst>
          </p:cNvPr>
          <p:cNvSpPr>
            <a:spLocks noGrp="1"/>
          </p:cNvSpPr>
          <p:nvPr>
            <p:ph type="title"/>
          </p:nvPr>
        </p:nvSpPr>
        <p:spPr>
          <a:xfrm>
            <a:off x="260266" y="830497"/>
            <a:ext cx="12007934" cy="1257300"/>
          </a:xfrm>
        </p:spPr>
        <p:txBody>
          <a:bodyPr>
            <a:normAutofit fontScale="90000"/>
          </a:bodyPr>
          <a:lstStyle/>
          <a:p>
            <a:pPr algn="l"/>
            <a:r>
              <a:rPr lang="en-IN" sz="3600" b="1" dirty="0"/>
              <a:t>Results: </a:t>
            </a:r>
            <a:r>
              <a:rPr lang="en-US" sz="3600" b="1" dirty="0"/>
              <a:t>All Accuracy Comparisons with/without Feature Selection:</a:t>
            </a:r>
            <a:br>
              <a:rPr lang="en-US" sz="3600" b="1" dirty="0"/>
            </a:br>
            <a:r>
              <a:rPr lang="en-US" sz="3600" dirty="0"/>
              <a:t>Dataset Two: IRIS Dataset:</a:t>
            </a:r>
            <a:br>
              <a:rPr lang="en-US" sz="4800" b="1" dirty="0"/>
            </a:br>
            <a:endParaRPr lang="en-IN" sz="4800" dirty="0"/>
          </a:p>
        </p:txBody>
      </p:sp>
      <p:sp>
        <p:nvSpPr>
          <p:cNvPr id="7" name="Isosceles Triangle 6">
            <a:extLst>
              <a:ext uri="{FF2B5EF4-FFF2-40B4-BE49-F238E27FC236}">
                <a16:creationId xmlns:a16="http://schemas.microsoft.com/office/drawing/2014/main" id="{A3CAF080-FCAE-AC25-071C-B6EF176F24A8}"/>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8" name="Table 7">
            <a:extLst>
              <a:ext uri="{FF2B5EF4-FFF2-40B4-BE49-F238E27FC236}">
                <a16:creationId xmlns:a16="http://schemas.microsoft.com/office/drawing/2014/main" id="{F4D9993E-AECF-7ECA-B3EA-224117DF9102}"/>
              </a:ext>
            </a:extLst>
          </p:cNvPr>
          <p:cNvGraphicFramePr>
            <a:graphicFrameLocks noGrp="1"/>
          </p:cNvGraphicFramePr>
          <p:nvPr>
            <p:extLst>
              <p:ext uri="{D42A27DB-BD31-4B8C-83A1-F6EECF244321}">
                <p14:modId xmlns:p14="http://schemas.microsoft.com/office/powerpoint/2010/main" val="2603974290"/>
              </p:ext>
            </p:extLst>
          </p:nvPr>
        </p:nvGraphicFramePr>
        <p:xfrm>
          <a:off x="1712560" y="2018539"/>
          <a:ext cx="8570648" cy="1107440"/>
        </p:xfrm>
        <a:graphic>
          <a:graphicData uri="http://schemas.openxmlformats.org/drawingml/2006/table">
            <a:tbl>
              <a:tblPr firstRow="1" bandRow="1">
                <a:tableStyleId>{073A0DAA-6AF3-43AB-8588-CEC1D06C72B9}</a:tableStyleId>
              </a:tblPr>
              <a:tblGrid>
                <a:gridCol w="725840">
                  <a:extLst>
                    <a:ext uri="{9D8B030D-6E8A-4147-A177-3AD203B41FA5}">
                      <a16:colId xmlns:a16="http://schemas.microsoft.com/office/drawing/2014/main" val="1443978667"/>
                    </a:ext>
                  </a:extLst>
                </a:gridCol>
                <a:gridCol w="3025158">
                  <a:extLst>
                    <a:ext uri="{9D8B030D-6E8A-4147-A177-3AD203B41FA5}">
                      <a16:colId xmlns:a16="http://schemas.microsoft.com/office/drawing/2014/main" val="1613467020"/>
                    </a:ext>
                  </a:extLst>
                </a:gridCol>
                <a:gridCol w="2590800">
                  <a:extLst>
                    <a:ext uri="{9D8B030D-6E8A-4147-A177-3AD203B41FA5}">
                      <a16:colId xmlns:a16="http://schemas.microsoft.com/office/drawing/2014/main" val="426115020"/>
                    </a:ext>
                  </a:extLst>
                </a:gridCol>
                <a:gridCol w="2228850">
                  <a:extLst>
                    <a:ext uri="{9D8B030D-6E8A-4147-A177-3AD203B41FA5}">
                      <a16:colId xmlns:a16="http://schemas.microsoft.com/office/drawing/2014/main" val="1790855210"/>
                    </a:ext>
                  </a:extLst>
                </a:gridCol>
              </a:tblGrid>
              <a:tr h="370840">
                <a:tc>
                  <a:txBody>
                    <a:bodyPr/>
                    <a:lstStyle/>
                    <a:p>
                      <a:pPr algn="ctr"/>
                      <a:r>
                        <a:rPr lang="en-IN" dirty="0"/>
                        <a:t>S.no</a:t>
                      </a:r>
                    </a:p>
                  </a:txBody>
                  <a:tcPr/>
                </a:tc>
                <a:tc>
                  <a:txBody>
                    <a:bodyPr/>
                    <a:lstStyle/>
                    <a:p>
                      <a:pPr algn="ctr"/>
                      <a:r>
                        <a:rPr lang="en-IN" dirty="0"/>
                        <a:t>Without Feature Selection(1)</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dirty="0"/>
                        <a:t>With Feature Selection(2)</a:t>
                      </a:r>
                    </a:p>
                  </a:txBody>
                  <a:tcPr/>
                </a:tc>
                <a:tc>
                  <a:txBody>
                    <a:bodyPr/>
                    <a:lstStyle/>
                    <a:p>
                      <a:pPr algn="ctr"/>
                      <a:r>
                        <a:rPr lang="en-IN" dirty="0"/>
                        <a:t>Online Training(3)</a:t>
                      </a:r>
                    </a:p>
                  </a:txBody>
                  <a:tcPr/>
                </a:tc>
                <a:extLst>
                  <a:ext uri="{0D108BD9-81ED-4DB2-BD59-A6C34878D82A}">
                    <a16:rowId xmlns:a16="http://schemas.microsoft.com/office/drawing/2014/main" val="4086863503"/>
                  </a:ext>
                </a:extLst>
              </a:tr>
              <a:tr h="370840">
                <a:tc>
                  <a:txBody>
                    <a:bodyPr/>
                    <a:lstStyle/>
                    <a:p>
                      <a:pPr algn="ctr"/>
                      <a:r>
                        <a:rPr lang="en-IN" dirty="0"/>
                        <a:t>ELM</a:t>
                      </a:r>
                    </a:p>
                  </a:txBody>
                  <a:tcPr/>
                </a:tc>
                <a:tc>
                  <a:txBody>
                    <a:bodyPr/>
                    <a:lstStyle/>
                    <a:p>
                      <a:pPr algn="ctr"/>
                      <a:r>
                        <a:rPr lang="en-IN" dirty="0"/>
                        <a:t>96.67%</a:t>
                      </a:r>
                    </a:p>
                  </a:txBody>
                  <a:tcPr/>
                </a:tc>
                <a:tc>
                  <a:txBody>
                    <a:bodyPr/>
                    <a:lstStyle/>
                    <a:p>
                      <a:pPr algn="ctr"/>
                      <a:r>
                        <a:rPr lang="en-IN" dirty="0"/>
                        <a:t>93.33%</a:t>
                      </a:r>
                    </a:p>
                  </a:txBody>
                  <a:tcPr/>
                </a:tc>
                <a:tc>
                  <a:txBody>
                    <a:bodyPr/>
                    <a:lstStyle/>
                    <a:p>
                      <a:pPr algn="ctr"/>
                      <a:r>
                        <a:rPr lang="en-IN" dirty="0">
                          <a:latin typeface="+mn-lt"/>
                          <a:cs typeface="Arial" panose="020B0604020202020204" pitchFamily="34" charset="0"/>
                        </a:rPr>
                        <a:t>83.44%</a:t>
                      </a:r>
                    </a:p>
                  </a:txBody>
                  <a:tcPr/>
                </a:tc>
                <a:extLst>
                  <a:ext uri="{0D108BD9-81ED-4DB2-BD59-A6C34878D82A}">
                    <a16:rowId xmlns:a16="http://schemas.microsoft.com/office/drawing/2014/main" val="3553119316"/>
                  </a:ext>
                </a:extLst>
              </a:tr>
              <a:tr h="0">
                <a:tc>
                  <a:txBody>
                    <a:bodyPr/>
                    <a:lstStyle/>
                    <a:p>
                      <a:pPr algn="ctr"/>
                      <a:r>
                        <a:rPr lang="en-IN" dirty="0"/>
                        <a:t>SVM</a:t>
                      </a:r>
                    </a:p>
                  </a:txBody>
                  <a:tcPr/>
                </a:tc>
                <a:tc>
                  <a:txBody>
                    <a:bodyPr/>
                    <a:lstStyle/>
                    <a:p>
                      <a:pPr algn="ctr"/>
                      <a:r>
                        <a:rPr lang="en-IN" dirty="0"/>
                        <a:t>96.67%</a:t>
                      </a:r>
                    </a:p>
                  </a:txBody>
                  <a:tcPr/>
                </a:tc>
                <a:tc>
                  <a:txBody>
                    <a:bodyPr/>
                    <a:lstStyle/>
                    <a:p>
                      <a:pPr algn="ctr"/>
                      <a:r>
                        <a:rPr lang="en-IN" dirty="0"/>
                        <a:t>96.67%</a:t>
                      </a:r>
                    </a:p>
                  </a:txBody>
                  <a:tcPr/>
                </a:tc>
                <a:tc>
                  <a:txBody>
                    <a:bodyPr/>
                    <a:lstStyle/>
                    <a:p>
                      <a:pPr algn="ctr"/>
                      <a:r>
                        <a:rPr lang="en-IN"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289594250"/>
                  </a:ext>
                </a:extLst>
              </a:tr>
            </a:tbl>
          </a:graphicData>
        </a:graphic>
      </p:graphicFrame>
      <p:graphicFrame>
        <p:nvGraphicFramePr>
          <p:cNvPr id="9" name="Table 8">
            <a:extLst>
              <a:ext uri="{FF2B5EF4-FFF2-40B4-BE49-F238E27FC236}">
                <a16:creationId xmlns:a16="http://schemas.microsoft.com/office/drawing/2014/main" id="{10716C5C-5D54-F3CF-E184-7ECFF5D0923D}"/>
              </a:ext>
            </a:extLst>
          </p:cNvPr>
          <p:cNvGraphicFramePr>
            <a:graphicFrameLocks noGrp="1"/>
          </p:cNvGraphicFramePr>
          <p:nvPr>
            <p:extLst>
              <p:ext uri="{D42A27DB-BD31-4B8C-83A1-F6EECF244321}">
                <p14:modId xmlns:p14="http://schemas.microsoft.com/office/powerpoint/2010/main" val="2454137649"/>
              </p:ext>
            </p:extLst>
          </p:nvPr>
        </p:nvGraphicFramePr>
        <p:xfrm>
          <a:off x="808966" y="4596861"/>
          <a:ext cx="1958974" cy="1112520"/>
        </p:xfrm>
        <a:graphic>
          <a:graphicData uri="http://schemas.openxmlformats.org/drawingml/2006/table">
            <a:tbl>
              <a:tblPr bandRow="1">
                <a:tableStyleId>{073A0DAA-6AF3-43AB-8588-CEC1D06C72B9}</a:tableStyleId>
              </a:tblPr>
              <a:tblGrid>
                <a:gridCol w="695325">
                  <a:extLst>
                    <a:ext uri="{9D8B030D-6E8A-4147-A177-3AD203B41FA5}">
                      <a16:colId xmlns:a16="http://schemas.microsoft.com/office/drawing/2014/main" val="1378622236"/>
                    </a:ext>
                  </a:extLst>
                </a:gridCol>
                <a:gridCol w="666750">
                  <a:extLst>
                    <a:ext uri="{9D8B030D-6E8A-4147-A177-3AD203B41FA5}">
                      <a16:colId xmlns:a16="http://schemas.microsoft.com/office/drawing/2014/main" val="373693309"/>
                    </a:ext>
                  </a:extLst>
                </a:gridCol>
                <a:gridCol w="596899">
                  <a:extLst>
                    <a:ext uri="{9D8B030D-6E8A-4147-A177-3AD203B41FA5}">
                      <a16:colId xmlns:a16="http://schemas.microsoft.com/office/drawing/2014/main" val="3945074127"/>
                    </a:ext>
                  </a:extLst>
                </a:gridCol>
              </a:tblGrid>
              <a:tr h="370840">
                <a:tc>
                  <a:txBody>
                    <a:bodyPr/>
                    <a:lstStyle/>
                    <a:p>
                      <a:pPr algn="ctr"/>
                      <a:r>
                        <a:rPr lang="en-IN" dirty="0"/>
                        <a:t>10</a:t>
                      </a:r>
                    </a:p>
                  </a:txBody>
                  <a:tcPr/>
                </a:tc>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1434590033"/>
                  </a:ext>
                </a:extLst>
              </a:tr>
              <a:tr h="370840">
                <a:tc>
                  <a:txBody>
                    <a:bodyPr/>
                    <a:lstStyle/>
                    <a:p>
                      <a:pPr algn="ctr"/>
                      <a:r>
                        <a:rPr lang="en-IN" dirty="0"/>
                        <a:t>0</a:t>
                      </a:r>
                    </a:p>
                  </a:txBody>
                  <a:tcPr/>
                </a:tc>
                <a:tc>
                  <a:txBody>
                    <a:bodyPr/>
                    <a:lstStyle/>
                    <a:p>
                      <a:pPr algn="ctr"/>
                      <a:r>
                        <a:rPr lang="en-IN" dirty="0"/>
                        <a:t>10</a:t>
                      </a:r>
                    </a:p>
                  </a:txBody>
                  <a:tcPr/>
                </a:tc>
                <a:tc>
                  <a:txBody>
                    <a:bodyPr/>
                    <a:lstStyle/>
                    <a:p>
                      <a:pPr algn="ctr"/>
                      <a:r>
                        <a:rPr lang="en-IN" dirty="0"/>
                        <a:t>0</a:t>
                      </a:r>
                    </a:p>
                  </a:txBody>
                  <a:tcPr/>
                </a:tc>
                <a:extLst>
                  <a:ext uri="{0D108BD9-81ED-4DB2-BD59-A6C34878D82A}">
                    <a16:rowId xmlns:a16="http://schemas.microsoft.com/office/drawing/2014/main" val="358502552"/>
                  </a:ext>
                </a:extLst>
              </a:tr>
              <a:tr h="370840">
                <a:tc>
                  <a:txBody>
                    <a:bodyPr/>
                    <a:lstStyle/>
                    <a:p>
                      <a:pPr algn="ctr"/>
                      <a:r>
                        <a:rPr lang="en-IN" dirty="0"/>
                        <a:t>0</a:t>
                      </a:r>
                    </a:p>
                  </a:txBody>
                  <a:tcPr/>
                </a:tc>
                <a:tc>
                  <a:txBody>
                    <a:bodyPr/>
                    <a:lstStyle/>
                    <a:p>
                      <a:pPr algn="ctr"/>
                      <a:r>
                        <a:rPr lang="en-IN" dirty="0"/>
                        <a:t>1</a:t>
                      </a:r>
                    </a:p>
                  </a:txBody>
                  <a:tcPr/>
                </a:tc>
                <a:tc>
                  <a:txBody>
                    <a:bodyPr/>
                    <a:lstStyle/>
                    <a:p>
                      <a:pPr algn="ctr"/>
                      <a:r>
                        <a:rPr lang="en-IN" dirty="0"/>
                        <a:t>9</a:t>
                      </a:r>
                    </a:p>
                  </a:txBody>
                  <a:tcPr/>
                </a:tc>
                <a:extLst>
                  <a:ext uri="{0D108BD9-81ED-4DB2-BD59-A6C34878D82A}">
                    <a16:rowId xmlns:a16="http://schemas.microsoft.com/office/drawing/2014/main" val="2251843507"/>
                  </a:ext>
                </a:extLst>
              </a:tr>
            </a:tbl>
          </a:graphicData>
        </a:graphic>
      </p:graphicFrame>
      <p:sp>
        <p:nvSpPr>
          <p:cNvPr id="10" name="TextBox 9">
            <a:extLst>
              <a:ext uri="{FF2B5EF4-FFF2-40B4-BE49-F238E27FC236}">
                <a16:creationId xmlns:a16="http://schemas.microsoft.com/office/drawing/2014/main" id="{8A3B5756-78D9-084B-AB30-D52C2912267C}"/>
              </a:ext>
            </a:extLst>
          </p:cNvPr>
          <p:cNvSpPr txBox="1"/>
          <p:nvPr/>
        </p:nvSpPr>
        <p:spPr>
          <a:xfrm>
            <a:off x="658419" y="3489421"/>
            <a:ext cx="2857500" cy="461665"/>
          </a:xfrm>
          <a:prstGeom prst="rect">
            <a:avLst/>
          </a:prstGeom>
          <a:noFill/>
        </p:spPr>
        <p:txBody>
          <a:bodyPr wrap="square" rtlCol="0">
            <a:spAutoFit/>
          </a:bodyPr>
          <a:lstStyle/>
          <a:p>
            <a:r>
              <a:rPr lang="en-IN" sz="2400" b="1" dirty="0"/>
              <a:t>Confusion Matrices:</a:t>
            </a:r>
          </a:p>
        </p:txBody>
      </p:sp>
      <p:sp>
        <p:nvSpPr>
          <p:cNvPr id="13" name="TextBox 12">
            <a:extLst>
              <a:ext uri="{FF2B5EF4-FFF2-40B4-BE49-F238E27FC236}">
                <a16:creationId xmlns:a16="http://schemas.microsoft.com/office/drawing/2014/main" id="{8907B0F4-FCD5-D204-781B-27F6D5D892F6}"/>
              </a:ext>
            </a:extLst>
          </p:cNvPr>
          <p:cNvSpPr txBox="1"/>
          <p:nvPr/>
        </p:nvSpPr>
        <p:spPr>
          <a:xfrm>
            <a:off x="808966" y="4089307"/>
            <a:ext cx="1409700" cy="369332"/>
          </a:xfrm>
          <a:prstGeom prst="rect">
            <a:avLst/>
          </a:prstGeom>
          <a:noFill/>
        </p:spPr>
        <p:txBody>
          <a:bodyPr wrap="square" rtlCol="0">
            <a:spAutoFit/>
          </a:bodyPr>
          <a:lstStyle/>
          <a:p>
            <a:r>
              <a:rPr lang="en-IN" dirty="0"/>
              <a:t>ELM(1):</a:t>
            </a:r>
          </a:p>
        </p:txBody>
      </p:sp>
      <p:graphicFrame>
        <p:nvGraphicFramePr>
          <p:cNvPr id="15" name="Table 14">
            <a:extLst>
              <a:ext uri="{FF2B5EF4-FFF2-40B4-BE49-F238E27FC236}">
                <a16:creationId xmlns:a16="http://schemas.microsoft.com/office/drawing/2014/main" id="{ECB810E8-30F4-C1F1-9A8D-23DB73B9AD1B}"/>
              </a:ext>
            </a:extLst>
          </p:cNvPr>
          <p:cNvGraphicFramePr>
            <a:graphicFrameLocks noGrp="1"/>
          </p:cNvGraphicFramePr>
          <p:nvPr>
            <p:extLst>
              <p:ext uri="{D42A27DB-BD31-4B8C-83A1-F6EECF244321}">
                <p14:modId xmlns:p14="http://schemas.microsoft.com/office/powerpoint/2010/main" val="2764359677"/>
              </p:ext>
            </p:extLst>
          </p:nvPr>
        </p:nvGraphicFramePr>
        <p:xfrm>
          <a:off x="2977467" y="4592594"/>
          <a:ext cx="1958974" cy="1112520"/>
        </p:xfrm>
        <a:graphic>
          <a:graphicData uri="http://schemas.openxmlformats.org/drawingml/2006/table">
            <a:tbl>
              <a:tblPr bandRow="1">
                <a:tableStyleId>{073A0DAA-6AF3-43AB-8588-CEC1D06C72B9}</a:tableStyleId>
              </a:tblPr>
              <a:tblGrid>
                <a:gridCol w="695325">
                  <a:extLst>
                    <a:ext uri="{9D8B030D-6E8A-4147-A177-3AD203B41FA5}">
                      <a16:colId xmlns:a16="http://schemas.microsoft.com/office/drawing/2014/main" val="1378622236"/>
                    </a:ext>
                  </a:extLst>
                </a:gridCol>
                <a:gridCol w="666750">
                  <a:extLst>
                    <a:ext uri="{9D8B030D-6E8A-4147-A177-3AD203B41FA5}">
                      <a16:colId xmlns:a16="http://schemas.microsoft.com/office/drawing/2014/main" val="373693309"/>
                    </a:ext>
                  </a:extLst>
                </a:gridCol>
                <a:gridCol w="596899">
                  <a:extLst>
                    <a:ext uri="{9D8B030D-6E8A-4147-A177-3AD203B41FA5}">
                      <a16:colId xmlns:a16="http://schemas.microsoft.com/office/drawing/2014/main" val="3945074127"/>
                    </a:ext>
                  </a:extLst>
                </a:gridCol>
              </a:tblGrid>
              <a:tr h="370840">
                <a:tc>
                  <a:txBody>
                    <a:bodyPr/>
                    <a:lstStyle/>
                    <a:p>
                      <a:pPr algn="ctr"/>
                      <a:r>
                        <a:rPr lang="en-IN" dirty="0"/>
                        <a:t>10</a:t>
                      </a:r>
                    </a:p>
                  </a:txBody>
                  <a:tcPr/>
                </a:tc>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1434590033"/>
                  </a:ext>
                </a:extLst>
              </a:tr>
              <a:tr h="370840">
                <a:tc>
                  <a:txBody>
                    <a:bodyPr/>
                    <a:lstStyle/>
                    <a:p>
                      <a:pPr algn="ctr"/>
                      <a:r>
                        <a:rPr lang="en-IN" dirty="0"/>
                        <a:t>0</a:t>
                      </a:r>
                    </a:p>
                  </a:txBody>
                  <a:tcPr/>
                </a:tc>
                <a:tc>
                  <a:txBody>
                    <a:bodyPr/>
                    <a:lstStyle/>
                    <a:p>
                      <a:pPr algn="ctr"/>
                      <a:r>
                        <a:rPr lang="en-IN" dirty="0"/>
                        <a:t>9</a:t>
                      </a:r>
                    </a:p>
                  </a:txBody>
                  <a:tcPr/>
                </a:tc>
                <a:tc>
                  <a:txBody>
                    <a:bodyPr/>
                    <a:lstStyle/>
                    <a:p>
                      <a:pPr algn="ctr"/>
                      <a:r>
                        <a:rPr lang="en-IN" dirty="0"/>
                        <a:t>1</a:t>
                      </a:r>
                    </a:p>
                  </a:txBody>
                  <a:tcPr/>
                </a:tc>
                <a:extLst>
                  <a:ext uri="{0D108BD9-81ED-4DB2-BD59-A6C34878D82A}">
                    <a16:rowId xmlns:a16="http://schemas.microsoft.com/office/drawing/2014/main" val="358502552"/>
                  </a:ext>
                </a:extLst>
              </a:tr>
              <a:tr h="370840">
                <a:tc>
                  <a:txBody>
                    <a:bodyPr/>
                    <a:lstStyle/>
                    <a:p>
                      <a:pPr algn="ctr"/>
                      <a:r>
                        <a:rPr lang="en-IN" dirty="0"/>
                        <a:t>0</a:t>
                      </a:r>
                    </a:p>
                  </a:txBody>
                  <a:tcPr/>
                </a:tc>
                <a:tc>
                  <a:txBody>
                    <a:bodyPr/>
                    <a:lstStyle/>
                    <a:p>
                      <a:pPr algn="ctr"/>
                      <a:r>
                        <a:rPr lang="en-IN" dirty="0"/>
                        <a:t>1</a:t>
                      </a:r>
                    </a:p>
                  </a:txBody>
                  <a:tcPr/>
                </a:tc>
                <a:tc>
                  <a:txBody>
                    <a:bodyPr/>
                    <a:lstStyle/>
                    <a:p>
                      <a:pPr algn="ctr"/>
                      <a:r>
                        <a:rPr lang="en-IN" dirty="0"/>
                        <a:t>9</a:t>
                      </a:r>
                    </a:p>
                  </a:txBody>
                  <a:tcPr/>
                </a:tc>
                <a:extLst>
                  <a:ext uri="{0D108BD9-81ED-4DB2-BD59-A6C34878D82A}">
                    <a16:rowId xmlns:a16="http://schemas.microsoft.com/office/drawing/2014/main" val="2251843507"/>
                  </a:ext>
                </a:extLst>
              </a:tr>
            </a:tbl>
          </a:graphicData>
        </a:graphic>
      </p:graphicFrame>
      <p:sp>
        <p:nvSpPr>
          <p:cNvPr id="16" name="TextBox 15">
            <a:extLst>
              <a:ext uri="{FF2B5EF4-FFF2-40B4-BE49-F238E27FC236}">
                <a16:creationId xmlns:a16="http://schemas.microsoft.com/office/drawing/2014/main" id="{0E7BD74C-7159-232C-DBB2-90780DCED595}"/>
              </a:ext>
            </a:extLst>
          </p:cNvPr>
          <p:cNvSpPr txBox="1"/>
          <p:nvPr/>
        </p:nvSpPr>
        <p:spPr>
          <a:xfrm>
            <a:off x="2977467" y="4085040"/>
            <a:ext cx="1409700" cy="369332"/>
          </a:xfrm>
          <a:prstGeom prst="rect">
            <a:avLst/>
          </a:prstGeom>
          <a:noFill/>
        </p:spPr>
        <p:txBody>
          <a:bodyPr wrap="square" rtlCol="0">
            <a:spAutoFit/>
          </a:bodyPr>
          <a:lstStyle/>
          <a:p>
            <a:r>
              <a:rPr lang="en-IN" dirty="0"/>
              <a:t>ELM(2):</a:t>
            </a:r>
          </a:p>
        </p:txBody>
      </p:sp>
      <p:graphicFrame>
        <p:nvGraphicFramePr>
          <p:cNvPr id="17" name="Table 16">
            <a:extLst>
              <a:ext uri="{FF2B5EF4-FFF2-40B4-BE49-F238E27FC236}">
                <a16:creationId xmlns:a16="http://schemas.microsoft.com/office/drawing/2014/main" id="{CB205A3B-26E0-A448-6994-45A289CD32A6}"/>
              </a:ext>
            </a:extLst>
          </p:cNvPr>
          <p:cNvGraphicFramePr>
            <a:graphicFrameLocks noGrp="1"/>
          </p:cNvGraphicFramePr>
          <p:nvPr>
            <p:extLst>
              <p:ext uri="{D42A27DB-BD31-4B8C-83A1-F6EECF244321}">
                <p14:modId xmlns:p14="http://schemas.microsoft.com/office/powerpoint/2010/main" val="2894685960"/>
              </p:ext>
            </p:extLst>
          </p:nvPr>
        </p:nvGraphicFramePr>
        <p:xfrm>
          <a:off x="7714697" y="4596861"/>
          <a:ext cx="1958974" cy="1112520"/>
        </p:xfrm>
        <a:graphic>
          <a:graphicData uri="http://schemas.openxmlformats.org/drawingml/2006/table">
            <a:tbl>
              <a:tblPr bandRow="1">
                <a:tableStyleId>{073A0DAA-6AF3-43AB-8588-CEC1D06C72B9}</a:tableStyleId>
              </a:tblPr>
              <a:tblGrid>
                <a:gridCol w="695325">
                  <a:extLst>
                    <a:ext uri="{9D8B030D-6E8A-4147-A177-3AD203B41FA5}">
                      <a16:colId xmlns:a16="http://schemas.microsoft.com/office/drawing/2014/main" val="1378622236"/>
                    </a:ext>
                  </a:extLst>
                </a:gridCol>
                <a:gridCol w="666750">
                  <a:extLst>
                    <a:ext uri="{9D8B030D-6E8A-4147-A177-3AD203B41FA5}">
                      <a16:colId xmlns:a16="http://schemas.microsoft.com/office/drawing/2014/main" val="373693309"/>
                    </a:ext>
                  </a:extLst>
                </a:gridCol>
                <a:gridCol w="596899">
                  <a:extLst>
                    <a:ext uri="{9D8B030D-6E8A-4147-A177-3AD203B41FA5}">
                      <a16:colId xmlns:a16="http://schemas.microsoft.com/office/drawing/2014/main" val="3945074127"/>
                    </a:ext>
                  </a:extLst>
                </a:gridCol>
              </a:tblGrid>
              <a:tr h="370840">
                <a:tc>
                  <a:txBody>
                    <a:bodyPr/>
                    <a:lstStyle/>
                    <a:p>
                      <a:pPr algn="ctr"/>
                      <a:r>
                        <a:rPr lang="en-IN" dirty="0"/>
                        <a:t>10</a:t>
                      </a:r>
                    </a:p>
                  </a:txBody>
                  <a:tcPr/>
                </a:tc>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1434590033"/>
                  </a:ext>
                </a:extLst>
              </a:tr>
              <a:tr h="370840">
                <a:tc>
                  <a:txBody>
                    <a:bodyPr/>
                    <a:lstStyle/>
                    <a:p>
                      <a:pPr algn="ctr"/>
                      <a:r>
                        <a:rPr lang="en-IN" dirty="0"/>
                        <a:t>0</a:t>
                      </a:r>
                    </a:p>
                  </a:txBody>
                  <a:tcPr/>
                </a:tc>
                <a:tc>
                  <a:txBody>
                    <a:bodyPr/>
                    <a:lstStyle/>
                    <a:p>
                      <a:pPr algn="ctr"/>
                      <a:r>
                        <a:rPr lang="en-IN" dirty="0"/>
                        <a:t>9</a:t>
                      </a:r>
                    </a:p>
                  </a:txBody>
                  <a:tcPr/>
                </a:tc>
                <a:tc>
                  <a:txBody>
                    <a:bodyPr/>
                    <a:lstStyle/>
                    <a:p>
                      <a:pPr algn="ctr"/>
                      <a:r>
                        <a:rPr lang="en-IN" dirty="0"/>
                        <a:t>1</a:t>
                      </a:r>
                    </a:p>
                  </a:txBody>
                  <a:tcPr/>
                </a:tc>
                <a:extLst>
                  <a:ext uri="{0D108BD9-81ED-4DB2-BD59-A6C34878D82A}">
                    <a16:rowId xmlns:a16="http://schemas.microsoft.com/office/drawing/2014/main" val="358502552"/>
                  </a:ext>
                </a:extLst>
              </a:tr>
              <a:tr h="370840">
                <a:tc>
                  <a:txBody>
                    <a:bodyPr/>
                    <a:lstStyle/>
                    <a:p>
                      <a:pPr algn="ctr"/>
                      <a:r>
                        <a:rPr lang="en-IN" dirty="0"/>
                        <a:t>0</a:t>
                      </a:r>
                    </a:p>
                  </a:txBody>
                  <a:tcPr/>
                </a:tc>
                <a:tc>
                  <a:txBody>
                    <a:bodyPr/>
                    <a:lstStyle/>
                    <a:p>
                      <a:pPr algn="ctr"/>
                      <a:r>
                        <a:rPr lang="en-IN" dirty="0"/>
                        <a:t>0</a:t>
                      </a:r>
                    </a:p>
                  </a:txBody>
                  <a:tcPr/>
                </a:tc>
                <a:tc>
                  <a:txBody>
                    <a:bodyPr/>
                    <a:lstStyle/>
                    <a:p>
                      <a:pPr algn="ctr"/>
                      <a:r>
                        <a:rPr lang="en-IN" dirty="0"/>
                        <a:t>10</a:t>
                      </a:r>
                    </a:p>
                  </a:txBody>
                  <a:tcPr/>
                </a:tc>
                <a:extLst>
                  <a:ext uri="{0D108BD9-81ED-4DB2-BD59-A6C34878D82A}">
                    <a16:rowId xmlns:a16="http://schemas.microsoft.com/office/drawing/2014/main" val="2251843507"/>
                  </a:ext>
                </a:extLst>
              </a:tr>
            </a:tbl>
          </a:graphicData>
        </a:graphic>
      </p:graphicFrame>
      <p:sp>
        <p:nvSpPr>
          <p:cNvPr id="18" name="TextBox 17">
            <a:extLst>
              <a:ext uri="{FF2B5EF4-FFF2-40B4-BE49-F238E27FC236}">
                <a16:creationId xmlns:a16="http://schemas.microsoft.com/office/drawing/2014/main" id="{4D0B4A2B-E269-AA2C-7B73-E306B2A8ABEA}"/>
              </a:ext>
            </a:extLst>
          </p:cNvPr>
          <p:cNvSpPr txBox="1"/>
          <p:nvPr/>
        </p:nvSpPr>
        <p:spPr>
          <a:xfrm>
            <a:off x="7714697" y="4089307"/>
            <a:ext cx="1409700" cy="369332"/>
          </a:xfrm>
          <a:prstGeom prst="rect">
            <a:avLst/>
          </a:prstGeom>
          <a:noFill/>
        </p:spPr>
        <p:txBody>
          <a:bodyPr wrap="square" rtlCol="0">
            <a:spAutoFit/>
          </a:bodyPr>
          <a:lstStyle/>
          <a:p>
            <a:r>
              <a:rPr lang="en-IN" dirty="0"/>
              <a:t>SVM(1):</a:t>
            </a:r>
          </a:p>
        </p:txBody>
      </p:sp>
      <p:sp>
        <p:nvSpPr>
          <p:cNvPr id="20" name="TextBox 19">
            <a:extLst>
              <a:ext uri="{FF2B5EF4-FFF2-40B4-BE49-F238E27FC236}">
                <a16:creationId xmlns:a16="http://schemas.microsoft.com/office/drawing/2014/main" id="{A6C10657-8622-0A14-D7EC-410A3BEEEAB1}"/>
              </a:ext>
            </a:extLst>
          </p:cNvPr>
          <p:cNvSpPr txBox="1"/>
          <p:nvPr/>
        </p:nvSpPr>
        <p:spPr>
          <a:xfrm>
            <a:off x="9974659" y="4089307"/>
            <a:ext cx="1409700" cy="369332"/>
          </a:xfrm>
          <a:prstGeom prst="rect">
            <a:avLst/>
          </a:prstGeom>
          <a:noFill/>
        </p:spPr>
        <p:txBody>
          <a:bodyPr wrap="square" rtlCol="0">
            <a:spAutoFit/>
          </a:bodyPr>
          <a:lstStyle/>
          <a:p>
            <a:r>
              <a:rPr lang="en-IN" dirty="0"/>
              <a:t>SVM(2):</a:t>
            </a:r>
          </a:p>
        </p:txBody>
      </p:sp>
      <p:sp>
        <p:nvSpPr>
          <p:cNvPr id="21" name="TextBox 20">
            <a:extLst>
              <a:ext uri="{FF2B5EF4-FFF2-40B4-BE49-F238E27FC236}">
                <a16:creationId xmlns:a16="http://schemas.microsoft.com/office/drawing/2014/main" id="{3D536ED5-4FB2-0608-B6E8-7D7912DD5E1C}"/>
              </a:ext>
            </a:extLst>
          </p:cNvPr>
          <p:cNvSpPr txBox="1"/>
          <p:nvPr/>
        </p:nvSpPr>
        <p:spPr>
          <a:xfrm>
            <a:off x="845125" y="5703491"/>
            <a:ext cx="2006601" cy="369332"/>
          </a:xfrm>
          <a:prstGeom prst="rect">
            <a:avLst/>
          </a:prstGeom>
          <a:noFill/>
        </p:spPr>
        <p:txBody>
          <a:bodyPr wrap="square" rtlCol="0">
            <a:spAutoFit/>
          </a:bodyPr>
          <a:lstStyle/>
          <a:p>
            <a:r>
              <a:rPr lang="en-IN" dirty="0"/>
              <a:t>   0          1         2 </a:t>
            </a:r>
          </a:p>
        </p:txBody>
      </p:sp>
      <p:sp>
        <p:nvSpPr>
          <p:cNvPr id="3" name="TextBox 2">
            <a:extLst>
              <a:ext uri="{FF2B5EF4-FFF2-40B4-BE49-F238E27FC236}">
                <a16:creationId xmlns:a16="http://schemas.microsoft.com/office/drawing/2014/main" id="{33780B27-4CFA-3030-0D38-6FA761F48784}"/>
              </a:ext>
            </a:extLst>
          </p:cNvPr>
          <p:cNvSpPr txBox="1"/>
          <p:nvPr/>
        </p:nvSpPr>
        <p:spPr>
          <a:xfrm>
            <a:off x="146624" y="4458639"/>
            <a:ext cx="2006601" cy="1294009"/>
          </a:xfrm>
          <a:prstGeom prst="rect">
            <a:avLst/>
          </a:prstGeom>
          <a:noFill/>
        </p:spPr>
        <p:txBody>
          <a:bodyPr wrap="square" rtlCol="0">
            <a:spAutoFit/>
          </a:bodyPr>
          <a:lstStyle/>
          <a:p>
            <a:pPr>
              <a:lnSpc>
                <a:spcPct val="150000"/>
              </a:lnSpc>
            </a:pPr>
            <a:r>
              <a:rPr lang="en-IN" dirty="0"/>
              <a:t>0  </a:t>
            </a:r>
          </a:p>
          <a:p>
            <a:pPr>
              <a:lnSpc>
                <a:spcPct val="150000"/>
              </a:lnSpc>
            </a:pPr>
            <a:r>
              <a:rPr lang="en-IN" dirty="0"/>
              <a:t>1 </a:t>
            </a:r>
          </a:p>
          <a:p>
            <a:pPr>
              <a:lnSpc>
                <a:spcPct val="150000"/>
              </a:lnSpc>
            </a:pPr>
            <a:r>
              <a:rPr lang="en-IN" dirty="0"/>
              <a:t>2</a:t>
            </a:r>
          </a:p>
        </p:txBody>
      </p:sp>
      <p:sp>
        <p:nvSpPr>
          <p:cNvPr id="4" name="Isosceles Triangle 3">
            <a:extLst>
              <a:ext uri="{FF2B5EF4-FFF2-40B4-BE49-F238E27FC236}">
                <a16:creationId xmlns:a16="http://schemas.microsoft.com/office/drawing/2014/main" id="{1DA513B3-7F25-E27C-E2BF-12E6D6292C14}"/>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5" name="Table 4">
            <a:extLst>
              <a:ext uri="{FF2B5EF4-FFF2-40B4-BE49-F238E27FC236}">
                <a16:creationId xmlns:a16="http://schemas.microsoft.com/office/drawing/2014/main" id="{7DF11168-744C-00D7-D981-7C6C13182FFE}"/>
              </a:ext>
            </a:extLst>
          </p:cNvPr>
          <p:cNvGraphicFramePr>
            <a:graphicFrameLocks noGrp="1"/>
          </p:cNvGraphicFramePr>
          <p:nvPr>
            <p:extLst>
              <p:ext uri="{D42A27DB-BD31-4B8C-83A1-F6EECF244321}">
                <p14:modId xmlns:p14="http://schemas.microsoft.com/office/powerpoint/2010/main" val="1995005321"/>
              </p:ext>
            </p:extLst>
          </p:nvPr>
        </p:nvGraphicFramePr>
        <p:xfrm>
          <a:off x="5158823" y="4592594"/>
          <a:ext cx="1958974" cy="1112520"/>
        </p:xfrm>
        <a:graphic>
          <a:graphicData uri="http://schemas.openxmlformats.org/drawingml/2006/table">
            <a:tbl>
              <a:tblPr bandRow="1">
                <a:tableStyleId>{073A0DAA-6AF3-43AB-8588-CEC1D06C72B9}</a:tableStyleId>
              </a:tblPr>
              <a:tblGrid>
                <a:gridCol w="695325">
                  <a:extLst>
                    <a:ext uri="{9D8B030D-6E8A-4147-A177-3AD203B41FA5}">
                      <a16:colId xmlns:a16="http://schemas.microsoft.com/office/drawing/2014/main" val="1378622236"/>
                    </a:ext>
                  </a:extLst>
                </a:gridCol>
                <a:gridCol w="666750">
                  <a:extLst>
                    <a:ext uri="{9D8B030D-6E8A-4147-A177-3AD203B41FA5}">
                      <a16:colId xmlns:a16="http://schemas.microsoft.com/office/drawing/2014/main" val="373693309"/>
                    </a:ext>
                  </a:extLst>
                </a:gridCol>
                <a:gridCol w="596899">
                  <a:extLst>
                    <a:ext uri="{9D8B030D-6E8A-4147-A177-3AD203B41FA5}">
                      <a16:colId xmlns:a16="http://schemas.microsoft.com/office/drawing/2014/main" val="3945074127"/>
                    </a:ext>
                  </a:extLst>
                </a:gridCol>
              </a:tblGrid>
              <a:tr h="370840">
                <a:tc>
                  <a:txBody>
                    <a:bodyPr/>
                    <a:lstStyle/>
                    <a:p>
                      <a:pPr algn="ctr"/>
                      <a:r>
                        <a:rPr lang="en-IN" dirty="0"/>
                        <a:t>10</a:t>
                      </a:r>
                    </a:p>
                  </a:txBody>
                  <a:tcPr/>
                </a:tc>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1434590033"/>
                  </a:ext>
                </a:extLst>
              </a:tr>
              <a:tr h="370840">
                <a:tc>
                  <a:txBody>
                    <a:bodyPr/>
                    <a:lstStyle/>
                    <a:p>
                      <a:pPr algn="ctr"/>
                      <a:r>
                        <a:rPr lang="en-IN" dirty="0"/>
                        <a:t>0</a:t>
                      </a:r>
                    </a:p>
                  </a:txBody>
                  <a:tcPr/>
                </a:tc>
                <a:tc>
                  <a:txBody>
                    <a:bodyPr/>
                    <a:lstStyle/>
                    <a:p>
                      <a:pPr algn="ctr"/>
                      <a:r>
                        <a:rPr lang="en-IN" dirty="0"/>
                        <a:t>6</a:t>
                      </a:r>
                    </a:p>
                  </a:txBody>
                  <a:tcPr/>
                </a:tc>
                <a:tc>
                  <a:txBody>
                    <a:bodyPr/>
                    <a:lstStyle/>
                    <a:p>
                      <a:pPr algn="ctr"/>
                      <a:r>
                        <a:rPr lang="en-IN" dirty="0"/>
                        <a:t>4</a:t>
                      </a:r>
                    </a:p>
                  </a:txBody>
                  <a:tcPr/>
                </a:tc>
                <a:extLst>
                  <a:ext uri="{0D108BD9-81ED-4DB2-BD59-A6C34878D82A}">
                    <a16:rowId xmlns:a16="http://schemas.microsoft.com/office/drawing/2014/main" val="358502552"/>
                  </a:ext>
                </a:extLst>
              </a:tr>
              <a:tr h="370840">
                <a:tc>
                  <a:txBody>
                    <a:bodyPr/>
                    <a:lstStyle/>
                    <a:p>
                      <a:pPr algn="ctr"/>
                      <a:r>
                        <a:rPr lang="en-IN" dirty="0"/>
                        <a:t>0</a:t>
                      </a:r>
                    </a:p>
                  </a:txBody>
                  <a:tcPr/>
                </a:tc>
                <a:tc>
                  <a:txBody>
                    <a:bodyPr/>
                    <a:lstStyle/>
                    <a:p>
                      <a:pPr algn="ctr"/>
                      <a:r>
                        <a:rPr lang="en-IN" dirty="0"/>
                        <a:t>1</a:t>
                      </a:r>
                    </a:p>
                  </a:txBody>
                  <a:tcPr/>
                </a:tc>
                <a:tc>
                  <a:txBody>
                    <a:bodyPr/>
                    <a:lstStyle/>
                    <a:p>
                      <a:pPr algn="ctr"/>
                      <a:r>
                        <a:rPr lang="en-IN" dirty="0"/>
                        <a:t>9</a:t>
                      </a:r>
                    </a:p>
                  </a:txBody>
                  <a:tcPr/>
                </a:tc>
                <a:extLst>
                  <a:ext uri="{0D108BD9-81ED-4DB2-BD59-A6C34878D82A}">
                    <a16:rowId xmlns:a16="http://schemas.microsoft.com/office/drawing/2014/main" val="2251843507"/>
                  </a:ext>
                </a:extLst>
              </a:tr>
            </a:tbl>
          </a:graphicData>
        </a:graphic>
      </p:graphicFrame>
      <p:sp>
        <p:nvSpPr>
          <p:cNvPr id="6" name="TextBox 5">
            <a:extLst>
              <a:ext uri="{FF2B5EF4-FFF2-40B4-BE49-F238E27FC236}">
                <a16:creationId xmlns:a16="http://schemas.microsoft.com/office/drawing/2014/main" id="{82FAD714-E82A-F021-30DF-05F67F4E4D19}"/>
              </a:ext>
            </a:extLst>
          </p:cNvPr>
          <p:cNvSpPr txBox="1"/>
          <p:nvPr/>
        </p:nvSpPr>
        <p:spPr>
          <a:xfrm>
            <a:off x="5158823" y="4085040"/>
            <a:ext cx="1409700" cy="369332"/>
          </a:xfrm>
          <a:prstGeom prst="rect">
            <a:avLst/>
          </a:prstGeom>
          <a:noFill/>
        </p:spPr>
        <p:txBody>
          <a:bodyPr wrap="square" rtlCol="0">
            <a:spAutoFit/>
          </a:bodyPr>
          <a:lstStyle/>
          <a:p>
            <a:r>
              <a:rPr lang="en-IN" dirty="0"/>
              <a:t>ELM(3):</a:t>
            </a:r>
          </a:p>
        </p:txBody>
      </p:sp>
      <p:graphicFrame>
        <p:nvGraphicFramePr>
          <p:cNvPr id="12" name="Table 11">
            <a:extLst>
              <a:ext uri="{FF2B5EF4-FFF2-40B4-BE49-F238E27FC236}">
                <a16:creationId xmlns:a16="http://schemas.microsoft.com/office/drawing/2014/main" id="{6953DE8B-AED3-3012-551C-9E2EC00A9C23}"/>
              </a:ext>
            </a:extLst>
          </p:cNvPr>
          <p:cNvGraphicFramePr>
            <a:graphicFrameLocks noGrp="1"/>
          </p:cNvGraphicFramePr>
          <p:nvPr>
            <p:extLst>
              <p:ext uri="{D42A27DB-BD31-4B8C-83A1-F6EECF244321}">
                <p14:modId xmlns:p14="http://schemas.microsoft.com/office/powerpoint/2010/main" val="691017848"/>
              </p:ext>
            </p:extLst>
          </p:nvPr>
        </p:nvGraphicFramePr>
        <p:xfrm>
          <a:off x="9974659" y="4596861"/>
          <a:ext cx="1958974" cy="1112520"/>
        </p:xfrm>
        <a:graphic>
          <a:graphicData uri="http://schemas.openxmlformats.org/drawingml/2006/table">
            <a:tbl>
              <a:tblPr bandRow="1">
                <a:tableStyleId>{073A0DAA-6AF3-43AB-8588-CEC1D06C72B9}</a:tableStyleId>
              </a:tblPr>
              <a:tblGrid>
                <a:gridCol w="695325">
                  <a:extLst>
                    <a:ext uri="{9D8B030D-6E8A-4147-A177-3AD203B41FA5}">
                      <a16:colId xmlns:a16="http://schemas.microsoft.com/office/drawing/2014/main" val="1378622236"/>
                    </a:ext>
                  </a:extLst>
                </a:gridCol>
                <a:gridCol w="666750">
                  <a:extLst>
                    <a:ext uri="{9D8B030D-6E8A-4147-A177-3AD203B41FA5}">
                      <a16:colId xmlns:a16="http://schemas.microsoft.com/office/drawing/2014/main" val="373693309"/>
                    </a:ext>
                  </a:extLst>
                </a:gridCol>
                <a:gridCol w="596899">
                  <a:extLst>
                    <a:ext uri="{9D8B030D-6E8A-4147-A177-3AD203B41FA5}">
                      <a16:colId xmlns:a16="http://schemas.microsoft.com/office/drawing/2014/main" val="3945074127"/>
                    </a:ext>
                  </a:extLst>
                </a:gridCol>
              </a:tblGrid>
              <a:tr h="370840">
                <a:tc>
                  <a:txBody>
                    <a:bodyPr/>
                    <a:lstStyle/>
                    <a:p>
                      <a:pPr algn="ctr"/>
                      <a:r>
                        <a:rPr lang="en-IN" dirty="0"/>
                        <a:t>10</a:t>
                      </a:r>
                    </a:p>
                  </a:txBody>
                  <a:tcPr/>
                </a:tc>
                <a:tc>
                  <a:txBody>
                    <a:bodyPr/>
                    <a:lstStyle/>
                    <a:p>
                      <a:pPr algn="ctr"/>
                      <a:r>
                        <a:rPr lang="en-IN" dirty="0"/>
                        <a:t>0</a:t>
                      </a:r>
                    </a:p>
                  </a:txBody>
                  <a:tcPr/>
                </a:tc>
                <a:tc>
                  <a:txBody>
                    <a:bodyPr/>
                    <a:lstStyle/>
                    <a:p>
                      <a:pPr algn="ctr"/>
                      <a:r>
                        <a:rPr lang="en-IN" dirty="0"/>
                        <a:t>0</a:t>
                      </a:r>
                    </a:p>
                  </a:txBody>
                  <a:tcPr/>
                </a:tc>
                <a:extLst>
                  <a:ext uri="{0D108BD9-81ED-4DB2-BD59-A6C34878D82A}">
                    <a16:rowId xmlns:a16="http://schemas.microsoft.com/office/drawing/2014/main" val="1434590033"/>
                  </a:ext>
                </a:extLst>
              </a:tr>
              <a:tr h="370840">
                <a:tc>
                  <a:txBody>
                    <a:bodyPr/>
                    <a:lstStyle/>
                    <a:p>
                      <a:pPr algn="ctr"/>
                      <a:r>
                        <a:rPr lang="en-IN" dirty="0"/>
                        <a:t>0</a:t>
                      </a:r>
                    </a:p>
                  </a:txBody>
                  <a:tcPr/>
                </a:tc>
                <a:tc>
                  <a:txBody>
                    <a:bodyPr/>
                    <a:lstStyle/>
                    <a:p>
                      <a:pPr algn="ctr"/>
                      <a:r>
                        <a:rPr lang="en-IN" dirty="0"/>
                        <a:t>9</a:t>
                      </a:r>
                    </a:p>
                  </a:txBody>
                  <a:tcPr/>
                </a:tc>
                <a:tc>
                  <a:txBody>
                    <a:bodyPr/>
                    <a:lstStyle/>
                    <a:p>
                      <a:pPr algn="ctr"/>
                      <a:r>
                        <a:rPr lang="en-IN" dirty="0"/>
                        <a:t>1</a:t>
                      </a:r>
                    </a:p>
                  </a:txBody>
                  <a:tcPr/>
                </a:tc>
                <a:extLst>
                  <a:ext uri="{0D108BD9-81ED-4DB2-BD59-A6C34878D82A}">
                    <a16:rowId xmlns:a16="http://schemas.microsoft.com/office/drawing/2014/main" val="358502552"/>
                  </a:ext>
                </a:extLst>
              </a:tr>
              <a:tr h="370840">
                <a:tc>
                  <a:txBody>
                    <a:bodyPr/>
                    <a:lstStyle/>
                    <a:p>
                      <a:pPr algn="ctr"/>
                      <a:r>
                        <a:rPr lang="en-IN" dirty="0"/>
                        <a:t>0</a:t>
                      </a:r>
                    </a:p>
                  </a:txBody>
                  <a:tcPr/>
                </a:tc>
                <a:tc>
                  <a:txBody>
                    <a:bodyPr/>
                    <a:lstStyle/>
                    <a:p>
                      <a:pPr algn="ctr"/>
                      <a:r>
                        <a:rPr lang="en-IN" dirty="0"/>
                        <a:t>0</a:t>
                      </a:r>
                    </a:p>
                  </a:txBody>
                  <a:tcPr/>
                </a:tc>
                <a:tc>
                  <a:txBody>
                    <a:bodyPr/>
                    <a:lstStyle/>
                    <a:p>
                      <a:pPr algn="ctr"/>
                      <a:r>
                        <a:rPr lang="en-IN" dirty="0"/>
                        <a:t>10</a:t>
                      </a:r>
                    </a:p>
                  </a:txBody>
                  <a:tcPr/>
                </a:tc>
                <a:extLst>
                  <a:ext uri="{0D108BD9-81ED-4DB2-BD59-A6C34878D82A}">
                    <a16:rowId xmlns:a16="http://schemas.microsoft.com/office/drawing/2014/main" val="2251843507"/>
                  </a:ext>
                </a:extLst>
              </a:tr>
            </a:tbl>
          </a:graphicData>
        </a:graphic>
      </p:graphicFrame>
      <p:sp>
        <p:nvSpPr>
          <p:cNvPr id="14" name="TextBox 13">
            <a:extLst>
              <a:ext uri="{FF2B5EF4-FFF2-40B4-BE49-F238E27FC236}">
                <a16:creationId xmlns:a16="http://schemas.microsoft.com/office/drawing/2014/main" id="{6AD49E38-B54A-C5F8-B275-F49D098275B3}"/>
              </a:ext>
            </a:extLst>
          </p:cNvPr>
          <p:cNvSpPr txBox="1"/>
          <p:nvPr/>
        </p:nvSpPr>
        <p:spPr>
          <a:xfrm>
            <a:off x="3005428" y="5699224"/>
            <a:ext cx="2006601" cy="369332"/>
          </a:xfrm>
          <a:prstGeom prst="rect">
            <a:avLst/>
          </a:prstGeom>
          <a:noFill/>
        </p:spPr>
        <p:txBody>
          <a:bodyPr wrap="square" rtlCol="0">
            <a:spAutoFit/>
          </a:bodyPr>
          <a:lstStyle/>
          <a:p>
            <a:r>
              <a:rPr lang="en-IN" dirty="0"/>
              <a:t>   0          1         2 </a:t>
            </a:r>
          </a:p>
        </p:txBody>
      </p:sp>
      <p:sp>
        <p:nvSpPr>
          <p:cNvPr id="25" name="TextBox 24">
            <a:extLst>
              <a:ext uri="{FF2B5EF4-FFF2-40B4-BE49-F238E27FC236}">
                <a16:creationId xmlns:a16="http://schemas.microsoft.com/office/drawing/2014/main" id="{41CDD0AA-011A-7896-7BDC-B548A5624E7F}"/>
              </a:ext>
            </a:extLst>
          </p:cNvPr>
          <p:cNvSpPr txBox="1"/>
          <p:nvPr/>
        </p:nvSpPr>
        <p:spPr>
          <a:xfrm>
            <a:off x="5173372" y="5699224"/>
            <a:ext cx="2006601" cy="369332"/>
          </a:xfrm>
          <a:prstGeom prst="rect">
            <a:avLst/>
          </a:prstGeom>
          <a:noFill/>
        </p:spPr>
        <p:txBody>
          <a:bodyPr wrap="square" rtlCol="0">
            <a:spAutoFit/>
          </a:bodyPr>
          <a:lstStyle/>
          <a:p>
            <a:r>
              <a:rPr lang="en-IN" dirty="0"/>
              <a:t>   0          1         2 </a:t>
            </a:r>
          </a:p>
        </p:txBody>
      </p:sp>
      <p:sp>
        <p:nvSpPr>
          <p:cNvPr id="26" name="TextBox 25">
            <a:extLst>
              <a:ext uri="{FF2B5EF4-FFF2-40B4-BE49-F238E27FC236}">
                <a16:creationId xmlns:a16="http://schemas.microsoft.com/office/drawing/2014/main" id="{D900C6D7-A5A9-0BE2-051D-07013F57BA88}"/>
              </a:ext>
            </a:extLst>
          </p:cNvPr>
          <p:cNvSpPr txBox="1"/>
          <p:nvPr/>
        </p:nvSpPr>
        <p:spPr>
          <a:xfrm>
            <a:off x="7747023" y="5699224"/>
            <a:ext cx="2006601" cy="369332"/>
          </a:xfrm>
          <a:prstGeom prst="rect">
            <a:avLst/>
          </a:prstGeom>
          <a:noFill/>
        </p:spPr>
        <p:txBody>
          <a:bodyPr wrap="square" rtlCol="0">
            <a:spAutoFit/>
          </a:bodyPr>
          <a:lstStyle/>
          <a:p>
            <a:r>
              <a:rPr lang="en-IN" dirty="0"/>
              <a:t>   0          1         2 </a:t>
            </a:r>
          </a:p>
        </p:txBody>
      </p:sp>
      <p:sp>
        <p:nvSpPr>
          <p:cNvPr id="27" name="TextBox 26">
            <a:extLst>
              <a:ext uri="{FF2B5EF4-FFF2-40B4-BE49-F238E27FC236}">
                <a16:creationId xmlns:a16="http://schemas.microsoft.com/office/drawing/2014/main" id="{ADE32444-2377-B565-5E10-9A0E27EEA508}"/>
              </a:ext>
            </a:extLst>
          </p:cNvPr>
          <p:cNvSpPr txBox="1"/>
          <p:nvPr/>
        </p:nvSpPr>
        <p:spPr>
          <a:xfrm>
            <a:off x="10038775" y="5699224"/>
            <a:ext cx="2006601" cy="369332"/>
          </a:xfrm>
          <a:prstGeom prst="rect">
            <a:avLst/>
          </a:prstGeom>
          <a:noFill/>
        </p:spPr>
        <p:txBody>
          <a:bodyPr wrap="square" rtlCol="0">
            <a:spAutoFit/>
          </a:bodyPr>
          <a:lstStyle/>
          <a:p>
            <a:r>
              <a:rPr lang="en-IN" dirty="0"/>
              <a:t>   0          1         2 </a:t>
            </a:r>
          </a:p>
        </p:txBody>
      </p:sp>
    </p:spTree>
    <p:extLst>
      <p:ext uri="{BB962C8B-B14F-4D97-AF65-F5344CB8AC3E}">
        <p14:creationId xmlns:p14="http://schemas.microsoft.com/office/powerpoint/2010/main" val="1742834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FC05C-E363-A8FA-3EC4-FE2E12ECFA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F57357-4AAE-5068-5F9B-906541357CF1}"/>
              </a:ext>
            </a:extLst>
          </p:cNvPr>
          <p:cNvSpPr>
            <a:spLocks noGrp="1"/>
          </p:cNvSpPr>
          <p:nvPr>
            <p:ph type="title"/>
          </p:nvPr>
        </p:nvSpPr>
        <p:spPr>
          <a:xfrm>
            <a:off x="260266" y="830497"/>
            <a:ext cx="12007934" cy="1257300"/>
          </a:xfrm>
        </p:spPr>
        <p:txBody>
          <a:bodyPr>
            <a:normAutofit fontScale="90000"/>
          </a:bodyPr>
          <a:lstStyle/>
          <a:p>
            <a:pPr algn="l"/>
            <a:r>
              <a:rPr lang="en-IN" sz="3600" b="1" dirty="0"/>
              <a:t>Results: </a:t>
            </a:r>
            <a:r>
              <a:rPr lang="en-US" sz="3600" b="1" dirty="0"/>
              <a:t>All Accuracy Comparisons with/without Feature Selection:</a:t>
            </a:r>
            <a:br>
              <a:rPr lang="en-US" sz="3600" b="1" dirty="0"/>
            </a:br>
            <a:r>
              <a:rPr lang="en-US" sz="3600" dirty="0"/>
              <a:t>Dataset Three: Rice Classification Dataset:</a:t>
            </a:r>
            <a:br>
              <a:rPr lang="en-US" sz="4800" b="1" dirty="0"/>
            </a:br>
            <a:endParaRPr lang="en-IN" sz="4800" dirty="0"/>
          </a:p>
        </p:txBody>
      </p:sp>
      <p:sp>
        <p:nvSpPr>
          <p:cNvPr id="7" name="Isosceles Triangle 6">
            <a:extLst>
              <a:ext uri="{FF2B5EF4-FFF2-40B4-BE49-F238E27FC236}">
                <a16:creationId xmlns:a16="http://schemas.microsoft.com/office/drawing/2014/main" id="{3528E6AE-4175-EC37-68C0-C33695A96962}"/>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8" name="Table 7">
            <a:extLst>
              <a:ext uri="{FF2B5EF4-FFF2-40B4-BE49-F238E27FC236}">
                <a16:creationId xmlns:a16="http://schemas.microsoft.com/office/drawing/2014/main" id="{E914D6F8-0D3C-117C-436A-53F8210481DA}"/>
              </a:ext>
            </a:extLst>
          </p:cNvPr>
          <p:cNvGraphicFramePr>
            <a:graphicFrameLocks noGrp="1"/>
          </p:cNvGraphicFramePr>
          <p:nvPr>
            <p:extLst>
              <p:ext uri="{D42A27DB-BD31-4B8C-83A1-F6EECF244321}">
                <p14:modId xmlns:p14="http://schemas.microsoft.com/office/powerpoint/2010/main" val="2926025330"/>
              </p:ext>
            </p:extLst>
          </p:nvPr>
        </p:nvGraphicFramePr>
        <p:xfrm>
          <a:off x="1712560" y="2018539"/>
          <a:ext cx="8570648" cy="1107440"/>
        </p:xfrm>
        <a:graphic>
          <a:graphicData uri="http://schemas.openxmlformats.org/drawingml/2006/table">
            <a:tbl>
              <a:tblPr firstRow="1" bandRow="1">
                <a:tableStyleId>{073A0DAA-6AF3-43AB-8588-CEC1D06C72B9}</a:tableStyleId>
              </a:tblPr>
              <a:tblGrid>
                <a:gridCol w="725840">
                  <a:extLst>
                    <a:ext uri="{9D8B030D-6E8A-4147-A177-3AD203B41FA5}">
                      <a16:colId xmlns:a16="http://schemas.microsoft.com/office/drawing/2014/main" val="1443978667"/>
                    </a:ext>
                  </a:extLst>
                </a:gridCol>
                <a:gridCol w="3025158">
                  <a:extLst>
                    <a:ext uri="{9D8B030D-6E8A-4147-A177-3AD203B41FA5}">
                      <a16:colId xmlns:a16="http://schemas.microsoft.com/office/drawing/2014/main" val="1613467020"/>
                    </a:ext>
                  </a:extLst>
                </a:gridCol>
                <a:gridCol w="2590800">
                  <a:extLst>
                    <a:ext uri="{9D8B030D-6E8A-4147-A177-3AD203B41FA5}">
                      <a16:colId xmlns:a16="http://schemas.microsoft.com/office/drawing/2014/main" val="426115020"/>
                    </a:ext>
                  </a:extLst>
                </a:gridCol>
                <a:gridCol w="2228850">
                  <a:extLst>
                    <a:ext uri="{9D8B030D-6E8A-4147-A177-3AD203B41FA5}">
                      <a16:colId xmlns:a16="http://schemas.microsoft.com/office/drawing/2014/main" val="1790855210"/>
                    </a:ext>
                  </a:extLst>
                </a:gridCol>
              </a:tblGrid>
              <a:tr h="370840">
                <a:tc>
                  <a:txBody>
                    <a:bodyPr/>
                    <a:lstStyle/>
                    <a:p>
                      <a:pPr algn="ctr"/>
                      <a:r>
                        <a:rPr lang="en-IN" dirty="0"/>
                        <a:t>S.no</a:t>
                      </a:r>
                    </a:p>
                  </a:txBody>
                  <a:tcPr/>
                </a:tc>
                <a:tc>
                  <a:txBody>
                    <a:bodyPr/>
                    <a:lstStyle/>
                    <a:p>
                      <a:pPr algn="ctr"/>
                      <a:r>
                        <a:rPr lang="en-IN" dirty="0"/>
                        <a:t>Without Feature Selection(1)</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dirty="0"/>
                        <a:t>With Feature Selection(2)</a:t>
                      </a:r>
                    </a:p>
                  </a:txBody>
                  <a:tcPr/>
                </a:tc>
                <a:tc>
                  <a:txBody>
                    <a:bodyPr/>
                    <a:lstStyle/>
                    <a:p>
                      <a:pPr algn="ctr"/>
                      <a:r>
                        <a:rPr lang="en-IN" dirty="0"/>
                        <a:t>Online Training(3)</a:t>
                      </a:r>
                    </a:p>
                  </a:txBody>
                  <a:tcPr/>
                </a:tc>
                <a:extLst>
                  <a:ext uri="{0D108BD9-81ED-4DB2-BD59-A6C34878D82A}">
                    <a16:rowId xmlns:a16="http://schemas.microsoft.com/office/drawing/2014/main" val="4086863503"/>
                  </a:ext>
                </a:extLst>
              </a:tr>
              <a:tr h="370840">
                <a:tc>
                  <a:txBody>
                    <a:bodyPr/>
                    <a:lstStyle/>
                    <a:p>
                      <a:pPr algn="ctr"/>
                      <a:r>
                        <a:rPr lang="en-IN" dirty="0"/>
                        <a:t>ELM</a:t>
                      </a:r>
                    </a:p>
                  </a:txBody>
                  <a:tcPr/>
                </a:tc>
                <a:tc>
                  <a:txBody>
                    <a:bodyPr/>
                    <a:lstStyle/>
                    <a:p>
                      <a:pPr algn="ctr"/>
                      <a:r>
                        <a:rPr lang="en-IN" dirty="0"/>
                        <a:t>99.29%</a:t>
                      </a:r>
                    </a:p>
                  </a:txBody>
                  <a:tcPr/>
                </a:tc>
                <a:tc>
                  <a:txBody>
                    <a:bodyPr/>
                    <a:lstStyle/>
                    <a:p>
                      <a:pPr algn="ctr"/>
                      <a:r>
                        <a:rPr lang="en-IN" dirty="0"/>
                        <a:t>99.12%</a:t>
                      </a:r>
                    </a:p>
                  </a:txBody>
                  <a:tcPr/>
                </a:tc>
                <a:tc>
                  <a:txBody>
                    <a:bodyPr/>
                    <a:lstStyle/>
                    <a:p>
                      <a:pPr algn="ctr"/>
                      <a:r>
                        <a:rPr lang="en-IN" dirty="0">
                          <a:latin typeface="+mn-lt"/>
                          <a:cs typeface="Arial" panose="020B0604020202020204" pitchFamily="34" charset="0"/>
                        </a:rPr>
                        <a:t>99.20%</a:t>
                      </a:r>
                    </a:p>
                  </a:txBody>
                  <a:tcPr/>
                </a:tc>
                <a:extLst>
                  <a:ext uri="{0D108BD9-81ED-4DB2-BD59-A6C34878D82A}">
                    <a16:rowId xmlns:a16="http://schemas.microsoft.com/office/drawing/2014/main" val="3553119316"/>
                  </a:ext>
                </a:extLst>
              </a:tr>
              <a:tr h="0">
                <a:tc>
                  <a:txBody>
                    <a:bodyPr/>
                    <a:lstStyle/>
                    <a:p>
                      <a:pPr algn="ctr"/>
                      <a:r>
                        <a:rPr lang="en-IN" dirty="0"/>
                        <a:t>SVM</a:t>
                      </a:r>
                    </a:p>
                  </a:txBody>
                  <a:tcPr/>
                </a:tc>
                <a:tc>
                  <a:txBody>
                    <a:bodyPr/>
                    <a:lstStyle/>
                    <a:p>
                      <a:pPr algn="ctr"/>
                      <a:r>
                        <a:rPr lang="en-IN" dirty="0"/>
                        <a:t>99.23%</a:t>
                      </a:r>
                    </a:p>
                  </a:txBody>
                  <a:tcPr/>
                </a:tc>
                <a:tc>
                  <a:txBody>
                    <a:bodyPr/>
                    <a:lstStyle/>
                    <a:p>
                      <a:pPr algn="ctr"/>
                      <a:r>
                        <a:rPr lang="en-IN" dirty="0"/>
                        <a:t>99.10%</a:t>
                      </a:r>
                    </a:p>
                  </a:txBody>
                  <a:tcPr/>
                </a:tc>
                <a:tc>
                  <a:txBody>
                    <a:bodyPr/>
                    <a:lstStyle/>
                    <a:p>
                      <a:pPr algn="ctr"/>
                      <a:r>
                        <a:rPr lang="en-IN"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289594250"/>
                  </a:ext>
                </a:extLst>
              </a:tr>
            </a:tbl>
          </a:graphicData>
        </a:graphic>
      </p:graphicFrame>
      <p:graphicFrame>
        <p:nvGraphicFramePr>
          <p:cNvPr id="9" name="Table 8">
            <a:extLst>
              <a:ext uri="{FF2B5EF4-FFF2-40B4-BE49-F238E27FC236}">
                <a16:creationId xmlns:a16="http://schemas.microsoft.com/office/drawing/2014/main" id="{8EF953A8-00D4-060A-2D7D-8C446EF4D49C}"/>
              </a:ext>
            </a:extLst>
          </p:cNvPr>
          <p:cNvGraphicFramePr>
            <a:graphicFrameLocks noGrp="1"/>
          </p:cNvGraphicFramePr>
          <p:nvPr>
            <p:extLst>
              <p:ext uri="{D42A27DB-BD31-4B8C-83A1-F6EECF244321}">
                <p14:modId xmlns:p14="http://schemas.microsoft.com/office/powerpoint/2010/main" val="720601148"/>
              </p:ext>
            </p:extLst>
          </p:nvPr>
        </p:nvGraphicFramePr>
        <p:xfrm>
          <a:off x="808966" y="4596861"/>
          <a:ext cx="1362075" cy="741680"/>
        </p:xfrm>
        <a:graphic>
          <a:graphicData uri="http://schemas.openxmlformats.org/drawingml/2006/table">
            <a:tbl>
              <a:tblPr bandRow="1">
                <a:tableStyleId>{073A0DAA-6AF3-43AB-8588-CEC1D06C72B9}</a:tableStyleId>
              </a:tblPr>
              <a:tblGrid>
                <a:gridCol w="695325">
                  <a:extLst>
                    <a:ext uri="{9D8B030D-6E8A-4147-A177-3AD203B41FA5}">
                      <a16:colId xmlns:a16="http://schemas.microsoft.com/office/drawing/2014/main" val="1378622236"/>
                    </a:ext>
                  </a:extLst>
                </a:gridCol>
                <a:gridCol w="666750">
                  <a:extLst>
                    <a:ext uri="{9D8B030D-6E8A-4147-A177-3AD203B41FA5}">
                      <a16:colId xmlns:a16="http://schemas.microsoft.com/office/drawing/2014/main" val="373693309"/>
                    </a:ext>
                  </a:extLst>
                </a:gridCol>
              </a:tblGrid>
              <a:tr h="370840">
                <a:tc>
                  <a:txBody>
                    <a:bodyPr/>
                    <a:lstStyle/>
                    <a:p>
                      <a:pPr algn="ctr"/>
                      <a:r>
                        <a:rPr lang="en-IN" dirty="0"/>
                        <a:t>1623</a:t>
                      </a:r>
                    </a:p>
                  </a:txBody>
                  <a:tcPr/>
                </a:tc>
                <a:tc>
                  <a:txBody>
                    <a:bodyPr/>
                    <a:lstStyle/>
                    <a:p>
                      <a:pPr algn="ctr"/>
                      <a:r>
                        <a:rPr lang="en-IN" dirty="0"/>
                        <a:t>17</a:t>
                      </a:r>
                    </a:p>
                  </a:txBody>
                  <a:tcPr/>
                </a:tc>
                <a:extLst>
                  <a:ext uri="{0D108BD9-81ED-4DB2-BD59-A6C34878D82A}">
                    <a16:rowId xmlns:a16="http://schemas.microsoft.com/office/drawing/2014/main" val="1434590033"/>
                  </a:ext>
                </a:extLst>
              </a:tr>
              <a:tr h="370840">
                <a:tc>
                  <a:txBody>
                    <a:bodyPr/>
                    <a:lstStyle/>
                    <a:p>
                      <a:pPr algn="ctr"/>
                      <a:r>
                        <a:rPr lang="en-IN" dirty="0"/>
                        <a:t>9</a:t>
                      </a:r>
                    </a:p>
                  </a:txBody>
                  <a:tcPr/>
                </a:tc>
                <a:tc>
                  <a:txBody>
                    <a:bodyPr/>
                    <a:lstStyle/>
                    <a:p>
                      <a:pPr algn="ctr"/>
                      <a:r>
                        <a:rPr lang="en-IN" dirty="0"/>
                        <a:t>1988</a:t>
                      </a:r>
                    </a:p>
                  </a:txBody>
                  <a:tcPr/>
                </a:tc>
                <a:extLst>
                  <a:ext uri="{0D108BD9-81ED-4DB2-BD59-A6C34878D82A}">
                    <a16:rowId xmlns:a16="http://schemas.microsoft.com/office/drawing/2014/main" val="358502552"/>
                  </a:ext>
                </a:extLst>
              </a:tr>
            </a:tbl>
          </a:graphicData>
        </a:graphic>
      </p:graphicFrame>
      <p:sp>
        <p:nvSpPr>
          <p:cNvPr id="10" name="TextBox 9">
            <a:extLst>
              <a:ext uri="{FF2B5EF4-FFF2-40B4-BE49-F238E27FC236}">
                <a16:creationId xmlns:a16="http://schemas.microsoft.com/office/drawing/2014/main" id="{5685D0E9-FF2E-6438-8B99-77BFA72B94C0}"/>
              </a:ext>
            </a:extLst>
          </p:cNvPr>
          <p:cNvSpPr txBox="1"/>
          <p:nvPr/>
        </p:nvSpPr>
        <p:spPr>
          <a:xfrm>
            <a:off x="658419" y="3489421"/>
            <a:ext cx="2857500" cy="461665"/>
          </a:xfrm>
          <a:prstGeom prst="rect">
            <a:avLst/>
          </a:prstGeom>
          <a:noFill/>
        </p:spPr>
        <p:txBody>
          <a:bodyPr wrap="square" rtlCol="0">
            <a:spAutoFit/>
          </a:bodyPr>
          <a:lstStyle/>
          <a:p>
            <a:r>
              <a:rPr lang="en-IN" sz="2400" b="1" dirty="0"/>
              <a:t>Confusion Matrices:</a:t>
            </a:r>
          </a:p>
        </p:txBody>
      </p:sp>
      <p:sp>
        <p:nvSpPr>
          <p:cNvPr id="13" name="TextBox 12">
            <a:extLst>
              <a:ext uri="{FF2B5EF4-FFF2-40B4-BE49-F238E27FC236}">
                <a16:creationId xmlns:a16="http://schemas.microsoft.com/office/drawing/2014/main" id="{6C81F0C8-A15E-4AD6-F21B-0442343A8CEC}"/>
              </a:ext>
            </a:extLst>
          </p:cNvPr>
          <p:cNvSpPr txBox="1"/>
          <p:nvPr/>
        </p:nvSpPr>
        <p:spPr>
          <a:xfrm>
            <a:off x="808966" y="4089307"/>
            <a:ext cx="1409700" cy="369332"/>
          </a:xfrm>
          <a:prstGeom prst="rect">
            <a:avLst/>
          </a:prstGeom>
          <a:noFill/>
        </p:spPr>
        <p:txBody>
          <a:bodyPr wrap="square" rtlCol="0">
            <a:spAutoFit/>
          </a:bodyPr>
          <a:lstStyle/>
          <a:p>
            <a:r>
              <a:rPr lang="en-IN" dirty="0"/>
              <a:t>ELM(1):</a:t>
            </a:r>
          </a:p>
        </p:txBody>
      </p:sp>
      <p:sp>
        <p:nvSpPr>
          <p:cNvPr id="16" name="TextBox 15">
            <a:extLst>
              <a:ext uri="{FF2B5EF4-FFF2-40B4-BE49-F238E27FC236}">
                <a16:creationId xmlns:a16="http://schemas.microsoft.com/office/drawing/2014/main" id="{71835590-721B-B6D3-7742-60088BD80A40}"/>
              </a:ext>
            </a:extLst>
          </p:cNvPr>
          <p:cNvSpPr txBox="1"/>
          <p:nvPr/>
        </p:nvSpPr>
        <p:spPr>
          <a:xfrm>
            <a:off x="2977467" y="4085040"/>
            <a:ext cx="1409700" cy="369332"/>
          </a:xfrm>
          <a:prstGeom prst="rect">
            <a:avLst/>
          </a:prstGeom>
          <a:noFill/>
        </p:spPr>
        <p:txBody>
          <a:bodyPr wrap="square" rtlCol="0">
            <a:spAutoFit/>
          </a:bodyPr>
          <a:lstStyle/>
          <a:p>
            <a:r>
              <a:rPr lang="en-IN" dirty="0"/>
              <a:t>ELM(2):</a:t>
            </a:r>
          </a:p>
        </p:txBody>
      </p:sp>
      <p:sp>
        <p:nvSpPr>
          <p:cNvPr id="18" name="TextBox 17">
            <a:extLst>
              <a:ext uri="{FF2B5EF4-FFF2-40B4-BE49-F238E27FC236}">
                <a16:creationId xmlns:a16="http://schemas.microsoft.com/office/drawing/2014/main" id="{8C978005-D43B-3404-5A0E-6D582B28C0EC}"/>
              </a:ext>
            </a:extLst>
          </p:cNvPr>
          <p:cNvSpPr txBox="1"/>
          <p:nvPr/>
        </p:nvSpPr>
        <p:spPr>
          <a:xfrm>
            <a:off x="7714697" y="4089307"/>
            <a:ext cx="1409700" cy="369332"/>
          </a:xfrm>
          <a:prstGeom prst="rect">
            <a:avLst/>
          </a:prstGeom>
          <a:noFill/>
        </p:spPr>
        <p:txBody>
          <a:bodyPr wrap="square" rtlCol="0">
            <a:spAutoFit/>
          </a:bodyPr>
          <a:lstStyle/>
          <a:p>
            <a:r>
              <a:rPr lang="en-IN" dirty="0"/>
              <a:t>SVM(1):</a:t>
            </a:r>
          </a:p>
        </p:txBody>
      </p:sp>
      <p:sp>
        <p:nvSpPr>
          <p:cNvPr id="20" name="TextBox 19">
            <a:extLst>
              <a:ext uri="{FF2B5EF4-FFF2-40B4-BE49-F238E27FC236}">
                <a16:creationId xmlns:a16="http://schemas.microsoft.com/office/drawing/2014/main" id="{476E566A-1701-02BC-6AC2-86C807A16519}"/>
              </a:ext>
            </a:extLst>
          </p:cNvPr>
          <p:cNvSpPr txBox="1"/>
          <p:nvPr/>
        </p:nvSpPr>
        <p:spPr>
          <a:xfrm>
            <a:off x="9974659" y="4089307"/>
            <a:ext cx="1409700" cy="369332"/>
          </a:xfrm>
          <a:prstGeom prst="rect">
            <a:avLst/>
          </a:prstGeom>
          <a:noFill/>
        </p:spPr>
        <p:txBody>
          <a:bodyPr wrap="square" rtlCol="0">
            <a:spAutoFit/>
          </a:bodyPr>
          <a:lstStyle/>
          <a:p>
            <a:r>
              <a:rPr lang="en-IN" dirty="0"/>
              <a:t>SVM(2):</a:t>
            </a:r>
          </a:p>
        </p:txBody>
      </p:sp>
      <p:sp>
        <p:nvSpPr>
          <p:cNvPr id="21" name="TextBox 20">
            <a:extLst>
              <a:ext uri="{FF2B5EF4-FFF2-40B4-BE49-F238E27FC236}">
                <a16:creationId xmlns:a16="http://schemas.microsoft.com/office/drawing/2014/main" id="{9959CEB3-9006-DF6F-BF90-87BD475F2D2E}"/>
              </a:ext>
            </a:extLst>
          </p:cNvPr>
          <p:cNvSpPr txBox="1"/>
          <p:nvPr/>
        </p:nvSpPr>
        <p:spPr>
          <a:xfrm>
            <a:off x="862941" y="5352710"/>
            <a:ext cx="1308100" cy="369332"/>
          </a:xfrm>
          <a:prstGeom prst="rect">
            <a:avLst/>
          </a:prstGeom>
          <a:noFill/>
        </p:spPr>
        <p:txBody>
          <a:bodyPr wrap="square" rtlCol="0">
            <a:spAutoFit/>
          </a:bodyPr>
          <a:lstStyle/>
          <a:p>
            <a:r>
              <a:rPr lang="en-IN" dirty="0"/>
              <a:t>  0          1</a:t>
            </a:r>
          </a:p>
        </p:txBody>
      </p:sp>
      <p:sp>
        <p:nvSpPr>
          <p:cNvPr id="3" name="TextBox 2">
            <a:extLst>
              <a:ext uri="{FF2B5EF4-FFF2-40B4-BE49-F238E27FC236}">
                <a16:creationId xmlns:a16="http://schemas.microsoft.com/office/drawing/2014/main" id="{6F212488-568D-F4E5-6F5D-B364BCF0C344}"/>
              </a:ext>
            </a:extLst>
          </p:cNvPr>
          <p:cNvSpPr txBox="1"/>
          <p:nvPr/>
        </p:nvSpPr>
        <p:spPr>
          <a:xfrm>
            <a:off x="146624" y="4458639"/>
            <a:ext cx="604617" cy="878510"/>
          </a:xfrm>
          <a:prstGeom prst="rect">
            <a:avLst/>
          </a:prstGeom>
          <a:noFill/>
        </p:spPr>
        <p:txBody>
          <a:bodyPr wrap="square" rtlCol="0">
            <a:spAutoFit/>
          </a:bodyPr>
          <a:lstStyle/>
          <a:p>
            <a:pPr>
              <a:lnSpc>
                <a:spcPct val="150000"/>
              </a:lnSpc>
            </a:pPr>
            <a:r>
              <a:rPr lang="en-IN" dirty="0"/>
              <a:t>0  </a:t>
            </a:r>
          </a:p>
          <a:p>
            <a:pPr>
              <a:lnSpc>
                <a:spcPct val="150000"/>
              </a:lnSpc>
            </a:pPr>
            <a:r>
              <a:rPr lang="en-IN" dirty="0"/>
              <a:t>1</a:t>
            </a:r>
          </a:p>
        </p:txBody>
      </p:sp>
      <p:sp>
        <p:nvSpPr>
          <p:cNvPr id="4" name="Isosceles Triangle 3">
            <a:extLst>
              <a:ext uri="{FF2B5EF4-FFF2-40B4-BE49-F238E27FC236}">
                <a16:creationId xmlns:a16="http://schemas.microsoft.com/office/drawing/2014/main" id="{0A72B50B-2794-6FC4-3F16-1FC5BA5A4D06}"/>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8359C039-E37A-67DA-2B77-7D5F3BDBC011}"/>
              </a:ext>
            </a:extLst>
          </p:cNvPr>
          <p:cNvSpPr txBox="1"/>
          <p:nvPr/>
        </p:nvSpPr>
        <p:spPr>
          <a:xfrm>
            <a:off x="5158823" y="4085040"/>
            <a:ext cx="1409700" cy="369332"/>
          </a:xfrm>
          <a:prstGeom prst="rect">
            <a:avLst/>
          </a:prstGeom>
          <a:noFill/>
        </p:spPr>
        <p:txBody>
          <a:bodyPr wrap="square" rtlCol="0">
            <a:spAutoFit/>
          </a:bodyPr>
          <a:lstStyle/>
          <a:p>
            <a:r>
              <a:rPr lang="en-IN" dirty="0"/>
              <a:t>ELM(3):</a:t>
            </a:r>
          </a:p>
        </p:txBody>
      </p:sp>
      <p:graphicFrame>
        <p:nvGraphicFramePr>
          <p:cNvPr id="12" name="Table 11">
            <a:extLst>
              <a:ext uri="{FF2B5EF4-FFF2-40B4-BE49-F238E27FC236}">
                <a16:creationId xmlns:a16="http://schemas.microsoft.com/office/drawing/2014/main" id="{717030B8-84B0-9C72-395A-063AA4E700FA}"/>
              </a:ext>
            </a:extLst>
          </p:cNvPr>
          <p:cNvGraphicFramePr>
            <a:graphicFrameLocks noGrp="1"/>
          </p:cNvGraphicFramePr>
          <p:nvPr>
            <p:extLst>
              <p:ext uri="{D42A27DB-BD31-4B8C-83A1-F6EECF244321}">
                <p14:modId xmlns:p14="http://schemas.microsoft.com/office/powerpoint/2010/main" val="529123389"/>
              </p:ext>
            </p:extLst>
          </p:nvPr>
        </p:nvGraphicFramePr>
        <p:xfrm>
          <a:off x="3025092" y="4611030"/>
          <a:ext cx="1362075" cy="741680"/>
        </p:xfrm>
        <a:graphic>
          <a:graphicData uri="http://schemas.openxmlformats.org/drawingml/2006/table">
            <a:tbl>
              <a:tblPr bandRow="1">
                <a:tableStyleId>{073A0DAA-6AF3-43AB-8588-CEC1D06C72B9}</a:tableStyleId>
              </a:tblPr>
              <a:tblGrid>
                <a:gridCol w="695325">
                  <a:extLst>
                    <a:ext uri="{9D8B030D-6E8A-4147-A177-3AD203B41FA5}">
                      <a16:colId xmlns:a16="http://schemas.microsoft.com/office/drawing/2014/main" val="1378622236"/>
                    </a:ext>
                  </a:extLst>
                </a:gridCol>
                <a:gridCol w="666750">
                  <a:extLst>
                    <a:ext uri="{9D8B030D-6E8A-4147-A177-3AD203B41FA5}">
                      <a16:colId xmlns:a16="http://schemas.microsoft.com/office/drawing/2014/main" val="373693309"/>
                    </a:ext>
                  </a:extLst>
                </a:gridCol>
              </a:tblGrid>
              <a:tr h="370840">
                <a:tc>
                  <a:txBody>
                    <a:bodyPr/>
                    <a:lstStyle/>
                    <a:p>
                      <a:pPr algn="ctr"/>
                      <a:r>
                        <a:rPr lang="en-IN" dirty="0"/>
                        <a:t>1623</a:t>
                      </a:r>
                    </a:p>
                  </a:txBody>
                  <a:tcPr/>
                </a:tc>
                <a:tc>
                  <a:txBody>
                    <a:bodyPr/>
                    <a:lstStyle/>
                    <a:p>
                      <a:pPr algn="ctr"/>
                      <a:r>
                        <a:rPr lang="en-IN" dirty="0"/>
                        <a:t>17</a:t>
                      </a:r>
                    </a:p>
                  </a:txBody>
                  <a:tcPr/>
                </a:tc>
                <a:extLst>
                  <a:ext uri="{0D108BD9-81ED-4DB2-BD59-A6C34878D82A}">
                    <a16:rowId xmlns:a16="http://schemas.microsoft.com/office/drawing/2014/main" val="1434590033"/>
                  </a:ext>
                </a:extLst>
              </a:tr>
              <a:tr h="370840">
                <a:tc>
                  <a:txBody>
                    <a:bodyPr/>
                    <a:lstStyle/>
                    <a:p>
                      <a:pPr algn="ctr"/>
                      <a:r>
                        <a:rPr lang="en-IN" dirty="0"/>
                        <a:t>15</a:t>
                      </a:r>
                    </a:p>
                  </a:txBody>
                  <a:tcPr/>
                </a:tc>
                <a:tc>
                  <a:txBody>
                    <a:bodyPr/>
                    <a:lstStyle/>
                    <a:p>
                      <a:pPr algn="ctr"/>
                      <a:r>
                        <a:rPr lang="en-IN" dirty="0"/>
                        <a:t>1982</a:t>
                      </a:r>
                    </a:p>
                  </a:txBody>
                  <a:tcPr/>
                </a:tc>
                <a:extLst>
                  <a:ext uri="{0D108BD9-81ED-4DB2-BD59-A6C34878D82A}">
                    <a16:rowId xmlns:a16="http://schemas.microsoft.com/office/drawing/2014/main" val="358502552"/>
                  </a:ext>
                </a:extLst>
              </a:tr>
            </a:tbl>
          </a:graphicData>
        </a:graphic>
      </p:graphicFrame>
      <p:sp>
        <p:nvSpPr>
          <p:cNvPr id="14" name="TextBox 13">
            <a:extLst>
              <a:ext uri="{FF2B5EF4-FFF2-40B4-BE49-F238E27FC236}">
                <a16:creationId xmlns:a16="http://schemas.microsoft.com/office/drawing/2014/main" id="{DB23FDE9-8587-DFD6-CBC8-46FFB5093E2C}"/>
              </a:ext>
            </a:extLst>
          </p:cNvPr>
          <p:cNvSpPr txBox="1"/>
          <p:nvPr/>
        </p:nvSpPr>
        <p:spPr>
          <a:xfrm>
            <a:off x="3079067" y="5366879"/>
            <a:ext cx="1308100" cy="369332"/>
          </a:xfrm>
          <a:prstGeom prst="rect">
            <a:avLst/>
          </a:prstGeom>
          <a:noFill/>
        </p:spPr>
        <p:txBody>
          <a:bodyPr wrap="square" rtlCol="0">
            <a:spAutoFit/>
          </a:bodyPr>
          <a:lstStyle/>
          <a:p>
            <a:r>
              <a:rPr lang="en-IN" dirty="0"/>
              <a:t>  0          1</a:t>
            </a:r>
          </a:p>
        </p:txBody>
      </p:sp>
      <p:graphicFrame>
        <p:nvGraphicFramePr>
          <p:cNvPr id="25" name="Table 24">
            <a:extLst>
              <a:ext uri="{FF2B5EF4-FFF2-40B4-BE49-F238E27FC236}">
                <a16:creationId xmlns:a16="http://schemas.microsoft.com/office/drawing/2014/main" id="{639927EC-4992-E3B7-C2A7-8865F3EA7C66}"/>
              </a:ext>
            </a:extLst>
          </p:cNvPr>
          <p:cNvGraphicFramePr>
            <a:graphicFrameLocks noGrp="1"/>
          </p:cNvGraphicFramePr>
          <p:nvPr>
            <p:extLst>
              <p:ext uri="{D42A27DB-BD31-4B8C-83A1-F6EECF244321}">
                <p14:modId xmlns:p14="http://schemas.microsoft.com/office/powerpoint/2010/main" val="620215636"/>
              </p:ext>
            </p:extLst>
          </p:nvPr>
        </p:nvGraphicFramePr>
        <p:xfrm>
          <a:off x="5206448" y="4611030"/>
          <a:ext cx="1362075" cy="741680"/>
        </p:xfrm>
        <a:graphic>
          <a:graphicData uri="http://schemas.openxmlformats.org/drawingml/2006/table">
            <a:tbl>
              <a:tblPr bandRow="1">
                <a:tableStyleId>{073A0DAA-6AF3-43AB-8588-CEC1D06C72B9}</a:tableStyleId>
              </a:tblPr>
              <a:tblGrid>
                <a:gridCol w="695325">
                  <a:extLst>
                    <a:ext uri="{9D8B030D-6E8A-4147-A177-3AD203B41FA5}">
                      <a16:colId xmlns:a16="http://schemas.microsoft.com/office/drawing/2014/main" val="1378622236"/>
                    </a:ext>
                  </a:extLst>
                </a:gridCol>
                <a:gridCol w="666750">
                  <a:extLst>
                    <a:ext uri="{9D8B030D-6E8A-4147-A177-3AD203B41FA5}">
                      <a16:colId xmlns:a16="http://schemas.microsoft.com/office/drawing/2014/main" val="373693309"/>
                    </a:ext>
                  </a:extLst>
                </a:gridCol>
              </a:tblGrid>
              <a:tr h="370840">
                <a:tc>
                  <a:txBody>
                    <a:bodyPr/>
                    <a:lstStyle/>
                    <a:p>
                      <a:pPr algn="ctr"/>
                      <a:r>
                        <a:rPr lang="en-IN" dirty="0"/>
                        <a:t>1621</a:t>
                      </a:r>
                    </a:p>
                  </a:txBody>
                  <a:tcPr/>
                </a:tc>
                <a:tc>
                  <a:txBody>
                    <a:bodyPr/>
                    <a:lstStyle/>
                    <a:p>
                      <a:pPr algn="ctr"/>
                      <a:r>
                        <a:rPr lang="en-IN" dirty="0"/>
                        <a:t>19</a:t>
                      </a:r>
                    </a:p>
                  </a:txBody>
                  <a:tcPr/>
                </a:tc>
                <a:extLst>
                  <a:ext uri="{0D108BD9-81ED-4DB2-BD59-A6C34878D82A}">
                    <a16:rowId xmlns:a16="http://schemas.microsoft.com/office/drawing/2014/main" val="1434590033"/>
                  </a:ext>
                </a:extLst>
              </a:tr>
              <a:tr h="370840">
                <a:tc>
                  <a:txBody>
                    <a:bodyPr/>
                    <a:lstStyle/>
                    <a:p>
                      <a:pPr algn="ctr"/>
                      <a:r>
                        <a:rPr lang="en-IN" dirty="0"/>
                        <a:t>10</a:t>
                      </a:r>
                    </a:p>
                  </a:txBody>
                  <a:tcPr/>
                </a:tc>
                <a:tc>
                  <a:txBody>
                    <a:bodyPr/>
                    <a:lstStyle/>
                    <a:p>
                      <a:pPr algn="ctr"/>
                      <a:r>
                        <a:rPr lang="en-IN" dirty="0"/>
                        <a:t>1987</a:t>
                      </a:r>
                    </a:p>
                  </a:txBody>
                  <a:tcPr/>
                </a:tc>
                <a:extLst>
                  <a:ext uri="{0D108BD9-81ED-4DB2-BD59-A6C34878D82A}">
                    <a16:rowId xmlns:a16="http://schemas.microsoft.com/office/drawing/2014/main" val="358502552"/>
                  </a:ext>
                </a:extLst>
              </a:tr>
            </a:tbl>
          </a:graphicData>
        </a:graphic>
      </p:graphicFrame>
      <p:sp>
        <p:nvSpPr>
          <p:cNvPr id="26" name="TextBox 25">
            <a:extLst>
              <a:ext uri="{FF2B5EF4-FFF2-40B4-BE49-F238E27FC236}">
                <a16:creationId xmlns:a16="http://schemas.microsoft.com/office/drawing/2014/main" id="{80E3FB62-AE97-0CA8-97F4-212BBCCC541F}"/>
              </a:ext>
            </a:extLst>
          </p:cNvPr>
          <p:cNvSpPr txBox="1"/>
          <p:nvPr/>
        </p:nvSpPr>
        <p:spPr>
          <a:xfrm>
            <a:off x="5260423" y="5366879"/>
            <a:ext cx="1308100" cy="369332"/>
          </a:xfrm>
          <a:prstGeom prst="rect">
            <a:avLst/>
          </a:prstGeom>
          <a:noFill/>
        </p:spPr>
        <p:txBody>
          <a:bodyPr wrap="square" rtlCol="0">
            <a:spAutoFit/>
          </a:bodyPr>
          <a:lstStyle/>
          <a:p>
            <a:r>
              <a:rPr lang="en-IN" dirty="0"/>
              <a:t>  0          1</a:t>
            </a:r>
          </a:p>
        </p:txBody>
      </p:sp>
      <p:graphicFrame>
        <p:nvGraphicFramePr>
          <p:cNvPr id="27" name="Table 26">
            <a:extLst>
              <a:ext uri="{FF2B5EF4-FFF2-40B4-BE49-F238E27FC236}">
                <a16:creationId xmlns:a16="http://schemas.microsoft.com/office/drawing/2014/main" id="{641BDC2A-1BCA-637D-46DF-1ED599AB79DB}"/>
              </a:ext>
            </a:extLst>
          </p:cNvPr>
          <p:cNvGraphicFramePr>
            <a:graphicFrameLocks noGrp="1"/>
          </p:cNvGraphicFramePr>
          <p:nvPr>
            <p:extLst>
              <p:ext uri="{D42A27DB-BD31-4B8C-83A1-F6EECF244321}">
                <p14:modId xmlns:p14="http://schemas.microsoft.com/office/powerpoint/2010/main" val="3139819059"/>
              </p:ext>
            </p:extLst>
          </p:nvPr>
        </p:nvGraphicFramePr>
        <p:xfrm>
          <a:off x="7804835" y="4611030"/>
          <a:ext cx="1362075" cy="741680"/>
        </p:xfrm>
        <a:graphic>
          <a:graphicData uri="http://schemas.openxmlformats.org/drawingml/2006/table">
            <a:tbl>
              <a:tblPr bandRow="1">
                <a:tableStyleId>{073A0DAA-6AF3-43AB-8588-CEC1D06C72B9}</a:tableStyleId>
              </a:tblPr>
              <a:tblGrid>
                <a:gridCol w="695325">
                  <a:extLst>
                    <a:ext uri="{9D8B030D-6E8A-4147-A177-3AD203B41FA5}">
                      <a16:colId xmlns:a16="http://schemas.microsoft.com/office/drawing/2014/main" val="1378622236"/>
                    </a:ext>
                  </a:extLst>
                </a:gridCol>
                <a:gridCol w="666750">
                  <a:extLst>
                    <a:ext uri="{9D8B030D-6E8A-4147-A177-3AD203B41FA5}">
                      <a16:colId xmlns:a16="http://schemas.microsoft.com/office/drawing/2014/main" val="373693309"/>
                    </a:ext>
                  </a:extLst>
                </a:gridCol>
              </a:tblGrid>
              <a:tr h="370840">
                <a:tc>
                  <a:txBody>
                    <a:bodyPr/>
                    <a:lstStyle/>
                    <a:p>
                      <a:pPr algn="ctr"/>
                      <a:r>
                        <a:rPr lang="en-IN" dirty="0"/>
                        <a:t>1620</a:t>
                      </a:r>
                    </a:p>
                  </a:txBody>
                  <a:tcPr/>
                </a:tc>
                <a:tc>
                  <a:txBody>
                    <a:bodyPr/>
                    <a:lstStyle/>
                    <a:p>
                      <a:pPr algn="ctr"/>
                      <a:r>
                        <a:rPr lang="en-IN" dirty="0"/>
                        <a:t>20</a:t>
                      </a:r>
                    </a:p>
                  </a:txBody>
                  <a:tcPr/>
                </a:tc>
                <a:extLst>
                  <a:ext uri="{0D108BD9-81ED-4DB2-BD59-A6C34878D82A}">
                    <a16:rowId xmlns:a16="http://schemas.microsoft.com/office/drawing/2014/main" val="1434590033"/>
                  </a:ext>
                </a:extLst>
              </a:tr>
              <a:tr h="370840">
                <a:tc>
                  <a:txBody>
                    <a:bodyPr/>
                    <a:lstStyle/>
                    <a:p>
                      <a:pPr algn="ctr"/>
                      <a:r>
                        <a:rPr lang="en-IN" dirty="0"/>
                        <a:t>8</a:t>
                      </a:r>
                    </a:p>
                  </a:txBody>
                  <a:tcPr/>
                </a:tc>
                <a:tc>
                  <a:txBody>
                    <a:bodyPr/>
                    <a:lstStyle/>
                    <a:p>
                      <a:pPr algn="ctr"/>
                      <a:r>
                        <a:rPr lang="en-IN" dirty="0"/>
                        <a:t>1989</a:t>
                      </a:r>
                    </a:p>
                  </a:txBody>
                  <a:tcPr/>
                </a:tc>
                <a:extLst>
                  <a:ext uri="{0D108BD9-81ED-4DB2-BD59-A6C34878D82A}">
                    <a16:rowId xmlns:a16="http://schemas.microsoft.com/office/drawing/2014/main" val="358502552"/>
                  </a:ext>
                </a:extLst>
              </a:tr>
            </a:tbl>
          </a:graphicData>
        </a:graphic>
      </p:graphicFrame>
      <p:sp>
        <p:nvSpPr>
          <p:cNvPr id="28" name="TextBox 27">
            <a:extLst>
              <a:ext uri="{FF2B5EF4-FFF2-40B4-BE49-F238E27FC236}">
                <a16:creationId xmlns:a16="http://schemas.microsoft.com/office/drawing/2014/main" id="{EDE04B7B-3A26-3CBC-D923-2C51A8DAF23B}"/>
              </a:ext>
            </a:extLst>
          </p:cNvPr>
          <p:cNvSpPr txBox="1"/>
          <p:nvPr/>
        </p:nvSpPr>
        <p:spPr>
          <a:xfrm>
            <a:off x="7858810" y="5366879"/>
            <a:ext cx="1308100" cy="369332"/>
          </a:xfrm>
          <a:prstGeom prst="rect">
            <a:avLst/>
          </a:prstGeom>
          <a:noFill/>
        </p:spPr>
        <p:txBody>
          <a:bodyPr wrap="square" rtlCol="0">
            <a:spAutoFit/>
          </a:bodyPr>
          <a:lstStyle/>
          <a:p>
            <a:r>
              <a:rPr lang="en-IN" dirty="0"/>
              <a:t>  0          1</a:t>
            </a:r>
          </a:p>
        </p:txBody>
      </p:sp>
      <p:graphicFrame>
        <p:nvGraphicFramePr>
          <p:cNvPr id="29" name="Table 28">
            <a:extLst>
              <a:ext uri="{FF2B5EF4-FFF2-40B4-BE49-F238E27FC236}">
                <a16:creationId xmlns:a16="http://schemas.microsoft.com/office/drawing/2014/main" id="{E061B527-FAC4-8C36-9FF8-65B4D1DA5AD6}"/>
              </a:ext>
            </a:extLst>
          </p:cNvPr>
          <p:cNvGraphicFramePr>
            <a:graphicFrameLocks noGrp="1"/>
          </p:cNvGraphicFramePr>
          <p:nvPr>
            <p:extLst>
              <p:ext uri="{D42A27DB-BD31-4B8C-83A1-F6EECF244321}">
                <p14:modId xmlns:p14="http://schemas.microsoft.com/office/powerpoint/2010/main" val="1294847843"/>
              </p:ext>
            </p:extLst>
          </p:nvPr>
        </p:nvGraphicFramePr>
        <p:xfrm>
          <a:off x="10078684" y="4611030"/>
          <a:ext cx="1362075" cy="741680"/>
        </p:xfrm>
        <a:graphic>
          <a:graphicData uri="http://schemas.openxmlformats.org/drawingml/2006/table">
            <a:tbl>
              <a:tblPr bandRow="1">
                <a:tableStyleId>{073A0DAA-6AF3-43AB-8588-CEC1D06C72B9}</a:tableStyleId>
              </a:tblPr>
              <a:tblGrid>
                <a:gridCol w="695325">
                  <a:extLst>
                    <a:ext uri="{9D8B030D-6E8A-4147-A177-3AD203B41FA5}">
                      <a16:colId xmlns:a16="http://schemas.microsoft.com/office/drawing/2014/main" val="1378622236"/>
                    </a:ext>
                  </a:extLst>
                </a:gridCol>
                <a:gridCol w="666750">
                  <a:extLst>
                    <a:ext uri="{9D8B030D-6E8A-4147-A177-3AD203B41FA5}">
                      <a16:colId xmlns:a16="http://schemas.microsoft.com/office/drawing/2014/main" val="373693309"/>
                    </a:ext>
                  </a:extLst>
                </a:gridCol>
              </a:tblGrid>
              <a:tr h="370840">
                <a:tc>
                  <a:txBody>
                    <a:bodyPr/>
                    <a:lstStyle/>
                    <a:p>
                      <a:pPr algn="ctr"/>
                      <a:r>
                        <a:rPr lang="en-IN" dirty="0"/>
                        <a:t>1619</a:t>
                      </a:r>
                    </a:p>
                  </a:txBody>
                  <a:tcPr/>
                </a:tc>
                <a:tc>
                  <a:txBody>
                    <a:bodyPr/>
                    <a:lstStyle/>
                    <a:p>
                      <a:pPr algn="ctr"/>
                      <a:r>
                        <a:rPr lang="en-IN" dirty="0"/>
                        <a:t>21</a:t>
                      </a:r>
                    </a:p>
                  </a:txBody>
                  <a:tcPr/>
                </a:tc>
                <a:extLst>
                  <a:ext uri="{0D108BD9-81ED-4DB2-BD59-A6C34878D82A}">
                    <a16:rowId xmlns:a16="http://schemas.microsoft.com/office/drawing/2014/main" val="1434590033"/>
                  </a:ext>
                </a:extLst>
              </a:tr>
              <a:tr h="370840">
                <a:tc>
                  <a:txBody>
                    <a:bodyPr/>
                    <a:lstStyle/>
                    <a:p>
                      <a:pPr algn="ctr"/>
                      <a:r>
                        <a:rPr lang="en-IN" dirty="0"/>
                        <a:t>11</a:t>
                      </a:r>
                    </a:p>
                  </a:txBody>
                  <a:tcPr/>
                </a:tc>
                <a:tc>
                  <a:txBody>
                    <a:bodyPr/>
                    <a:lstStyle/>
                    <a:p>
                      <a:pPr algn="ctr"/>
                      <a:r>
                        <a:rPr lang="en-IN" dirty="0"/>
                        <a:t>1986</a:t>
                      </a:r>
                    </a:p>
                  </a:txBody>
                  <a:tcPr/>
                </a:tc>
                <a:extLst>
                  <a:ext uri="{0D108BD9-81ED-4DB2-BD59-A6C34878D82A}">
                    <a16:rowId xmlns:a16="http://schemas.microsoft.com/office/drawing/2014/main" val="358502552"/>
                  </a:ext>
                </a:extLst>
              </a:tr>
            </a:tbl>
          </a:graphicData>
        </a:graphic>
      </p:graphicFrame>
      <p:sp>
        <p:nvSpPr>
          <p:cNvPr id="30" name="TextBox 29">
            <a:extLst>
              <a:ext uri="{FF2B5EF4-FFF2-40B4-BE49-F238E27FC236}">
                <a16:creationId xmlns:a16="http://schemas.microsoft.com/office/drawing/2014/main" id="{E5B0A538-F3D7-3070-F20D-2539EA81C653}"/>
              </a:ext>
            </a:extLst>
          </p:cNvPr>
          <p:cNvSpPr txBox="1"/>
          <p:nvPr/>
        </p:nvSpPr>
        <p:spPr>
          <a:xfrm>
            <a:off x="10132659" y="5366879"/>
            <a:ext cx="1308100" cy="369332"/>
          </a:xfrm>
          <a:prstGeom prst="rect">
            <a:avLst/>
          </a:prstGeom>
          <a:noFill/>
        </p:spPr>
        <p:txBody>
          <a:bodyPr wrap="square" rtlCol="0">
            <a:spAutoFit/>
          </a:bodyPr>
          <a:lstStyle/>
          <a:p>
            <a:r>
              <a:rPr lang="en-IN" dirty="0"/>
              <a:t>  0          1</a:t>
            </a:r>
          </a:p>
        </p:txBody>
      </p:sp>
    </p:spTree>
    <p:extLst>
      <p:ext uri="{BB962C8B-B14F-4D97-AF65-F5344CB8AC3E}">
        <p14:creationId xmlns:p14="http://schemas.microsoft.com/office/powerpoint/2010/main" val="2617466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2E330-8165-D701-0A81-EF7FFEC61100}"/>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5AECD3A-7DDE-AA34-7417-D6C603B0437B}"/>
              </a:ext>
            </a:extLst>
          </p:cNvPr>
          <p:cNvSpPr/>
          <p:nvPr/>
        </p:nvSpPr>
        <p:spPr>
          <a:xfrm>
            <a:off x="847119" y="1028700"/>
            <a:ext cx="10687655" cy="5153025"/>
          </a:xfrm>
          <a:prstGeom prst="roundRect">
            <a:avLst>
              <a:gd name="adj" fmla="val 11345"/>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F5CD9FD8-9632-8DB1-E268-D0189F7DD534}"/>
              </a:ext>
            </a:extLst>
          </p:cNvPr>
          <p:cNvSpPr>
            <a:spLocks noGrp="1"/>
          </p:cNvSpPr>
          <p:nvPr>
            <p:ph type="title"/>
          </p:nvPr>
        </p:nvSpPr>
        <p:spPr>
          <a:xfrm>
            <a:off x="847120" y="25579"/>
            <a:ext cx="10353762" cy="1257300"/>
          </a:xfrm>
        </p:spPr>
        <p:txBody>
          <a:bodyPr>
            <a:normAutofit/>
          </a:bodyPr>
          <a:lstStyle/>
          <a:p>
            <a:pPr algn="l"/>
            <a:r>
              <a:rPr lang="en-IN" sz="4800" dirty="0"/>
              <a:t>Analysis of the Results:</a:t>
            </a:r>
          </a:p>
        </p:txBody>
      </p:sp>
      <p:sp>
        <p:nvSpPr>
          <p:cNvPr id="3" name="Content Placeholder 2">
            <a:extLst>
              <a:ext uri="{FF2B5EF4-FFF2-40B4-BE49-F238E27FC236}">
                <a16:creationId xmlns:a16="http://schemas.microsoft.com/office/drawing/2014/main" id="{2396107E-E1CD-DF1D-78F4-72C08A3CAE98}"/>
              </a:ext>
            </a:extLst>
          </p:cNvPr>
          <p:cNvSpPr>
            <a:spLocks noGrp="1"/>
          </p:cNvSpPr>
          <p:nvPr>
            <p:ph idx="1"/>
          </p:nvPr>
        </p:nvSpPr>
        <p:spPr>
          <a:xfrm>
            <a:off x="1014065" y="1153850"/>
            <a:ext cx="10353762" cy="4975930"/>
          </a:xfrm>
          <a:noFill/>
          <a:ln>
            <a:noFill/>
          </a:ln>
        </p:spPr>
        <p:style>
          <a:lnRef idx="2">
            <a:schemeClr val="dk1"/>
          </a:lnRef>
          <a:fillRef idx="1">
            <a:schemeClr val="lt1"/>
          </a:fillRef>
          <a:effectRef idx="0">
            <a:schemeClr val="dk1"/>
          </a:effectRef>
          <a:fontRef idx="minor">
            <a:schemeClr val="dk1"/>
          </a:fontRef>
        </p:style>
        <p:txBody>
          <a:bodyPr>
            <a:noAutofit/>
          </a:bodyPr>
          <a:lstStyle/>
          <a:p>
            <a:pPr marL="36900" indent="0">
              <a:buNone/>
            </a:pPr>
            <a:r>
              <a:rPr lang="en-US" sz="2000" b="1" dirty="0"/>
              <a:t>Accuracy Analysis</a:t>
            </a:r>
          </a:p>
          <a:p>
            <a:r>
              <a:rPr lang="en-US" sz="1600" b="1" dirty="0"/>
              <a:t>ELM</a:t>
            </a:r>
            <a:endParaRPr lang="en-US" sz="1600" dirty="0"/>
          </a:p>
          <a:p>
            <a:pPr marL="450000" lvl="1" indent="0">
              <a:buNone/>
            </a:pPr>
            <a:r>
              <a:rPr lang="en-US" sz="1600" dirty="0"/>
              <a:t>Without feature selection: </a:t>
            </a:r>
            <a:r>
              <a:rPr lang="en-US" sz="1600" b="1" dirty="0"/>
              <a:t>79.61% 				</a:t>
            </a:r>
            <a:r>
              <a:rPr lang="en-US" sz="1600" dirty="0"/>
              <a:t>With top-5 ADMM feature selection: </a:t>
            </a:r>
            <a:r>
              <a:rPr lang="en-US" sz="1600" b="1" dirty="0"/>
              <a:t>72.33%</a:t>
            </a:r>
          </a:p>
          <a:p>
            <a:pPr marL="450000" lvl="1" indent="0">
              <a:buNone/>
            </a:pPr>
            <a:r>
              <a:rPr lang="en-US" sz="1600" dirty="0"/>
              <a:t>Online training: </a:t>
            </a:r>
            <a:r>
              <a:rPr lang="en-US" sz="1600" b="1" dirty="0"/>
              <a:t>75.33%</a:t>
            </a:r>
            <a:endParaRPr lang="en-US" sz="1600" dirty="0"/>
          </a:p>
          <a:p>
            <a:pPr lvl="1"/>
            <a:r>
              <a:rPr lang="en-US" sz="1600" dirty="0"/>
              <a:t>Slight decrease in accuracy due to loss of information from discarded features.</a:t>
            </a:r>
          </a:p>
          <a:p>
            <a:pPr lvl="1"/>
            <a:r>
              <a:rPr lang="en-US" sz="1600" dirty="0"/>
              <a:t>Online learning achieves intermediate accuracy while enabling incremental learning.</a:t>
            </a:r>
          </a:p>
          <a:p>
            <a:r>
              <a:rPr lang="en-US" sz="1600" b="1" dirty="0"/>
              <a:t>SVM</a:t>
            </a:r>
            <a:endParaRPr lang="en-US" sz="1600" dirty="0"/>
          </a:p>
          <a:p>
            <a:pPr marL="450000" lvl="1" indent="0">
              <a:buNone/>
            </a:pPr>
            <a:r>
              <a:rPr lang="en-US" sz="1600" dirty="0"/>
              <a:t>Without feature selection: </a:t>
            </a:r>
            <a:r>
              <a:rPr lang="en-US" sz="1600" b="1" dirty="0"/>
              <a:t>86.41%					</a:t>
            </a:r>
            <a:r>
              <a:rPr lang="en-US" sz="1600" dirty="0"/>
              <a:t>With top-5 ADMM feature selection: </a:t>
            </a:r>
            <a:r>
              <a:rPr lang="en-US" sz="1600" b="1" dirty="0"/>
              <a:t>84.95%</a:t>
            </a:r>
            <a:endParaRPr lang="en-US" sz="1600" dirty="0"/>
          </a:p>
          <a:p>
            <a:pPr lvl="1"/>
            <a:r>
              <a:rPr lang="en-US" sz="1600" dirty="0"/>
              <a:t>Only minor accuracy drop, showing SVM handles feature reduction better for this dataset.</a:t>
            </a:r>
          </a:p>
          <a:p>
            <a:pPr marL="36900" indent="0">
              <a:buNone/>
            </a:pPr>
            <a:r>
              <a:rPr lang="en-US" sz="1600" b="1" dirty="0"/>
              <a:t>Observation:</a:t>
            </a:r>
            <a:endParaRPr lang="en-US" sz="1600" dirty="0"/>
          </a:p>
          <a:p>
            <a:r>
              <a:rPr lang="en-US" sz="1600" dirty="0"/>
              <a:t>SVM consistently outperforms ELM in offline batch learning for this dataset. Feature selection reduces computational complexity and may slightly impact accuracy, but helps generalization. </a:t>
            </a:r>
          </a:p>
          <a:p>
            <a:r>
              <a:rPr lang="en-US" sz="1600" dirty="0"/>
              <a:t>Online ELM provides a good trade-off between accuracy and incremental learning capability.</a:t>
            </a:r>
          </a:p>
        </p:txBody>
      </p:sp>
      <p:sp>
        <p:nvSpPr>
          <p:cNvPr id="7" name="Isosceles Triangle 6">
            <a:extLst>
              <a:ext uri="{FF2B5EF4-FFF2-40B4-BE49-F238E27FC236}">
                <a16:creationId xmlns:a16="http://schemas.microsoft.com/office/drawing/2014/main" id="{1DEF6DA8-347A-0C6A-FC53-FD0F4793C96F}"/>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Isosceles Triangle 4">
            <a:extLst>
              <a:ext uri="{FF2B5EF4-FFF2-40B4-BE49-F238E27FC236}">
                <a16:creationId xmlns:a16="http://schemas.microsoft.com/office/drawing/2014/main" id="{D1C9119F-4C60-CD90-3003-B680311797CC}"/>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91212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5963B-72AB-1CDF-9D6B-C876C4D6F053}"/>
              </a:ext>
            </a:extLst>
          </p:cNvPr>
          <p:cNvSpPr>
            <a:spLocks noGrp="1"/>
          </p:cNvSpPr>
          <p:nvPr>
            <p:ph type="title"/>
          </p:nvPr>
        </p:nvSpPr>
        <p:spPr>
          <a:xfrm>
            <a:off x="751870" y="2428875"/>
            <a:ext cx="10353762" cy="1257300"/>
          </a:xfrm>
        </p:spPr>
        <p:txBody>
          <a:bodyPr/>
          <a:lstStyle/>
          <a:p>
            <a:r>
              <a:rPr lang="en-IN" dirty="0"/>
              <a:t>Thank You</a:t>
            </a:r>
          </a:p>
        </p:txBody>
      </p:sp>
      <p:sp>
        <p:nvSpPr>
          <p:cNvPr id="3" name="Isosceles Triangle 2">
            <a:extLst>
              <a:ext uri="{FF2B5EF4-FFF2-40B4-BE49-F238E27FC236}">
                <a16:creationId xmlns:a16="http://schemas.microsoft.com/office/drawing/2014/main" id="{C0F08030-658F-DD1C-28E4-D691B9345BED}"/>
              </a:ext>
            </a:extLst>
          </p:cNvPr>
          <p:cNvSpPr/>
          <p:nvPr/>
        </p:nvSpPr>
        <p:spPr>
          <a:xfrm rot="10800000" flipV="1">
            <a:off x="0" y="6000750"/>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Isosceles Triangle 3">
            <a:extLst>
              <a:ext uri="{FF2B5EF4-FFF2-40B4-BE49-F238E27FC236}">
                <a16:creationId xmlns:a16="http://schemas.microsoft.com/office/drawing/2014/main" id="{F533E3E8-34AD-FA85-BB85-C6DB922924DB}"/>
              </a:ext>
            </a:extLst>
          </p:cNvPr>
          <p:cNvSpPr/>
          <p:nvPr/>
        </p:nvSpPr>
        <p:spPr>
          <a:xfrm flipV="1">
            <a:off x="9858374" y="9526"/>
            <a:ext cx="2333626" cy="857250"/>
          </a:xfrm>
          <a:prstGeom prst="triangle">
            <a:avLst>
              <a:gd name="adj" fmla="val 10000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666095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2.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{52143751-3886-40A3-BBA2-B159C8286B23}tf55705232_win32</Template>
  <TotalTime>530</TotalTime>
  <Words>1985</Words>
  <Application>Microsoft Office PowerPoint</Application>
  <PresentationFormat>Widescreen</PresentationFormat>
  <Paragraphs>334</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Cambria Math</vt:lpstr>
      <vt:lpstr>Goudy Old Style</vt:lpstr>
      <vt:lpstr>Wingdings</vt:lpstr>
      <vt:lpstr>Wingdings 2</vt:lpstr>
      <vt:lpstr>SlateVTI</vt:lpstr>
      <vt:lpstr>Online ADMM: Based ELM vs SVM Classification</vt:lpstr>
      <vt:lpstr>Introduction :</vt:lpstr>
      <vt:lpstr>ELM and SVM:</vt:lpstr>
      <vt:lpstr>Datasets &amp; Overall Flow of Project :</vt:lpstr>
      <vt:lpstr>Proposed Methodology / Design  :</vt:lpstr>
      <vt:lpstr>ELM Offline vs Online Design  :</vt:lpstr>
      <vt:lpstr>ELM Offline vs Online Design  :</vt:lpstr>
      <vt:lpstr>Ridge, Correlation Matrix &amp; RLS Gain :</vt:lpstr>
      <vt:lpstr>ADMM Feature Selection Design:</vt:lpstr>
      <vt:lpstr>ADMM Feature Selection Design:</vt:lpstr>
      <vt:lpstr>Results: All Accuracy Comparisons with/without Feature Selection: Dataset One: Compressive Strength Prediction : </vt:lpstr>
      <vt:lpstr>Results: All Accuracy Comparisons with/without Feature Selection: Dataset Two: IRIS Dataset: </vt:lpstr>
      <vt:lpstr>Results: All Accuracy Comparisons with/without Feature Selection: Dataset Three: Rice Classification Dataset: </vt:lpstr>
      <vt:lpstr>Analysis of the Results: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Sarvesh Ram Kumar</dc:creator>
  <cp:lastModifiedBy>Sarvesh Ram Kumar</cp:lastModifiedBy>
  <cp:revision>72</cp:revision>
  <dcterms:created xsi:type="dcterms:W3CDTF">2025-08-19T10:01:21Z</dcterms:created>
  <dcterms:modified xsi:type="dcterms:W3CDTF">2025-10-06T07:11:13Z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